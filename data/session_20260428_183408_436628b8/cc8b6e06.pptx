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8128000" cy="4572000"/>
  <p:notesSz cx="8128000" cy="4572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9600" y="1417320"/>
            <a:ext cx="6908800" cy="960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0E0E0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19200" y="2560320"/>
            <a:ext cx="5689600" cy="114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0E0E0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0E0E0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5745" y="1356614"/>
            <a:ext cx="3289300" cy="2747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0E0E0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329146" y="1099058"/>
            <a:ext cx="3364865" cy="307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0E0E0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80160"/>
            <a:ext cx="70095" cy="291388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380" y="1304544"/>
            <a:ext cx="7545904" cy="30967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0E0E0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56681" y="1196085"/>
            <a:ext cx="1207770" cy="4038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0E0E0E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6400" y="1051560"/>
            <a:ext cx="731520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763520" y="4251960"/>
            <a:ext cx="260096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0640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85216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resentations.ai/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resentations.ai/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Relationship Id="rId12" Type="http://schemas.openxmlformats.org/officeDocument/2006/relationships/image" Target="../media/image1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presentations.ai/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21.png"/><Relationship Id="rId7" Type="http://schemas.openxmlformats.org/officeDocument/2006/relationships/image" Target="../media/image22.jpg"/><Relationship Id="rId8" Type="http://schemas.openxmlformats.org/officeDocument/2006/relationships/image" Target="../media/image2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presentations.ai/" TargetMode="Externa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presentations.ai/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hyperlink" Target="https://presentations.ai/" TargetMode="External"/><Relationship Id="rId6" Type="http://schemas.openxmlformats.org/officeDocument/2006/relationships/image" Target="../media/image36.jp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hyperlink" Target="https://presentations.ai/" TargetMode="Externa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resentations.ai/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43.jpg"/><Relationship Id="rId5" Type="http://schemas.openxmlformats.org/officeDocument/2006/relationships/image" Target="../media/image44.jpg"/><Relationship Id="rId6" Type="http://schemas.openxmlformats.org/officeDocument/2006/relationships/image" Target="../media/image45.jpg"/><Relationship Id="rId7" Type="http://schemas.openxmlformats.org/officeDocument/2006/relationships/image" Target="../media/image46.png"/><Relationship Id="rId8" Type="http://schemas.openxmlformats.org/officeDocument/2006/relationships/image" Target="../media/image47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jpg"/><Relationship Id="rId3" Type="http://schemas.openxmlformats.org/officeDocument/2006/relationships/image" Target="../media/image49.jpg"/><Relationship Id="rId4" Type="http://schemas.openxmlformats.org/officeDocument/2006/relationships/image" Target="../media/image50.jpg"/><Relationship Id="rId5" Type="http://schemas.openxmlformats.org/officeDocument/2006/relationships/hyperlink" Target="https://presentations.ai/" TargetMode="Externa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jpg"/><Relationship Id="rId3" Type="http://schemas.openxmlformats.org/officeDocument/2006/relationships/image" Target="../media/image52.jpg"/><Relationship Id="rId4" Type="http://schemas.openxmlformats.org/officeDocument/2006/relationships/image" Target="../media/image53.jpg"/><Relationship Id="rId5" Type="http://schemas.openxmlformats.org/officeDocument/2006/relationships/image" Target="../media/image54.jpg"/><Relationship Id="rId6" Type="http://schemas.openxmlformats.org/officeDocument/2006/relationships/hyperlink" Target="https://presentations.ai/" TargetMode="External"/><Relationship Id="rId7" Type="http://schemas.openxmlformats.org/officeDocument/2006/relationships/image" Target="../media/image55.jpg"/><Relationship Id="rId8" Type="http://schemas.openxmlformats.org/officeDocument/2006/relationships/image" Target="../media/image56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jpg"/><Relationship Id="rId3" Type="http://schemas.openxmlformats.org/officeDocument/2006/relationships/hyperlink" Target="https://presentations.ai/" TargetMode="Externa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resentations.ai/" TargetMode="Externa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8.jpg"/><Relationship Id="rId3" Type="http://schemas.openxmlformats.org/officeDocument/2006/relationships/hyperlink" Target="https://presentations.ai/" TargetMode="External"/><Relationship Id="rId4" Type="http://schemas.openxmlformats.org/officeDocument/2006/relationships/image" Target="../media/image5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613333" y="4194047"/>
            <a:ext cx="1350645" cy="21082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41910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330"/>
              </a:spcBef>
              <a:tabLst>
                <a:tab pos="671195" algn="l"/>
              </a:tabLst>
            </a:pPr>
            <a:r>
              <a:rPr dirty="0" sz="650" spc="-85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^œn'ea</a:t>
            </a:r>
            <a:r>
              <a:rPr dirty="0" sz="650" spc="-65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 </a:t>
            </a:r>
            <a:r>
              <a:rPr dirty="0" sz="650" spc="-20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1°nç</a:t>
            </a:r>
            <a:r>
              <a:rPr dirty="0" sz="650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	</a:t>
            </a:r>
            <a:r>
              <a:rPr dirty="0" sz="650" spc="-25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preseutotions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98657" y="360934"/>
            <a:ext cx="256032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522DD8"/>
                </a:solidFill>
                <a:latin typeface="Cambria"/>
                <a:cs typeface="Cambria"/>
              </a:rPr>
              <a:t>N</a:t>
            </a:r>
            <a:r>
              <a:rPr dirty="0" sz="850" spc="140">
                <a:solidFill>
                  <a:srgbClr val="522DD8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6E57BC"/>
                </a:solidFill>
                <a:latin typeface="Cambria"/>
                <a:cs typeface="Cambria"/>
              </a:rPr>
              <a:t>A</a:t>
            </a:r>
            <a:r>
              <a:rPr dirty="0" sz="850" spc="120">
                <a:solidFill>
                  <a:srgbClr val="6E57BC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B28C3"/>
                </a:solidFill>
                <a:latin typeface="Cambria"/>
                <a:cs typeface="Cambria"/>
              </a:rPr>
              <a:t>C</a:t>
            </a:r>
            <a:r>
              <a:rPr dirty="0" sz="850" spc="210">
                <a:solidFill>
                  <a:srgbClr val="4B28C3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9079D1"/>
                </a:solidFill>
                <a:latin typeface="Cambria"/>
                <a:cs typeface="Cambria"/>
              </a:rPr>
              <a:t>H</a:t>
            </a:r>
            <a:r>
              <a:rPr dirty="0" sz="850" spc="160">
                <a:solidFill>
                  <a:srgbClr val="9079D1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502FCC"/>
                </a:solidFill>
                <a:latin typeface="Cambria"/>
                <a:cs typeface="Cambria"/>
              </a:rPr>
              <a:t>I</a:t>
            </a:r>
            <a:r>
              <a:rPr dirty="0" sz="850" spc="265">
                <a:solidFill>
                  <a:srgbClr val="502FCC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D2BC8"/>
                </a:solidFill>
                <a:latin typeface="Cambria"/>
                <a:cs typeface="Cambria"/>
              </a:rPr>
              <a:t>N</a:t>
            </a:r>
            <a:r>
              <a:rPr dirty="0" sz="850" spc="180">
                <a:solidFill>
                  <a:srgbClr val="4D2BC8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502AD3"/>
                </a:solidFill>
                <a:latin typeface="Cambria"/>
                <a:cs typeface="Cambria"/>
              </a:rPr>
              <a:t>E</a:t>
            </a:r>
            <a:r>
              <a:rPr dirty="0" sz="850" spc="220">
                <a:solidFill>
                  <a:srgbClr val="502AD3"/>
                </a:solidFill>
                <a:latin typeface="Cambria"/>
                <a:cs typeface="Cambria"/>
              </a:rPr>
              <a:t>  </a:t>
            </a:r>
            <a:r>
              <a:rPr dirty="0" sz="850">
                <a:solidFill>
                  <a:srgbClr val="502ACF"/>
                </a:solidFill>
                <a:latin typeface="Cambria"/>
                <a:cs typeface="Cambria"/>
              </a:rPr>
              <a:t>L</a:t>
            </a:r>
            <a:r>
              <a:rPr dirty="0" sz="850" spc="155">
                <a:solidFill>
                  <a:srgbClr val="502ACF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F2AD8"/>
                </a:solidFill>
                <a:latin typeface="Cambria"/>
                <a:cs typeface="Cambria"/>
              </a:rPr>
              <a:t>E</a:t>
            </a:r>
            <a:r>
              <a:rPr dirty="0" sz="850" spc="165">
                <a:solidFill>
                  <a:srgbClr val="4F2AD8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D2DBF"/>
                </a:solidFill>
                <a:latin typeface="Cambria"/>
                <a:cs typeface="Cambria"/>
              </a:rPr>
              <a:t>A</a:t>
            </a:r>
            <a:r>
              <a:rPr dirty="0" sz="850" spc="165">
                <a:solidFill>
                  <a:srgbClr val="4D2DBF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8E7BD4"/>
                </a:solidFill>
                <a:latin typeface="Cambria"/>
                <a:cs typeface="Cambria"/>
              </a:rPr>
              <a:t>R</a:t>
            </a:r>
            <a:r>
              <a:rPr dirty="0" sz="850" spc="180">
                <a:solidFill>
                  <a:srgbClr val="8E7BD4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D2BC8"/>
                </a:solidFill>
                <a:latin typeface="Cambria"/>
                <a:cs typeface="Cambria"/>
              </a:rPr>
              <a:t>N</a:t>
            </a:r>
            <a:r>
              <a:rPr dirty="0" sz="850" spc="160">
                <a:solidFill>
                  <a:srgbClr val="4D2BC8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F2BCC"/>
                </a:solidFill>
                <a:latin typeface="Cambria"/>
                <a:cs typeface="Cambria"/>
              </a:rPr>
              <a:t>I</a:t>
            </a:r>
            <a:r>
              <a:rPr dirty="0" sz="850" spc="215">
                <a:solidFill>
                  <a:srgbClr val="4F2BCC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5431C4"/>
                </a:solidFill>
                <a:latin typeface="Cambria"/>
                <a:cs typeface="Cambria"/>
              </a:rPr>
              <a:t>N</a:t>
            </a:r>
            <a:r>
              <a:rPr dirty="0" sz="850" spc="135">
                <a:solidFill>
                  <a:srgbClr val="5431C4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D2AC6"/>
                </a:solidFill>
                <a:latin typeface="Cambria"/>
                <a:cs typeface="Cambria"/>
              </a:rPr>
              <a:t>G</a:t>
            </a:r>
            <a:r>
              <a:rPr dirty="0" sz="850" spc="254">
                <a:solidFill>
                  <a:srgbClr val="4D2AC6"/>
                </a:solidFill>
                <a:latin typeface="Cambria"/>
                <a:cs typeface="Cambria"/>
              </a:rPr>
              <a:t>  </a:t>
            </a:r>
            <a:r>
              <a:rPr dirty="0" sz="850">
                <a:solidFill>
                  <a:srgbClr val="4F2ACD"/>
                </a:solidFill>
                <a:latin typeface="Cambria"/>
                <a:cs typeface="Cambria"/>
              </a:rPr>
              <a:t>I</a:t>
            </a:r>
            <a:r>
              <a:rPr dirty="0" sz="850" spc="204">
                <a:solidFill>
                  <a:srgbClr val="4F2ACD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F2DC3"/>
                </a:solidFill>
                <a:latin typeface="Cambria"/>
                <a:cs typeface="Cambria"/>
              </a:rPr>
              <a:t>N</a:t>
            </a:r>
            <a:r>
              <a:rPr dirty="0" sz="850" spc="160">
                <a:solidFill>
                  <a:srgbClr val="4F2DC3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5231C6"/>
                </a:solidFill>
                <a:latin typeface="Cambria"/>
                <a:cs typeface="Cambria"/>
              </a:rPr>
              <a:t>S</a:t>
            </a:r>
            <a:r>
              <a:rPr dirty="0" sz="850" spc="125">
                <a:solidFill>
                  <a:srgbClr val="5231C6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F2ACF"/>
                </a:solidFill>
                <a:latin typeface="Cambria"/>
                <a:cs typeface="Cambria"/>
              </a:rPr>
              <a:t>I</a:t>
            </a:r>
            <a:r>
              <a:rPr dirty="0" sz="850" spc="140">
                <a:solidFill>
                  <a:srgbClr val="4F2ACF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F2DC3"/>
                </a:solidFill>
                <a:latin typeface="Cambria"/>
                <a:cs typeface="Cambria"/>
              </a:rPr>
              <a:t>G</a:t>
            </a:r>
            <a:r>
              <a:rPr dirty="0" sz="850" spc="185">
                <a:solidFill>
                  <a:srgbClr val="4F2DC3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F2DC1"/>
                </a:solidFill>
                <a:latin typeface="Cambria"/>
                <a:cs typeface="Cambria"/>
              </a:rPr>
              <a:t>H</a:t>
            </a:r>
            <a:r>
              <a:rPr dirty="0" sz="850" spc="130">
                <a:solidFill>
                  <a:srgbClr val="4F2DC1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5B3FB5"/>
                </a:solidFill>
                <a:latin typeface="Cambria"/>
                <a:cs typeface="Cambria"/>
              </a:rPr>
              <a:t>T</a:t>
            </a:r>
            <a:r>
              <a:rPr dirty="0" sz="850" spc="135">
                <a:solidFill>
                  <a:srgbClr val="5B3FB5"/>
                </a:solidFill>
                <a:latin typeface="Cambria"/>
                <a:cs typeface="Cambria"/>
              </a:rPr>
              <a:t> </a:t>
            </a:r>
            <a:r>
              <a:rPr dirty="0" sz="850" spc="-50">
                <a:solidFill>
                  <a:srgbClr val="4F2BC3"/>
                </a:solidFill>
                <a:latin typeface="Cambria"/>
                <a:cs typeface="Cambria"/>
              </a:rPr>
              <a:t>S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2251" y="557021"/>
            <a:ext cx="6924040" cy="1649730"/>
          </a:xfrm>
          <a:prstGeom prst="rect"/>
        </p:spPr>
        <p:txBody>
          <a:bodyPr wrap="square" lIns="0" tIns="49530" rIns="0" bIns="0" rtlCol="0" vert="horz">
            <a:spAutoFit/>
          </a:bodyPr>
          <a:lstStyle/>
          <a:p>
            <a:pPr marL="21590" marR="5080" indent="-9525">
              <a:lnSpc>
                <a:spcPts val="4200"/>
              </a:lnSpc>
              <a:spcBef>
                <a:spcPts val="390"/>
              </a:spcBef>
            </a:pPr>
            <a:r>
              <a:rPr dirty="0" sz="3650">
                <a:solidFill>
                  <a:srgbClr val="111111"/>
                </a:solidFill>
                <a:latin typeface="Cambria"/>
                <a:cs typeface="Cambria"/>
              </a:rPr>
              <a:t>Machine</a:t>
            </a:r>
            <a:r>
              <a:rPr dirty="0" sz="3650" spc="16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3650">
                <a:solidFill>
                  <a:srgbClr val="0F0F0F"/>
                </a:solidFill>
                <a:latin typeface="Cambria"/>
                <a:cs typeface="Cambria"/>
              </a:rPr>
              <a:t>Learning</a:t>
            </a:r>
            <a:r>
              <a:rPr dirty="0" sz="3650" spc="3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3650" spc="50">
                <a:solidFill>
                  <a:srgbClr val="0F0F0F"/>
                </a:solidFill>
                <a:latin typeface="Cambria"/>
                <a:cs typeface="Cambria"/>
              </a:rPr>
              <a:t>Classification</a:t>
            </a:r>
            <a:r>
              <a:rPr dirty="0" sz="3650" spc="-25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3650" spc="-25">
                <a:solidFill>
                  <a:srgbClr val="111111"/>
                </a:solidFill>
                <a:latin typeface="Cambria"/>
                <a:cs typeface="Cambria"/>
              </a:rPr>
              <a:t>of </a:t>
            </a:r>
            <a:r>
              <a:rPr dirty="0" sz="3600" spc="235">
                <a:solidFill>
                  <a:srgbClr val="131313"/>
                </a:solidFill>
                <a:latin typeface="Cambria"/>
                <a:cs typeface="Cambria"/>
              </a:rPr>
              <a:t>CHIKE</a:t>
            </a:r>
            <a:r>
              <a:rPr dirty="0" sz="3600" spc="-155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3600">
                <a:solidFill>
                  <a:srgbClr val="0F0F0F"/>
                </a:solidFill>
                <a:latin typeface="Cambria"/>
                <a:cs typeface="Cambria"/>
              </a:rPr>
              <a:t>Fast</a:t>
            </a:r>
            <a:r>
              <a:rPr dirty="0" sz="3600" spc="6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3600">
                <a:solidFill>
                  <a:srgbClr val="111111"/>
                </a:solidFill>
                <a:latin typeface="Cambria"/>
                <a:cs typeface="Cambria"/>
              </a:rPr>
              <a:t>Radio</a:t>
            </a:r>
            <a:r>
              <a:rPr dirty="0" sz="3600" spc="-6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3600" spc="-10">
                <a:solidFill>
                  <a:srgbClr val="0F0F0F"/>
                </a:solidFill>
                <a:latin typeface="Cambria"/>
                <a:cs typeface="Cambria"/>
              </a:rPr>
              <a:t>Bursts: </a:t>
            </a:r>
            <a:r>
              <a:rPr dirty="0" sz="3700" spc="-50">
                <a:solidFill>
                  <a:srgbClr val="0F0F0F"/>
                </a:solidFill>
                <a:latin typeface="Cambria"/>
                <a:cs typeface="Cambria"/>
              </a:rPr>
              <a:t>Unsupervised</a:t>
            </a:r>
            <a:r>
              <a:rPr dirty="0" sz="3700" spc="-9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3700" spc="-10">
                <a:solidFill>
                  <a:srgbClr val="111111"/>
                </a:solidFill>
                <a:latin typeface="Cambria"/>
                <a:cs typeface="Cambria"/>
              </a:rPr>
              <a:t>Methods</a:t>
            </a:r>
            <a:endParaRPr sz="37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7825" y="3825747"/>
            <a:ext cx="7157084" cy="367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2555" marR="5080" indent="-110489">
              <a:lnSpc>
                <a:spcPct val="112000"/>
              </a:lnSpc>
              <a:spcBef>
                <a:spcPts val="100"/>
              </a:spcBef>
            </a:pPr>
            <a:r>
              <a:rPr dirty="0" sz="1000" spc="-30">
                <a:solidFill>
                  <a:srgbClr val="6E6E6E"/>
                </a:solidFill>
                <a:latin typeface="Arial MT"/>
                <a:cs typeface="Arial MT"/>
              </a:rPr>
              <a:t>Exploring</a:t>
            </a:r>
            <a:r>
              <a:rPr dirty="0" sz="1000" spc="-40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dirty="0" sz="1000" spc="-35">
                <a:solidFill>
                  <a:srgbClr val="6B6B6B"/>
                </a:solidFill>
                <a:latin typeface="Arial MT"/>
                <a:cs typeface="Arial MT"/>
              </a:rPr>
              <a:t>unsupervised</a:t>
            </a:r>
            <a:r>
              <a:rPr dirty="0" sz="1000" spc="75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707070"/>
                </a:solidFill>
                <a:latin typeface="Arial MT"/>
                <a:cs typeface="Arial MT"/>
              </a:rPr>
              <a:t>methods</a:t>
            </a:r>
            <a:r>
              <a:rPr dirty="0" sz="1000" spc="25">
                <a:solidFill>
                  <a:srgbClr val="70707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B6B6B"/>
                </a:solidFill>
                <a:latin typeface="Arial MT"/>
                <a:cs typeface="Arial MT"/>
              </a:rPr>
              <a:t>for</a:t>
            </a:r>
            <a:r>
              <a:rPr dirty="0" sz="1000" spc="-25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B6B6B"/>
                </a:solidFill>
                <a:latin typeface="Arial MT"/>
                <a:cs typeface="Arial MT"/>
              </a:rPr>
              <a:t>effective </a:t>
            </a:r>
            <a:r>
              <a:rPr dirty="0" sz="1000" spc="-20">
                <a:solidFill>
                  <a:srgbClr val="6B6B6B"/>
                </a:solidFill>
                <a:latin typeface="Arial MT"/>
                <a:cs typeface="Arial MT"/>
              </a:rPr>
              <a:t>classification</a:t>
            </a:r>
            <a:r>
              <a:rPr dirty="0" sz="1000" spc="-5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858997"/>
                </a:solidFill>
                <a:latin typeface="Arial MT"/>
                <a:cs typeface="Arial MT"/>
              </a:rPr>
              <a:t>of</a:t>
            </a:r>
            <a:r>
              <a:rPr dirty="0" sz="1000" spc="5">
                <a:solidFill>
                  <a:srgbClr val="858997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46B7C"/>
                </a:solidFill>
                <a:latin typeface="Arial MT"/>
                <a:cs typeface="Arial MT"/>
              </a:rPr>
              <a:t>fast </a:t>
            </a:r>
            <a:r>
              <a:rPr dirty="0" sz="1000" spc="-10">
                <a:solidFill>
                  <a:srgbClr val="707070"/>
                </a:solidFill>
                <a:latin typeface="Arial MT"/>
                <a:cs typeface="Arial MT"/>
              </a:rPr>
              <a:t>radio</a:t>
            </a:r>
            <a:r>
              <a:rPr dirty="0" sz="1000" spc="-45">
                <a:solidFill>
                  <a:srgbClr val="70707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E6E6E"/>
                </a:solidFill>
                <a:latin typeface="Arial MT"/>
                <a:cs typeface="Arial MT"/>
              </a:rPr>
              <a:t>bursts</a:t>
            </a:r>
            <a:r>
              <a:rPr dirty="0" sz="1000" spc="-15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E6E6E"/>
                </a:solidFill>
                <a:latin typeface="Arial MT"/>
                <a:cs typeface="Arial MT"/>
              </a:rPr>
              <a:t>detected</a:t>
            </a:r>
            <a:r>
              <a:rPr dirty="0" sz="1000" spc="-15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D707C"/>
                </a:solidFill>
                <a:latin typeface="Arial MT"/>
                <a:cs typeface="Arial MT"/>
              </a:rPr>
              <a:t>by</a:t>
            </a:r>
            <a:r>
              <a:rPr dirty="0" sz="1000" spc="-40">
                <a:solidFill>
                  <a:srgbClr val="6D707C"/>
                </a:solidFill>
                <a:latin typeface="Arial MT"/>
                <a:cs typeface="Arial MT"/>
              </a:rPr>
              <a:t> </a:t>
            </a:r>
            <a:r>
              <a:rPr dirty="0" sz="1000" spc="-65">
                <a:solidFill>
                  <a:srgbClr val="6D6D6D"/>
                </a:solidFill>
                <a:latin typeface="Arial MT"/>
                <a:cs typeface="Arial MT"/>
              </a:rPr>
              <a:t>CHIME,</a:t>
            </a:r>
            <a:r>
              <a:rPr dirty="0" sz="1000" spc="-1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solidFill>
                  <a:srgbClr val="6B6B6B"/>
                </a:solidFill>
                <a:latin typeface="Arial MT"/>
                <a:cs typeface="Arial MT"/>
              </a:rPr>
              <a:t>presented</a:t>
            </a:r>
            <a:r>
              <a:rPr dirty="0" sz="1000" spc="5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76D7B"/>
                </a:solidFill>
                <a:latin typeface="Arial MT"/>
                <a:cs typeface="Arial MT"/>
              </a:rPr>
              <a:t>by</a:t>
            </a:r>
            <a:r>
              <a:rPr dirty="0" sz="1000" spc="-40">
                <a:solidFill>
                  <a:srgbClr val="676D7B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6B6B6B"/>
                </a:solidFill>
                <a:latin typeface="Arial MT"/>
                <a:cs typeface="Arial MT"/>
              </a:rPr>
              <a:t>Kethavath</a:t>
            </a:r>
            <a:r>
              <a:rPr dirty="0" sz="1000" spc="45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E6E6E"/>
                </a:solidFill>
                <a:latin typeface="Arial MT"/>
                <a:cs typeface="Arial MT"/>
              </a:rPr>
              <a:t>Peeresh </a:t>
            </a:r>
            <a:r>
              <a:rPr dirty="0" sz="1000" spc="-114">
                <a:solidFill>
                  <a:srgbClr val="727272"/>
                </a:solidFill>
                <a:latin typeface="Arial MT"/>
                <a:cs typeface="Arial MT"/>
              </a:rPr>
              <a:t>P22BTECH</a:t>
            </a:r>
            <a:r>
              <a:rPr dirty="0" sz="1000" spc="-105">
                <a:solidFill>
                  <a:srgbClr val="727272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E6E6E"/>
                </a:solidFill>
                <a:latin typeface="Arial MT"/>
                <a:cs typeface="Arial MT"/>
              </a:rPr>
              <a:t>11011).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2475" y="4200144"/>
            <a:ext cx="1334857" cy="20116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8380" y="2011679"/>
            <a:ext cx="609523" cy="6096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41333" y="2011679"/>
            <a:ext cx="606476" cy="6096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71237" y="2011679"/>
            <a:ext cx="609523" cy="6096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01143" y="2011679"/>
            <a:ext cx="609523" cy="6096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77904" y="2200655"/>
            <a:ext cx="115809" cy="79248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6531047" y="2011679"/>
            <a:ext cx="612775" cy="609600"/>
            <a:chOff x="6531047" y="2011679"/>
            <a:chExt cx="612775" cy="609600"/>
          </a:xfrm>
        </p:grpSpPr>
        <p:pic>
          <p:nvPicPr>
            <p:cNvPr id="9" name="object 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50476" y="2301239"/>
              <a:ext cx="173714" cy="109727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77904" y="2200655"/>
              <a:ext cx="115809" cy="7924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50476" y="2298191"/>
              <a:ext cx="173714" cy="131063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31047" y="2011679"/>
              <a:ext cx="612571" cy="609600"/>
            </a:xfrm>
            <a:prstGeom prst="rect">
              <a:avLst/>
            </a:prstGeom>
          </p:spPr>
        </p:pic>
      </p:grpSp>
      <p:pic>
        <p:nvPicPr>
          <p:cNvPr id="13" name="object 1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2084832"/>
            <a:ext cx="70095" cy="493776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406330" y="354584"/>
            <a:ext cx="25622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D2DBA"/>
                </a:solidFill>
                <a:latin typeface="Times New Roman"/>
                <a:cs typeface="Times New Roman"/>
              </a:rPr>
              <a:t>N</a:t>
            </a:r>
            <a:r>
              <a:rPr dirty="0" sz="900" spc="75">
                <a:solidFill>
                  <a:srgbClr val="4D2DBA"/>
                </a:solidFill>
                <a:latin typeface="Times New Roman"/>
                <a:cs typeface="Times New Roman"/>
              </a:rPr>
              <a:t> </a:t>
            </a:r>
            <a:r>
              <a:rPr dirty="0" sz="900" spc="-40">
                <a:solidFill>
                  <a:srgbClr val="502AD3"/>
                </a:solidFill>
                <a:latin typeface="Times New Roman"/>
                <a:cs typeface="Times New Roman"/>
              </a:rPr>
              <a:t>A</a:t>
            </a:r>
            <a:r>
              <a:rPr dirty="0" sz="900" spc="25">
                <a:solidFill>
                  <a:srgbClr val="502AD3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4F2DC8"/>
                </a:solidFill>
                <a:latin typeface="Times New Roman"/>
                <a:cs typeface="Times New Roman"/>
              </a:rPr>
              <a:t>C</a:t>
            </a:r>
            <a:r>
              <a:rPr dirty="0" sz="900" spc="40">
                <a:solidFill>
                  <a:srgbClr val="4F2DC8"/>
                </a:solidFill>
                <a:latin typeface="Times New Roman"/>
                <a:cs typeface="Times New Roman"/>
              </a:rPr>
              <a:t> </a:t>
            </a:r>
            <a:r>
              <a:rPr dirty="0" sz="900" spc="-45">
                <a:solidFill>
                  <a:srgbClr val="4F2DBF"/>
                </a:solidFill>
                <a:latin typeface="Times New Roman"/>
                <a:cs typeface="Times New Roman"/>
              </a:rPr>
              <a:t>H</a:t>
            </a:r>
            <a:r>
              <a:rPr dirty="0" sz="900" spc="105">
                <a:solidFill>
                  <a:srgbClr val="4F2DB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502FCC"/>
                </a:solidFill>
                <a:latin typeface="Times New Roman"/>
                <a:cs typeface="Times New Roman"/>
              </a:rPr>
              <a:t>I</a:t>
            </a:r>
            <a:r>
              <a:rPr dirty="0" sz="900" spc="95">
                <a:solidFill>
                  <a:srgbClr val="502FCC"/>
                </a:solidFill>
                <a:latin typeface="Times New Roman"/>
                <a:cs typeface="Times New Roman"/>
              </a:rPr>
              <a:t> </a:t>
            </a:r>
            <a:r>
              <a:rPr dirty="0" sz="900" spc="-25">
                <a:solidFill>
                  <a:srgbClr val="8E7BD1"/>
                </a:solidFill>
                <a:latin typeface="Times New Roman"/>
                <a:cs typeface="Times New Roman"/>
              </a:rPr>
              <a:t>N</a:t>
            </a:r>
            <a:r>
              <a:rPr dirty="0" sz="900" spc="85">
                <a:solidFill>
                  <a:srgbClr val="8E7BD1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502ACD"/>
                </a:solidFill>
                <a:latin typeface="Times New Roman"/>
                <a:cs typeface="Times New Roman"/>
              </a:rPr>
              <a:t>E</a:t>
            </a:r>
            <a:r>
              <a:rPr dirty="0" sz="900" spc="480">
                <a:solidFill>
                  <a:srgbClr val="502ACD"/>
                </a:solidFill>
                <a:latin typeface="Times New Roman"/>
                <a:cs typeface="Times New Roman"/>
              </a:rPr>
              <a:t> </a:t>
            </a:r>
            <a:r>
              <a:rPr dirty="0" sz="900" spc="-65">
                <a:solidFill>
                  <a:srgbClr val="502ACF"/>
                </a:solidFill>
                <a:latin typeface="Times New Roman"/>
                <a:cs typeface="Times New Roman"/>
              </a:rPr>
              <a:t>L</a:t>
            </a:r>
            <a:r>
              <a:rPr dirty="0" sz="900" spc="90">
                <a:solidFill>
                  <a:srgbClr val="502ACF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4F2AD8"/>
                </a:solidFill>
                <a:latin typeface="Times New Roman"/>
                <a:cs typeface="Times New Roman"/>
              </a:rPr>
              <a:t>E</a:t>
            </a:r>
            <a:r>
              <a:rPr dirty="0" sz="900" spc="55">
                <a:solidFill>
                  <a:srgbClr val="4F2AD8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4F2AC1"/>
                </a:solidFill>
                <a:latin typeface="Times New Roman"/>
                <a:cs typeface="Times New Roman"/>
              </a:rPr>
              <a:t>A</a:t>
            </a:r>
            <a:r>
              <a:rPr dirty="0" sz="900" spc="75">
                <a:solidFill>
                  <a:srgbClr val="4F2AC1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4B28BA"/>
                </a:solidFill>
                <a:latin typeface="Times New Roman"/>
                <a:cs typeface="Times New Roman"/>
              </a:rPr>
              <a:t>R</a:t>
            </a:r>
            <a:r>
              <a:rPr dirty="0" sz="900" spc="90">
                <a:solidFill>
                  <a:srgbClr val="4B28BA"/>
                </a:solidFill>
                <a:latin typeface="Times New Roman"/>
                <a:cs typeface="Times New Roman"/>
              </a:rPr>
              <a:t> </a:t>
            </a:r>
            <a:r>
              <a:rPr dirty="0" sz="900" spc="-30">
                <a:solidFill>
                  <a:srgbClr val="4F2DC3"/>
                </a:solidFill>
                <a:latin typeface="Times New Roman"/>
                <a:cs typeface="Times New Roman"/>
              </a:rPr>
              <a:t>N</a:t>
            </a:r>
            <a:r>
              <a:rPr dirty="0" sz="900" spc="80">
                <a:solidFill>
                  <a:srgbClr val="4F2DC3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4F2BCC"/>
                </a:solidFill>
                <a:latin typeface="Times New Roman"/>
                <a:cs typeface="Times New Roman"/>
              </a:rPr>
              <a:t>I</a:t>
            </a:r>
            <a:r>
              <a:rPr dirty="0" sz="900" spc="95">
                <a:solidFill>
                  <a:srgbClr val="4F2BCC"/>
                </a:solidFill>
                <a:latin typeface="Times New Roman"/>
                <a:cs typeface="Times New Roman"/>
              </a:rPr>
              <a:t> </a:t>
            </a:r>
            <a:r>
              <a:rPr dirty="0" sz="900" spc="-55">
                <a:solidFill>
                  <a:srgbClr val="AC95F7"/>
                </a:solidFill>
                <a:latin typeface="Times New Roman"/>
                <a:cs typeface="Times New Roman"/>
              </a:rPr>
              <a:t>N</a:t>
            </a:r>
            <a:r>
              <a:rPr dirty="0" sz="900" spc="75">
                <a:solidFill>
                  <a:srgbClr val="AC95F7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4F31BD"/>
                </a:solidFill>
                <a:latin typeface="Times New Roman"/>
                <a:cs typeface="Times New Roman"/>
              </a:rPr>
              <a:t>G</a:t>
            </a:r>
            <a:r>
              <a:rPr dirty="0" sz="900" spc="440">
                <a:solidFill>
                  <a:srgbClr val="4F31BD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522DCF"/>
                </a:solidFill>
                <a:latin typeface="Times New Roman"/>
                <a:cs typeface="Times New Roman"/>
              </a:rPr>
              <a:t>A</a:t>
            </a:r>
            <a:r>
              <a:rPr dirty="0" sz="900" spc="100">
                <a:solidFill>
                  <a:srgbClr val="522DCF"/>
                </a:solidFill>
                <a:latin typeface="Times New Roman"/>
                <a:cs typeface="Times New Roman"/>
              </a:rPr>
              <a:t> </a:t>
            </a:r>
            <a:r>
              <a:rPr dirty="0" sz="900" spc="-40">
                <a:solidFill>
                  <a:srgbClr val="4D2AC3"/>
                </a:solidFill>
                <a:latin typeface="Times New Roman"/>
                <a:cs typeface="Times New Roman"/>
              </a:rPr>
              <a:t>N</a:t>
            </a:r>
            <a:r>
              <a:rPr dirty="0" sz="900" spc="105">
                <a:solidFill>
                  <a:srgbClr val="4D2AC3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4B2BBC"/>
                </a:solidFill>
                <a:latin typeface="Times New Roman"/>
                <a:cs typeface="Times New Roman"/>
              </a:rPr>
              <a:t>D</a:t>
            </a:r>
            <a:r>
              <a:rPr dirty="0" sz="900" spc="455">
                <a:solidFill>
                  <a:srgbClr val="4B2BBC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4D31B3"/>
                </a:solidFill>
                <a:latin typeface="Times New Roman"/>
                <a:cs typeface="Times New Roman"/>
              </a:rPr>
              <a:t>F</a:t>
            </a:r>
            <a:r>
              <a:rPr dirty="0" sz="900" spc="80">
                <a:solidFill>
                  <a:srgbClr val="4D31B3"/>
                </a:solidFill>
                <a:latin typeface="Times New Roman"/>
                <a:cs typeface="Times New Roman"/>
              </a:rPr>
              <a:t> </a:t>
            </a:r>
            <a:r>
              <a:rPr dirty="0" sz="900" spc="-30">
                <a:solidFill>
                  <a:srgbClr val="664BB1"/>
                </a:solidFill>
                <a:latin typeface="Times New Roman"/>
                <a:cs typeface="Times New Roman"/>
              </a:rPr>
              <a:t>R</a:t>
            </a:r>
            <a:r>
              <a:rPr dirty="0" sz="900" spc="100">
                <a:solidFill>
                  <a:srgbClr val="664BB1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A085FF"/>
                </a:solidFill>
                <a:latin typeface="Times New Roman"/>
                <a:cs typeface="Times New Roman"/>
              </a:rPr>
              <a:t>B</a:t>
            </a:r>
            <a:r>
              <a:rPr dirty="0" sz="900" spc="25">
                <a:solidFill>
                  <a:srgbClr val="A085FF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502DC4"/>
                </a:solidFill>
                <a:latin typeface="Times New Roman"/>
                <a:cs typeface="Times New Roman"/>
              </a:rPr>
              <a:t>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98830" y="318516"/>
            <a:ext cx="4166235" cy="735330"/>
          </a:xfrm>
          <a:prstGeom prst="rect"/>
        </p:spPr>
        <p:txBody>
          <a:bodyPr wrap="square" lIns="0" tIns="16256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280"/>
              </a:spcBef>
            </a:pPr>
            <a:r>
              <a:rPr dirty="0" sz="2400" spc="-90">
                <a:solidFill>
                  <a:srgbClr val="0F0F0F"/>
                </a:solidFill>
              </a:rPr>
              <a:t>Research</a:t>
            </a:r>
            <a:r>
              <a:rPr dirty="0" sz="2400" spc="-20">
                <a:solidFill>
                  <a:srgbClr val="0F0F0F"/>
                </a:solidFill>
              </a:rPr>
              <a:t> </a:t>
            </a:r>
            <a:r>
              <a:rPr dirty="0" sz="2400" spc="-80">
                <a:solidFill>
                  <a:srgbClr val="0F0F0F"/>
                </a:solidFill>
              </a:rPr>
              <a:t>Question</a:t>
            </a:r>
            <a:r>
              <a:rPr dirty="0" sz="2400" spc="-40">
                <a:solidFill>
                  <a:srgbClr val="0F0F0F"/>
                </a:solidFill>
              </a:rPr>
              <a:t> </a:t>
            </a:r>
            <a:r>
              <a:rPr dirty="0" sz="2400" spc="-10">
                <a:solidFill>
                  <a:srgbClr val="111111"/>
                </a:solidFill>
              </a:rPr>
              <a:t>and</a:t>
            </a:r>
            <a:r>
              <a:rPr dirty="0" sz="2400" spc="-90">
                <a:solidFill>
                  <a:srgbClr val="111111"/>
                </a:solidFill>
              </a:rPr>
              <a:t> </a:t>
            </a:r>
            <a:r>
              <a:rPr dirty="0" sz="2400" spc="-10">
                <a:solidFill>
                  <a:srgbClr val="0F0F0F"/>
                </a:solidFill>
              </a:rPr>
              <a:t>Hypothesis</a:t>
            </a:r>
            <a:endParaRPr sz="2400"/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900">
                <a:solidFill>
                  <a:srgbClr val="6D6D6D"/>
                </a:solidFill>
                <a:latin typeface="Arial MT"/>
                <a:cs typeface="Arial MT"/>
              </a:rPr>
              <a:t>Exploring</a:t>
            </a:r>
            <a:r>
              <a:rPr dirty="0" sz="900" spc="195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96969"/>
                </a:solidFill>
                <a:latin typeface="Arial MT"/>
                <a:cs typeface="Arial MT"/>
              </a:rPr>
              <a:t>Unsupervised</a:t>
            </a:r>
            <a:r>
              <a:rPr dirty="0" sz="900" spc="185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E6E6E"/>
                </a:solidFill>
                <a:latin typeface="Arial MT"/>
                <a:cs typeface="Arial MT"/>
              </a:rPr>
              <a:t>Machine</a:t>
            </a:r>
            <a:r>
              <a:rPr dirty="0" sz="900" spc="155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B6B6B"/>
                </a:solidFill>
                <a:latin typeface="Arial MT"/>
                <a:cs typeface="Arial MT"/>
              </a:rPr>
              <a:t>Learning</a:t>
            </a:r>
            <a:r>
              <a:rPr dirty="0" sz="900" spc="14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7C7C7C"/>
                </a:solidFill>
                <a:latin typeface="Arial MT"/>
                <a:cs typeface="Arial MT"/>
              </a:rPr>
              <a:t>for</a:t>
            </a:r>
            <a:r>
              <a:rPr dirty="0" sz="900" spc="114">
                <a:solidFill>
                  <a:srgbClr val="7C7C7C"/>
                </a:solidFill>
                <a:latin typeface="Arial MT"/>
                <a:cs typeface="Arial MT"/>
              </a:rPr>
              <a:t> </a:t>
            </a:r>
            <a:r>
              <a:rPr dirty="0" sz="900" spc="-40">
                <a:solidFill>
                  <a:srgbClr val="AEAEAE"/>
                </a:solidFill>
                <a:latin typeface="Arial MT"/>
                <a:cs typeface="Arial MT"/>
              </a:rPr>
              <a:t>Fas†</a:t>
            </a:r>
            <a:r>
              <a:rPr dirty="0" sz="900" spc="85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838383"/>
                </a:solidFill>
                <a:latin typeface="Arial MT"/>
                <a:cs typeface="Arial MT"/>
              </a:rPr>
              <a:t>Radio</a:t>
            </a:r>
            <a:r>
              <a:rPr dirty="0" sz="900" spc="145">
                <a:solidFill>
                  <a:srgbClr val="838383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B6B6B"/>
                </a:solidFill>
                <a:latin typeface="Arial MT"/>
                <a:cs typeface="Arial MT"/>
              </a:rPr>
              <a:t>Burst</a:t>
            </a:r>
            <a:r>
              <a:rPr dirty="0" sz="900" spc="125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6B6B6B"/>
                </a:solidFill>
                <a:latin typeface="Arial MT"/>
                <a:cs typeface="Arial MT"/>
              </a:rPr>
              <a:t>Classification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96232" y="1273810"/>
            <a:ext cx="108077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Research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Question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93963" y="2735833"/>
            <a:ext cx="1124585" cy="144462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03800"/>
              </a:lnSpc>
              <a:spcBef>
                <a:spcPts val="65"/>
              </a:spcBef>
            </a:pPr>
            <a:r>
              <a:rPr dirty="0" sz="750" spc="-60">
                <a:solidFill>
                  <a:srgbClr val="0F0F0F"/>
                </a:solidFill>
                <a:latin typeface="Arial MT"/>
                <a:cs typeface="Arial MT"/>
              </a:rPr>
              <a:t>How</a:t>
            </a:r>
            <a:r>
              <a:rPr dirty="0" sz="75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30">
                <a:solidFill>
                  <a:srgbClr val="0F0F0F"/>
                </a:solidFill>
                <a:latin typeface="Arial MT"/>
                <a:cs typeface="Arial MT"/>
              </a:rPr>
              <a:t>con</a:t>
            </a:r>
            <a:r>
              <a:rPr dirty="0" sz="750" spc="-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E0E0E"/>
                </a:solidFill>
                <a:latin typeface="Arial MT"/>
                <a:cs typeface="Arial MT"/>
              </a:rPr>
              <a:t>unsupervised </a:t>
            </a:r>
            <a:r>
              <a:rPr dirty="0" sz="750" spc="-40">
                <a:solidFill>
                  <a:srgbClr val="0C0C0C"/>
                </a:solidFill>
                <a:latin typeface="Arial MT"/>
                <a:cs typeface="Arial MT"/>
              </a:rPr>
              <a:t>machine</a:t>
            </a:r>
            <a:r>
              <a:rPr dirty="0" sz="750" spc="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35">
                <a:solidFill>
                  <a:srgbClr val="0C0C0C"/>
                </a:solidFill>
                <a:latin typeface="Arial MT"/>
                <a:cs typeface="Arial MT"/>
              </a:rPr>
              <a:t>learning</a:t>
            </a:r>
            <a:r>
              <a:rPr dirty="0" sz="750" spc="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40">
                <a:solidFill>
                  <a:srgbClr val="0E0E0E"/>
                </a:solidFill>
                <a:latin typeface="Arial MT"/>
                <a:cs typeface="Arial MT"/>
              </a:rPr>
              <a:t>techniques</a:t>
            </a:r>
            <a:r>
              <a:rPr dirty="0" sz="75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40">
                <a:solidFill>
                  <a:srgbClr val="0E0E0E"/>
                </a:solidFill>
                <a:latin typeface="Arial MT"/>
                <a:cs typeface="Arial MT"/>
              </a:rPr>
              <a:t>improve</a:t>
            </a:r>
            <a:r>
              <a:rPr dirty="0" sz="750" spc="1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E0E0E"/>
                </a:solidFill>
                <a:latin typeface="Arial MT"/>
                <a:cs typeface="Arial MT"/>
              </a:rPr>
              <a:t>the</a:t>
            </a:r>
            <a:r>
              <a:rPr dirty="0" sz="750" spc="-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30">
                <a:solidFill>
                  <a:srgbClr val="0E0E0E"/>
                </a:solidFill>
                <a:latin typeface="Arial MT"/>
                <a:cs typeface="Arial MT"/>
              </a:rPr>
              <a:t>classification</a:t>
            </a:r>
            <a:r>
              <a:rPr dirty="0" sz="750" spc="-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E0E0E"/>
                </a:solidFill>
                <a:latin typeface="Arial MT"/>
                <a:cs typeface="Arial MT"/>
              </a:rPr>
              <a:t>of</a:t>
            </a:r>
            <a:r>
              <a:rPr dirty="0" sz="75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55">
                <a:solidFill>
                  <a:srgbClr val="0E0E0E"/>
                </a:solidFill>
                <a:latin typeface="Arial MT"/>
                <a:cs typeface="Arial MT"/>
              </a:rPr>
              <a:t>Fast</a:t>
            </a:r>
            <a:r>
              <a:rPr dirty="0" sz="750" spc="2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45">
                <a:solidFill>
                  <a:srgbClr val="0F0F0F"/>
                </a:solidFill>
                <a:latin typeface="Arial MT"/>
                <a:cs typeface="Arial MT"/>
              </a:rPr>
              <a:t>Radio</a:t>
            </a:r>
            <a:r>
              <a:rPr dirty="0" sz="750" spc="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55">
                <a:solidFill>
                  <a:srgbClr val="0E0E0E"/>
                </a:solidFill>
                <a:latin typeface="Arial MT"/>
                <a:cs typeface="Arial MT"/>
              </a:rPr>
              <a:t>Bursts</a:t>
            </a:r>
            <a:r>
              <a:rPr dirty="0" sz="750" spc="2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(FRBs) </a:t>
            </a:r>
            <a:r>
              <a:rPr dirty="0" sz="750" spc="-35">
                <a:solidFill>
                  <a:srgbClr val="0C0C0C"/>
                </a:solidFill>
                <a:latin typeface="Arial MT"/>
                <a:cs typeface="Arial MT"/>
              </a:rPr>
              <a:t>detected</a:t>
            </a:r>
            <a:r>
              <a:rPr dirty="0" sz="750" spc="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0C0C0C"/>
                </a:solidFill>
                <a:latin typeface="Arial MT"/>
                <a:cs typeface="Arial MT"/>
              </a:rPr>
              <a:t>by</a:t>
            </a:r>
            <a:r>
              <a:rPr dirty="0" sz="750" spc="-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85">
                <a:solidFill>
                  <a:srgbClr val="0C0C0C"/>
                </a:solidFill>
                <a:latin typeface="Arial MT"/>
                <a:cs typeface="Arial MT"/>
              </a:rPr>
              <a:t>CHINIE?</a:t>
            </a:r>
            <a:r>
              <a:rPr dirty="0" sz="750" spc="5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0E0E0E"/>
                </a:solidFill>
                <a:latin typeface="Arial MT"/>
                <a:cs typeface="Arial MT"/>
              </a:rPr>
              <a:t>This</a:t>
            </a:r>
            <a:r>
              <a:rPr dirty="0" sz="75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40">
                <a:solidFill>
                  <a:srgbClr val="0E0E0E"/>
                </a:solidFill>
                <a:latin typeface="Arial MT"/>
                <a:cs typeface="Arial MT"/>
              </a:rPr>
              <a:t>question</a:t>
            </a:r>
            <a:r>
              <a:rPr dirty="0" sz="750" spc="2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35">
                <a:solidFill>
                  <a:srgbClr val="0C0C0C"/>
                </a:solidFill>
                <a:latin typeface="Arial MT"/>
                <a:cs typeface="Arial MT"/>
              </a:rPr>
              <a:t>aims</a:t>
            </a:r>
            <a:r>
              <a:rPr dirty="0" sz="750" spc="-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to</a:t>
            </a:r>
            <a:r>
              <a:rPr dirty="0" sz="75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0E0E0E"/>
                </a:solidFill>
                <a:latin typeface="Arial MT"/>
                <a:cs typeface="Arial MT"/>
              </a:rPr>
              <a:t>investigate</a:t>
            </a:r>
            <a:r>
              <a:rPr dirty="0" sz="75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C0C0C"/>
                </a:solidFill>
                <a:latin typeface="Arial MT"/>
                <a:cs typeface="Arial MT"/>
              </a:rPr>
              <a:t>the</a:t>
            </a:r>
            <a:r>
              <a:rPr dirty="0" sz="750" spc="-20">
                <a:solidFill>
                  <a:srgbClr val="0C0C0C"/>
                </a:solidFill>
                <a:latin typeface="Arial MT"/>
                <a:cs typeface="Arial MT"/>
              </a:rPr>
              <a:t> applicability</a:t>
            </a:r>
            <a:r>
              <a:rPr dirty="0" sz="750" spc="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C0C0C"/>
                </a:solidFill>
                <a:latin typeface="Arial MT"/>
                <a:cs typeface="Arial MT"/>
              </a:rPr>
              <a:t>of</a:t>
            </a:r>
            <a:r>
              <a:rPr dirty="0" sz="750" spc="5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45">
                <a:solidFill>
                  <a:srgbClr val="0E0E0E"/>
                </a:solidFill>
                <a:latin typeface="Arial MT"/>
                <a:cs typeface="Arial MT"/>
              </a:rPr>
              <a:t>unsupervised</a:t>
            </a:r>
            <a:r>
              <a:rPr dirty="0" sz="750" spc="4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learning </a:t>
            </a:r>
            <a:r>
              <a:rPr dirty="0" sz="750" spc="-35">
                <a:solidFill>
                  <a:srgbClr val="0C0C0C"/>
                </a:solidFill>
                <a:latin typeface="Arial MT"/>
                <a:cs typeface="Arial MT"/>
              </a:rPr>
              <a:t>methodologies</a:t>
            </a:r>
            <a:r>
              <a:rPr dirty="0" sz="750" spc="5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to</a:t>
            </a:r>
            <a:r>
              <a:rPr dirty="0" sz="750" spc="-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35">
                <a:solidFill>
                  <a:srgbClr val="0A0A0A"/>
                </a:solidFill>
                <a:latin typeface="Arial MT"/>
                <a:cs typeface="Arial MT"/>
              </a:rPr>
              <a:t>categorize</a:t>
            </a:r>
            <a:r>
              <a:rPr dirty="0" sz="750" spc="50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750" spc="-100">
                <a:solidFill>
                  <a:srgbClr val="0C0C0C"/>
                </a:solidFill>
                <a:latin typeface="Arial MT"/>
                <a:cs typeface="Arial MT"/>
              </a:rPr>
              <a:t>FRBs</a:t>
            </a:r>
            <a:r>
              <a:rPr dirty="0" sz="750" spc="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35">
                <a:solidFill>
                  <a:srgbClr val="0E0E0E"/>
                </a:solidFill>
                <a:latin typeface="Arial MT"/>
                <a:cs typeface="Arial MT"/>
              </a:rPr>
              <a:t>more</a:t>
            </a:r>
            <a:r>
              <a:rPr dirty="0" sz="750" spc="-2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effectively, </a:t>
            </a:r>
            <a:r>
              <a:rPr dirty="0" sz="750" spc="-25">
                <a:solidFill>
                  <a:srgbClr val="0C0C0C"/>
                </a:solidFill>
                <a:latin typeface="Arial MT"/>
                <a:cs typeface="Arial MT"/>
              </a:rPr>
              <a:t>potentially</a:t>
            </a:r>
            <a:r>
              <a:rPr dirty="0" sz="750" spc="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45">
                <a:solidFill>
                  <a:srgbClr val="0A0A0A"/>
                </a:solidFill>
                <a:latin typeface="Arial MT"/>
                <a:cs typeface="Arial MT"/>
              </a:rPr>
              <a:t>uncovering</a:t>
            </a:r>
            <a:r>
              <a:rPr dirty="0" sz="750" spc="7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A0A0A"/>
                </a:solidFill>
                <a:latin typeface="Arial MT"/>
                <a:cs typeface="Arial MT"/>
              </a:rPr>
              <a:t>new</a:t>
            </a:r>
            <a:r>
              <a:rPr dirty="0" sz="750" spc="50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750" spc="-30">
                <a:solidFill>
                  <a:srgbClr val="0E0E0E"/>
                </a:solidFill>
                <a:latin typeface="Arial MT"/>
                <a:cs typeface="Arial MT"/>
              </a:rPr>
              <a:t>insights</a:t>
            </a:r>
            <a:r>
              <a:rPr dirty="0" sz="75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111111"/>
                </a:solidFill>
                <a:latin typeface="Arial MT"/>
                <a:cs typeface="Arial MT"/>
              </a:rPr>
              <a:t>in</a:t>
            </a:r>
            <a:r>
              <a:rPr dirty="0" sz="750" spc="-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ostrophysics.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924211" y="1257079"/>
            <a:ext cx="797560" cy="607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3175">
              <a:lnSpc>
                <a:spcPct val="112000"/>
              </a:lnSpc>
              <a:spcBef>
                <a:spcPts val="120"/>
              </a:spcBef>
            </a:pPr>
            <a:r>
              <a:rPr dirty="0" sz="1100" spc="-10">
                <a:solidFill>
                  <a:srgbClr val="0F0F0F"/>
                </a:solidFill>
                <a:latin typeface="Times New Roman"/>
                <a:cs typeface="Times New Roman"/>
              </a:rPr>
              <a:t>Unsupervised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Learning Techniques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923982" y="2735833"/>
            <a:ext cx="1176020" cy="120650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0160">
              <a:lnSpc>
                <a:spcPct val="103699"/>
              </a:lnSpc>
              <a:spcBef>
                <a:spcPts val="65"/>
              </a:spcBef>
            </a:pPr>
            <a:r>
              <a:rPr dirty="0" sz="750" spc="-10">
                <a:solidFill>
                  <a:srgbClr val="0C0C0C"/>
                </a:solidFill>
                <a:latin typeface="Times New Roman"/>
                <a:cs typeface="Times New Roman"/>
              </a:rPr>
              <a:t>Unsupervised</a:t>
            </a:r>
            <a:r>
              <a:rPr dirty="0" sz="750" spc="6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E0E0E"/>
                </a:solidFill>
                <a:latin typeface="Times New Roman"/>
                <a:cs typeface="Times New Roman"/>
              </a:rPr>
              <a:t>learning</a:t>
            </a:r>
            <a:r>
              <a:rPr dirty="0" sz="750" spc="6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E0E0E"/>
                </a:solidFill>
                <a:latin typeface="Times New Roman"/>
                <a:cs typeface="Times New Roman"/>
              </a:rPr>
              <a:t>refers</a:t>
            </a:r>
            <a:r>
              <a:rPr dirty="0" sz="750" spc="50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750" spc="-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C0C0C"/>
                </a:solidFill>
                <a:latin typeface="Times New Roman"/>
                <a:cs typeface="Times New Roman"/>
              </a:rPr>
              <a:t>a</a:t>
            </a:r>
            <a:r>
              <a:rPr dirty="0" sz="750" spc="-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C0C0C"/>
                </a:solidFill>
                <a:latin typeface="Times New Roman"/>
                <a:cs typeface="Times New Roman"/>
              </a:rPr>
              <a:t>Jype</a:t>
            </a:r>
            <a:r>
              <a:rPr dirty="0" sz="750" spc="-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7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E0E0E"/>
                </a:solidFill>
                <a:latin typeface="Times New Roman"/>
                <a:cs typeface="Times New Roman"/>
              </a:rPr>
              <a:t>machine</a:t>
            </a:r>
            <a:r>
              <a:rPr dirty="0" sz="750" spc="3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Times New Roman"/>
                <a:cs typeface="Times New Roman"/>
              </a:rPr>
              <a:t>learning</a:t>
            </a:r>
            <a:r>
              <a:rPr dirty="0" sz="750" spc="5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C0C0C"/>
                </a:solidFill>
                <a:latin typeface="Times New Roman"/>
                <a:cs typeface="Times New Roman"/>
              </a:rPr>
              <a:t>thot</a:t>
            </a:r>
            <a:r>
              <a:rPr dirty="0" sz="750" spc="-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F0F0F"/>
                </a:solidFill>
                <a:latin typeface="Times New Roman"/>
                <a:cs typeface="Times New Roman"/>
              </a:rPr>
              <a:t>does</a:t>
            </a:r>
            <a:r>
              <a:rPr dirty="0" sz="7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E0E0E"/>
                </a:solidFill>
                <a:latin typeface="Times New Roman"/>
                <a:cs typeface="Times New Roman"/>
              </a:rPr>
              <a:t>not</a:t>
            </a:r>
            <a:r>
              <a:rPr dirty="0" sz="750" spc="5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Times New Roman"/>
                <a:cs typeface="Times New Roman"/>
              </a:rPr>
              <a:t>require</a:t>
            </a:r>
            <a:r>
              <a:rPr dirty="0" sz="750" spc="4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Times New Roman"/>
                <a:cs typeface="Times New Roman"/>
              </a:rPr>
              <a:t>labeled</a:t>
            </a:r>
            <a:r>
              <a:rPr dirty="0" sz="750" spc="5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Times New Roman"/>
                <a:cs typeface="Times New Roman"/>
              </a:rPr>
              <a:t>input</a:t>
            </a:r>
            <a:r>
              <a:rPr dirty="0" sz="7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C0C0C"/>
                </a:solidFill>
                <a:latin typeface="Times New Roman"/>
                <a:cs typeface="Times New Roman"/>
              </a:rPr>
              <a:t>data.</a:t>
            </a:r>
            <a:r>
              <a:rPr dirty="0" sz="750" spc="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 spc="-80">
                <a:solidFill>
                  <a:srgbClr val="0F0F0F"/>
                </a:solidFill>
                <a:latin typeface="Times New Roman"/>
                <a:cs typeface="Times New Roman"/>
              </a:rPr>
              <a:t>By</a:t>
            </a:r>
            <a:r>
              <a:rPr dirty="0" sz="7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Times New Roman"/>
                <a:cs typeface="Times New Roman"/>
              </a:rPr>
              <a:t>applying</a:t>
            </a:r>
            <a:r>
              <a:rPr dirty="0" sz="750" spc="8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Times New Roman"/>
                <a:cs typeface="Times New Roman"/>
              </a:rPr>
              <a:t>these</a:t>
            </a:r>
            <a:r>
              <a:rPr dirty="0" sz="750" spc="5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C0C0C"/>
                </a:solidFill>
                <a:latin typeface="Times New Roman"/>
                <a:cs typeface="Times New Roman"/>
              </a:rPr>
              <a:t>techniques</a:t>
            </a:r>
            <a:r>
              <a:rPr dirty="0" sz="750" spc="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7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 spc="-85">
                <a:solidFill>
                  <a:srgbClr val="0E0E0E"/>
                </a:solidFill>
                <a:latin typeface="Times New Roman"/>
                <a:cs typeface="Times New Roman"/>
              </a:rPr>
              <a:t>FRB</a:t>
            </a:r>
            <a:r>
              <a:rPr dirty="0" sz="75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E0E0E"/>
                </a:solidFill>
                <a:latin typeface="Times New Roman"/>
                <a:cs typeface="Times New Roman"/>
              </a:rPr>
              <a:t>data,</a:t>
            </a:r>
            <a:r>
              <a:rPr dirty="0" sz="750" spc="50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E0E0E"/>
                </a:solidFill>
                <a:latin typeface="Times New Roman"/>
                <a:cs typeface="Times New Roman"/>
              </a:rPr>
              <a:t>researchers</a:t>
            </a:r>
            <a:r>
              <a:rPr dirty="0" sz="750" spc="-2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F0F0F"/>
                </a:solidFill>
                <a:latin typeface="Times New Roman"/>
                <a:cs typeface="Times New Roman"/>
              </a:rPr>
              <a:t>con</a:t>
            </a:r>
            <a:r>
              <a:rPr dirty="0" sz="7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E0E0E"/>
                </a:solidFill>
                <a:latin typeface="Times New Roman"/>
                <a:cs typeface="Times New Roman"/>
              </a:rPr>
              <a:t>identify</a:t>
            </a:r>
            <a:r>
              <a:rPr dirty="0" sz="750" spc="50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Times New Roman"/>
                <a:cs typeface="Times New Roman"/>
              </a:rPr>
              <a:t>natural</a:t>
            </a:r>
            <a:r>
              <a:rPr dirty="0" sz="7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E0E0E"/>
                </a:solidFill>
                <a:latin typeface="Times New Roman"/>
                <a:cs typeface="Times New Roman"/>
              </a:rPr>
              <a:t>groupings or</a:t>
            </a:r>
            <a:r>
              <a:rPr dirty="0" sz="750" spc="-4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Times New Roman"/>
                <a:cs typeface="Times New Roman"/>
              </a:rPr>
              <a:t>clusters</a:t>
            </a:r>
            <a:r>
              <a:rPr dirty="0" sz="750" spc="5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 spc="-25">
                <a:solidFill>
                  <a:srgbClr val="080808"/>
                </a:solidFill>
                <a:latin typeface="Times New Roman"/>
                <a:cs typeface="Times New Roman"/>
              </a:rPr>
              <a:t>within</a:t>
            </a:r>
            <a:r>
              <a:rPr dirty="0" sz="750" spc="80">
                <a:solidFill>
                  <a:srgbClr val="080808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7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A0A0A"/>
                </a:solidFill>
                <a:latin typeface="Times New Roman"/>
                <a:cs typeface="Times New Roman"/>
              </a:rPr>
              <a:t>dataset,</a:t>
            </a:r>
            <a:r>
              <a:rPr dirty="0" sz="750" spc="15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750" spc="-20">
                <a:solidFill>
                  <a:srgbClr val="0E0E0E"/>
                </a:solidFill>
                <a:latin typeface="Times New Roman"/>
                <a:cs typeface="Times New Roman"/>
              </a:rPr>
              <a:t>which</a:t>
            </a:r>
            <a:r>
              <a:rPr dirty="0" sz="750" spc="12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50" spc="-25">
                <a:solidFill>
                  <a:srgbClr val="0F0F0F"/>
                </a:solidFill>
                <a:latin typeface="Times New Roman"/>
                <a:cs typeface="Times New Roman"/>
              </a:rPr>
              <a:t>may</a:t>
            </a:r>
            <a:r>
              <a:rPr dirty="0" sz="75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F0F0F"/>
                </a:solidFill>
                <a:latin typeface="Times New Roman"/>
                <a:cs typeface="Times New Roman"/>
              </a:rPr>
              <a:t>not</a:t>
            </a:r>
            <a:r>
              <a:rPr dirty="0" sz="7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C0C0C"/>
                </a:solidFill>
                <a:latin typeface="Times New Roman"/>
                <a:cs typeface="Times New Roman"/>
              </a:rPr>
              <a:t>be</a:t>
            </a:r>
            <a:r>
              <a:rPr dirty="0" sz="750" spc="-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C0C0C"/>
                </a:solidFill>
                <a:latin typeface="Times New Roman"/>
                <a:cs typeface="Times New Roman"/>
              </a:rPr>
              <a:t>apparent</a:t>
            </a:r>
            <a:r>
              <a:rPr dirty="0" sz="750" spc="7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 spc="-20">
                <a:solidFill>
                  <a:srgbClr val="0F0F0F"/>
                </a:solidFill>
                <a:latin typeface="Times New Roman"/>
                <a:cs typeface="Times New Roman"/>
              </a:rPr>
              <a:t>with</a:t>
            </a:r>
            <a:r>
              <a:rPr dirty="0" sz="75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C0C0C"/>
                </a:solidFill>
                <a:latin typeface="Times New Roman"/>
                <a:cs typeface="Times New Roman"/>
              </a:rPr>
              <a:t>supervised</a:t>
            </a:r>
            <a:r>
              <a:rPr dirty="0" sz="750" spc="1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Times New Roman"/>
                <a:cs typeface="Times New Roman"/>
              </a:rPr>
              <a:t>methods.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456537" y="1280160"/>
            <a:ext cx="11404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0F0F0F"/>
                </a:solidFill>
                <a:latin typeface="Times New Roman"/>
                <a:cs typeface="Times New Roman"/>
              </a:rPr>
              <a:t>Clustering</a:t>
            </a:r>
            <a:r>
              <a:rPr dirty="0" sz="110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0F0F0F"/>
                </a:solidFill>
                <a:latin typeface="Times New Roman"/>
                <a:cs typeface="Times New Roman"/>
              </a:rPr>
              <a:t>Patterns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457003" y="2735833"/>
            <a:ext cx="1203325" cy="132588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3810">
              <a:lnSpc>
                <a:spcPct val="103699"/>
              </a:lnSpc>
              <a:spcBef>
                <a:spcPts val="65"/>
              </a:spcBef>
            </a:pPr>
            <a:r>
              <a:rPr dirty="0" sz="750" spc="-4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dirty="0" sz="750" spc="-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Calibri"/>
                <a:cs typeface="Calibri"/>
              </a:rPr>
              <a:t>hypothesis</a:t>
            </a:r>
            <a:r>
              <a:rPr dirty="0" sz="750" spc="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750">
                <a:solidFill>
                  <a:srgbClr val="0C0C0C"/>
                </a:solidFill>
                <a:latin typeface="Calibri"/>
                <a:cs typeface="Calibri"/>
              </a:rPr>
              <a:t>posits</a:t>
            </a:r>
            <a:r>
              <a:rPr dirty="0" sz="750" spc="1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750" spc="-20">
                <a:solidFill>
                  <a:srgbClr val="111111"/>
                </a:solidFill>
                <a:latin typeface="Calibri"/>
                <a:cs typeface="Calibri"/>
              </a:rPr>
              <a:t>thot</a:t>
            </a:r>
            <a:r>
              <a:rPr dirty="0" sz="750" spc="50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Calibri"/>
                <a:cs typeface="Calibri"/>
              </a:rPr>
              <a:t>unsupervised </a:t>
            </a:r>
            <a:r>
              <a:rPr dirty="0" sz="750" spc="-10">
                <a:solidFill>
                  <a:srgbClr val="0E0E0E"/>
                </a:solidFill>
                <a:latin typeface="Calibri"/>
                <a:cs typeface="Calibri"/>
              </a:rPr>
              <a:t>methods</a:t>
            </a:r>
            <a:r>
              <a:rPr dirty="0" sz="750" spc="5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750" spc="-25">
                <a:solidFill>
                  <a:srgbClr val="0E0E0E"/>
                </a:solidFill>
                <a:latin typeface="Calibri"/>
                <a:cs typeface="Calibri"/>
              </a:rPr>
              <a:t>con</a:t>
            </a:r>
            <a:r>
              <a:rPr dirty="0" sz="750" spc="50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750" spc="-50" i="1">
                <a:solidFill>
                  <a:srgbClr val="0E0E0E"/>
                </a:solidFill>
                <a:latin typeface="Calibri"/>
                <a:cs typeface="Calibri"/>
              </a:rPr>
              <a:t>repea!</a:t>
            </a:r>
            <a:r>
              <a:rPr dirty="0" sz="750" spc="25" i="1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Calibri"/>
                <a:cs typeface="Calibri"/>
              </a:rPr>
              <a:t>distinct </a:t>
            </a:r>
            <a:r>
              <a:rPr dirty="0" sz="750" spc="-10">
                <a:solidFill>
                  <a:srgbClr val="0E0E0E"/>
                </a:solidFill>
                <a:latin typeface="Calibri"/>
                <a:cs typeface="Calibri"/>
              </a:rPr>
              <a:t>clustering</a:t>
            </a:r>
            <a:r>
              <a:rPr dirty="0" sz="750" spc="50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Calibri"/>
                <a:cs typeface="Calibri"/>
              </a:rPr>
              <a:t>patterns</a:t>
            </a:r>
            <a:r>
              <a:rPr dirty="0" sz="750" spc="2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750">
                <a:solidFill>
                  <a:srgbClr val="0C0C0C"/>
                </a:solidFill>
                <a:latin typeface="Calibri"/>
                <a:cs typeface="Calibri"/>
              </a:rPr>
              <a:t>among</a:t>
            </a:r>
            <a:r>
              <a:rPr dirty="0" sz="750" spc="6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750">
                <a:solidFill>
                  <a:srgbClr val="0C0C0C"/>
                </a:solidFill>
                <a:latin typeface="Calibri"/>
                <a:cs typeface="Calibri"/>
              </a:rPr>
              <a:t>FRBs.</a:t>
            </a:r>
            <a:r>
              <a:rPr dirty="0" sz="750" spc="-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Calibri"/>
                <a:cs typeface="Calibri"/>
              </a:rPr>
              <a:t>These</a:t>
            </a:r>
            <a:r>
              <a:rPr dirty="0" sz="750" spc="50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750" spc="-10">
                <a:solidFill>
                  <a:srgbClr val="0A0A0A"/>
                </a:solidFill>
                <a:latin typeface="Calibri"/>
                <a:cs typeface="Calibri"/>
              </a:rPr>
              <a:t>patterns</a:t>
            </a:r>
            <a:r>
              <a:rPr dirty="0" sz="750" spc="25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750">
                <a:solidFill>
                  <a:srgbClr val="0C0C0C"/>
                </a:solidFill>
                <a:latin typeface="Calibri"/>
                <a:cs typeface="Calibri"/>
              </a:rPr>
              <a:t>con</a:t>
            </a:r>
            <a:r>
              <a:rPr dirty="0" sz="750" spc="-4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750" spc="-20">
                <a:solidFill>
                  <a:srgbClr val="0C0C0C"/>
                </a:solidFill>
                <a:latin typeface="Calibri"/>
                <a:cs typeface="Calibri"/>
              </a:rPr>
              <a:t>help</a:t>
            </a:r>
            <a:r>
              <a:rPr dirty="0" sz="750" spc="-1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750" spc="-10">
                <a:solidFill>
                  <a:srgbClr val="0E0E0E"/>
                </a:solidFill>
                <a:latin typeface="Calibri"/>
                <a:cs typeface="Calibri"/>
              </a:rPr>
              <a:t>astronomers</a:t>
            </a:r>
            <a:r>
              <a:rPr dirty="0" sz="750" spc="50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Calibri"/>
                <a:cs typeface="Calibri"/>
              </a:rPr>
              <a:t>categorize</a:t>
            </a:r>
            <a:r>
              <a:rPr dirty="0" sz="750" spc="8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750">
                <a:solidFill>
                  <a:srgbClr val="0E0E0E"/>
                </a:solidFill>
                <a:latin typeface="Calibri"/>
                <a:cs typeface="Calibri"/>
              </a:rPr>
              <a:t>FRBs</a:t>
            </a:r>
            <a:r>
              <a:rPr dirty="0" sz="750" spc="4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750">
                <a:solidFill>
                  <a:srgbClr val="0A0A0A"/>
                </a:solidFill>
                <a:latin typeface="Calibri"/>
                <a:cs typeface="Calibri"/>
              </a:rPr>
              <a:t>based</a:t>
            </a:r>
            <a:r>
              <a:rPr dirty="0" sz="750" spc="55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750" spc="-25">
                <a:solidFill>
                  <a:srgbClr val="0F0F0F"/>
                </a:solidFill>
                <a:latin typeface="Calibri"/>
                <a:cs typeface="Calibri"/>
              </a:rPr>
              <a:t>on</a:t>
            </a:r>
            <a:r>
              <a:rPr dirty="0" sz="750" spc="50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750" spc="-20">
                <a:solidFill>
                  <a:srgbClr val="0C0C0C"/>
                </a:solidFill>
                <a:latin typeface="Calibri"/>
                <a:cs typeface="Calibri"/>
              </a:rPr>
              <a:t>their</a:t>
            </a:r>
            <a:r>
              <a:rPr dirty="0" sz="750" spc="-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750" spc="-20">
                <a:solidFill>
                  <a:srgbClr val="0C0C0C"/>
                </a:solidFill>
                <a:latin typeface="Calibri"/>
                <a:cs typeface="Calibri"/>
              </a:rPr>
              <a:t>properties,</a:t>
            </a:r>
            <a:r>
              <a:rPr dirty="0" sz="750" spc="4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Calibri"/>
                <a:cs typeface="Calibri"/>
              </a:rPr>
              <a:t>such </a:t>
            </a:r>
            <a:r>
              <a:rPr dirty="0" sz="750" spc="-25">
                <a:solidFill>
                  <a:srgbClr val="0C0C0C"/>
                </a:solidFill>
                <a:latin typeface="Calibri"/>
                <a:cs typeface="Calibri"/>
              </a:rPr>
              <a:t>as</a:t>
            </a:r>
            <a:r>
              <a:rPr dirty="0" sz="750" spc="50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Calibri"/>
                <a:cs typeface="Calibri"/>
              </a:rPr>
              <a:t>duration, </a:t>
            </a:r>
            <a:r>
              <a:rPr dirty="0" sz="750" spc="-20">
                <a:solidFill>
                  <a:srgbClr val="0E0E0E"/>
                </a:solidFill>
                <a:latin typeface="Calibri"/>
                <a:cs typeface="Calibri"/>
              </a:rPr>
              <a:t>frequency,</a:t>
            </a:r>
            <a:r>
              <a:rPr dirty="0" sz="750" spc="5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750" spc="-25">
                <a:solidFill>
                  <a:srgbClr val="0E0E0E"/>
                </a:solidFill>
                <a:latin typeface="Calibri"/>
                <a:cs typeface="Calibri"/>
              </a:rPr>
              <a:t>and</a:t>
            </a:r>
            <a:r>
              <a:rPr dirty="0" sz="750" spc="50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750" spc="-25">
                <a:solidFill>
                  <a:srgbClr val="0C0C0C"/>
                </a:solidFill>
                <a:latin typeface="Calibri"/>
                <a:cs typeface="Calibri"/>
              </a:rPr>
              <a:t>intensity,</a:t>
            </a:r>
            <a:r>
              <a:rPr dirty="0" sz="750" spc="1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750" spc="-20">
                <a:solidFill>
                  <a:srgbClr val="0C0C0C"/>
                </a:solidFill>
                <a:latin typeface="Calibri"/>
                <a:cs typeface="Calibri"/>
              </a:rPr>
              <a:t>ultimately</a:t>
            </a:r>
            <a:r>
              <a:rPr dirty="0" sz="750">
                <a:solidFill>
                  <a:srgbClr val="0C0C0C"/>
                </a:solidFill>
                <a:latin typeface="Calibri"/>
                <a:cs typeface="Calibri"/>
              </a:rPr>
              <a:t> leading</a:t>
            </a:r>
            <a:r>
              <a:rPr dirty="0" sz="750" spc="5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750" spc="-25">
                <a:solidFill>
                  <a:srgbClr val="0C0C0C"/>
                </a:solidFill>
                <a:latin typeface="Calibri"/>
                <a:cs typeface="Calibri"/>
              </a:rPr>
              <a:t>to</a:t>
            </a:r>
            <a:r>
              <a:rPr dirty="0" sz="750" spc="50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750">
                <a:solidFill>
                  <a:srgbClr val="0C0C0C"/>
                </a:solidFill>
                <a:latin typeface="Calibri"/>
                <a:cs typeface="Calibri"/>
              </a:rPr>
              <a:t>a</a:t>
            </a:r>
            <a:r>
              <a:rPr dirty="0" sz="750" spc="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Calibri"/>
                <a:cs typeface="Calibri"/>
              </a:rPr>
              <a:t>better</a:t>
            </a:r>
            <a:r>
              <a:rPr dirty="0" sz="750" spc="-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750" spc="-20">
                <a:solidFill>
                  <a:srgbClr val="0E0E0E"/>
                </a:solidFill>
                <a:latin typeface="Calibri"/>
                <a:cs typeface="Calibri"/>
              </a:rPr>
              <a:t>understanding</a:t>
            </a:r>
            <a:r>
              <a:rPr dirty="0" sz="750" spc="105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750">
                <a:solidFill>
                  <a:srgbClr val="0F0F0F"/>
                </a:solidFill>
                <a:latin typeface="Calibri"/>
                <a:cs typeface="Calibri"/>
              </a:rPr>
              <a:t>of</a:t>
            </a:r>
            <a:r>
              <a:rPr dirty="0" sz="750" spc="2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750" spc="-25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dirty="0" sz="750" spc="50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Calibri"/>
                <a:cs typeface="Calibri"/>
              </a:rPr>
              <a:t>phenomena.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986213" y="1250950"/>
            <a:ext cx="121158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620">
              <a:lnSpc>
                <a:spcPct val="112999"/>
              </a:lnSpc>
              <a:spcBef>
                <a:spcPts val="100"/>
              </a:spcBef>
            </a:pP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Identifying</a:t>
            </a:r>
            <a:r>
              <a:rPr dirty="0" sz="1150" spc="-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C0C0C"/>
                </a:solidFill>
                <a:latin typeface="Times New Roman"/>
                <a:cs typeface="Times New Roman"/>
              </a:rPr>
              <a:t>Repeater </a:t>
            </a:r>
            <a:r>
              <a:rPr dirty="0" sz="1150" spc="-10">
                <a:solidFill>
                  <a:srgbClr val="0E0E0E"/>
                </a:solidFill>
                <a:latin typeface="Times New Roman"/>
                <a:cs typeface="Times New Roman"/>
              </a:rPr>
              <a:t>Candidates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987769" y="2735833"/>
            <a:ext cx="1197610" cy="120650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2540">
              <a:lnSpc>
                <a:spcPct val="103699"/>
              </a:lnSpc>
              <a:spcBef>
                <a:spcPts val="65"/>
              </a:spcBef>
            </a:pPr>
            <a:r>
              <a:rPr dirty="0" sz="750" spc="-50">
                <a:solidFill>
                  <a:srgbClr val="0F0F0F"/>
                </a:solidFill>
                <a:latin typeface="Arial MT"/>
                <a:cs typeface="Arial MT"/>
              </a:rPr>
              <a:t>By </a:t>
            </a:r>
            <a:r>
              <a:rPr dirty="0" sz="750" spc="-40">
                <a:solidFill>
                  <a:srgbClr val="0E0E0E"/>
                </a:solidFill>
                <a:latin typeface="Arial MT"/>
                <a:cs typeface="Arial MT"/>
              </a:rPr>
              <a:t>analyzing</a:t>
            </a:r>
            <a:r>
              <a:rPr dirty="0" sz="750" spc="4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3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750" spc="-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clusters </a:t>
            </a:r>
            <a:r>
              <a:rPr dirty="0" sz="750" spc="-25">
                <a:solidFill>
                  <a:srgbClr val="0E0E0E"/>
                </a:solidFill>
                <a:latin typeface="Arial MT"/>
                <a:cs typeface="Arial MT"/>
              </a:rPr>
              <a:t>identified</a:t>
            </a:r>
            <a:r>
              <a:rPr dirty="0" sz="750" spc="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through </a:t>
            </a:r>
            <a:r>
              <a:rPr dirty="0" sz="750" spc="-45">
                <a:solidFill>
                  <a:srgbClr val="0A0A0A"/>
                </a:solidFill>
                <a:latin typeface="Arial MT"/>
                <a:cs typeface="Arial MT"/>
              </a:rPr>
              <a:t>unsupervised</a:t>
            </a:r>
            <a:r>
              <a:rPr dirty="0" sz="750" spc="1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learning, </a:t>
            </a:r>
            <a:r>
              <a:rPr dirty="0" sz="750" spc="-50">
                <a:solidFill>
                  <a:srgbClr val="0C0C0C"/>
                </a:solidFill>
                <a:latin typeface="Arial MT"/>
                <a:cs typeface="Arial MT"/>
              </a:rPr>
              <a:t>researchers</a:t>
            </a:r>
            <a:r>
              <a:rPr dirty="0" sz="750" spc="5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50">
                <a:solidFill>
                  <a:srgbClr val="0F0F0F"/>
                </a:solidFill>
                <a:latin typeface="Arial MT"/>
                <a:cs typeface="Arial MT"/>
              </a:rPr>
              <a:t>con</a:t>
            </a:r>
            <a:r>
              <a:rPr dirty="0" sz="75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pinpoint </a:t>
            </a:r>
            <a:r>
              <a:rPr dirty="0" sz="750" spc="-40">
                <a:solidFill>
                  <a:srgbClr val="0C0C0C"/>
                </a:solidFill>
                <a:latin typeface="Arial MT"/>
                <a:cs typeface="Arial MT"/>
              </a:rPr>
              <a:t>credible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30">
                <a:solidFill>
                  <a:srgbClr val="0C0C0C"/>
                </a:solidFill>
                <a:latin typeface="Arial MT"/>
                <a:cs typeface="Arial MT"/>
              </a:rPr>
              <a:t>repeater</a:t>
            </a:r>
            <a:r>
              <a:rPr dirty="0" sz="750" spc="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A0A0A"/>
                </a:solidFill>
                <a:latin typeface="Arial MT"/>
                <a:cs typeface="Arial MT"/>
              </a:rPr>
              <a:t>candidates </a:t>
            </a:r>
            <a:r>
              <a:rPr dirty="0" sz="750" spc="-35">
                <a:solidFill>
                  <a:srgbClr val="0E0E0E"/>
                </a:solidFill>
                <a:latin typeface="Arial MT"/>
                <a:cs typeface="Arial MT"/>
              </a:rPr>
              <a:t>among</a:t>
            </a:r>
            <a:r>
              <a:rPr dirty="0" sz="750" spc="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F0F0F"/>
                </a:solidFill>
                <a:latin typeface="Arial MT"/>
                <a:cs typeface="Arial MT"/>
              </a:rPr>
              <a:t>the </a:t>
            </a:r>
            <a:r>
              <a:rPr dirty="0" sz="750" spc="-100">
                <a:solidFill>
                  <a:srgbClr val="0C0C0C"/>
                </a:solidFill>
                <a:latin typeface="Arial MT"/>
                <a:cs typeface="Arial MT"/>
              </a:rPr>
              <a:t>FRBs.</a:t>
            </a:r>
            <a:r>
              <a:rPr dirty="0" sz="750" spc="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0E0E0E"/>
                </a:solidFill>
                <a:latin typeface="Arial MT"/>
                <a:cs typeface="Arial MT"/>
              </a:rPr>
              <a:t>This</a:t>
            </a:r>
            <a:r>
              <a:rPr dirty="0" sz="75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E0E0E"/>
                </a:solidFill>
                <a:latin typeface="Arial MT"/>
                <a:cs typeface="Arial MT"/>
              </a:rPr>
              <a:t>identification</a:t>
            </a:r>
            <a:r>
              <a:rPr dirty="0" sz="750" spc="-4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E0E0E"/>
                </a:solidFill>
                <a:latin typeface="Arial MT"/>
                <a:cs typeface="Arial MT"/>
              </a:rPr>
              <a:t>is</a:t>
            </a:r>
            <a:r>
              <a:rPr dirty="0" sz="750" spc="-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30">
                <a:solidFill>
                  <a:srgbClr val="0C0C0C"/>
                </a:solidFill>
                <a:latin typeface="Arial MT"/>
                <a:cs typeface="Arial MT"/>
              </a:rPr>
              <a:t>crucial</a:t>
            </a:r>
            <a:r>
              <a:rPr dirty="0" sz="750" spc="5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F0F0F"/>
                </a:solidFill>
                <a:latin typeface="Arial MT"/>
                <a:cs typeface="Arial MT"/>
              </a:rPr>
              <a:t>for</a:t>
            </a:r>
            <a:r>
              <a:rPr dirty="0" sz="75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35">
                <a:solidFill>
                  <a:srgbClr val="0C0C0C"/>
                </a:solidFill>
                <a:latin typeface="Arial MT"/>
                <a:cs typeface="Arial MT"/>
              </a:rPr>
              <a:t>advancing</a:t>
            </a:r>
            <a:r>
              <a:rPr dirty="0" sz="750" spc="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30">
                <a:solidFill>
                  <a:srgbClr val="0F0F0F"/>
                </a:solidFill>
                <a:latin typeface="Arial MT"/>
                <a:cs typeface="Arial MT"/>
              </a:rPr>
              <a:t>our</a:t>
            </a:r>
            <a:r>
              <a:rPr dirty="0" sz="75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knowledge </a:t>
            </a:r>
            <a:r>
              <a:rPr dirty="0" sz="750" spc="-35">
                <a:solidFill>
                  <a:srgbClr val="0E0E0E"/>
                </a:solidFill>
                <a:latin typeface="Arial MT"/>
                <a:cs typeface="Arial MT"/>
              </a:rPr>
              <a:t>regarding</a:t>
            </a:r>
            <a:r>
              <a:rPr dirty="0" sz="75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750" spc="-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F0F0F"/>
                </a:solidFill>
                <a:latin typeface="Arial MT"/>
                <a:cs typeface="Arial MT"/>
              </a:rPr>
              <a:t>origins</a:t>
            </a:r>
            <a:r>
              <a:rPr dirty="0" sz="75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E0E0E"/>
                </a:solidFill>
                <a:latin typeface="Arial MT"/>
                <a:cs typeface="Arial MT"/>
              </a:rPr>
              <a:t>and</a:t>
            </a:r>
            <a:r>
              <a:rPr dirty="0" sz="75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30">
                <a:solidFill>
                  <a:srgbClr val="080808"/>
                </a:solidFill>
                <a:latin typeface="Arial MT"/>
                <a:cs typeface="Arial MT"/>
              </a:rPr>
              <a:t>characteristics</a:t>
            </a:r>
            <a:r>
              <a:rPr dirty="0" sz="750" spc="-3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of</a:t>
            </a:r>
            <a:r>
              <a:rPr dirty="0" sz="750" spc="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45">
                <a:solidFill>
                  <a:srgbClr val="0C0C0C"/>
                </a:solidFill>
                <a:latin typeface="Arial MT"/>
                <a:cs typeface="Arial MT"/>
              </a:rPr>
              <a:t>these</a:t>
            </a:r>
            <a:r>
              <a:rPr dirty="0" sz="750" spc="-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35">
                <a:solidFill>
                  <a:srgbClr val="0C0C0C"/>
                </a:solidFill>
                <a:latin typeface="Arial MT"/>
                <a:cs typeface="Arial MT"/>
              </a:rPr>
              <a:t>bursts.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521447" y="1250950"/>
            <a:ext cx="114935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12999"/>
              </a:lnSpc>
              <a:spcBef>
                <a:spcPts val="100"/>
              </a:spcBef>
            </a:pP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Enhancing</a:t>
            </a:r>
            <a:r>
              <a:rPr dirty="0" sz="1150" spc="-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30">
                <a:solidFill>
                  <a:srgbClr val="0F0F0F"/>
                </a:solidFill>
                <a:latin typeface="Times New Roman"/>
                <a:cs typeface="Times New Roman"/>
              </a:rPr>
              <a:t>Physical </a:t>
            </a:r>
            <a:r>
              <a:rPr dirty="0" sz="1150" spc="-10">
                <a:solidFill>
                  <a:srgbClr val="0C0C0C"/>
                </a:solidFill>
                <a:latin typeface="Times New Roman"/>
                <a:cs typeface="Times New Roman"/>
              </a:rPr>
              <a:t>Understanding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519792" y="2735833"/>
            <a:ext cx="1210945" cy="132588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3810">
              <a:lnSpc>
                <a:spcPct val="103699"/>
              </a:lnSpc>
              <a:spcBef>
                <a:spcPts val="65"/>
              </a:spcBef>
            </a:pPr>
            <a:r>
              <a:rPr dirty="0" sz="750" spc="-35">
                <a:solidFill>
                  <a:srgbClr val="111111"/>
                </a:solidFill>
                <a:latin typeface="Calibri"/>
                <a:cs typeface="Calibri"/>
              </a:rPr>
              <a:t>The</a:t>
            </a:r>
            <a:r>
              <a:rPr dirty="0" sz="750" spc="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Calibri"/>
                <a:cs typeface="Calibri"/>
              </a:rPr>
              <a:t>ultimate</a:t>
            </a:r>
            <a:r>
              <a:rPr dirty="0" sz="750" spc="1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750">
                <a:solidFill>
                  <a:srgbClr val="0E0E0E"/>
                </a:solidFill>
                <a:latin typeface="Calibri"/>
                <a:cs typeface="Calibri"/>
              </a:rPr>
              <a:t>goal</a:t>
            </a:r>
            <a:r>
              <a:rPr dirty="0" sz="750" spc="-2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750" spc="-25">
                <a:solidFill>
                  <a:srgbClr val="0F0F0F"/>
                </a:solidFill>
                <a:latin typeface="Calibri"/>
                <a:cs typeface="Calibri"/>
              </a:rPr>
              <a:t>of</a:t>
            </a:r>
            <a:r>
              <a:rPr dirty="0" sz="750" spc="50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Times New Roman"/>
                <a:cs typeface="Times New Roman"/>
              </a:rPr>
              <a:t>employing</a:t>
            </a:r>
            <a:r>
              <a:rPr dirty="0" sz="7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Times New Roman"/>
                <a:cs typeface="Times New Roman"/>
              </a:rPr>
              <a:t>unsupervised</a:t>
            </a:r>
            <a:r>
              <a:rPr dirty="0" sz="75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C0C0C"/>
                </a:solidFill>
                <a:latin typeface="Times New Roman"/>
                <a:cs typeface="Times New Roman"/>
              </a:rPr>
              <a:t>machine</a:t>
            </a:r>
            <a:r>
              <a:rPr dirty="0" sz="750" spc="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Times New Roman"/>
                <a:cs typeface="Times New Roman"/>
              </a:rPr>
              <a:t>learning</a:t>
            </a:r>
            <a:r>
              <a:rPr dirty="0" sz="750" spc="-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E0E0E"/>
                </a:solidFill>
                <a:latin typeface="Times New Roman"/>
                <a:cs typeface="Times New Roman"/>
              </a:rPr>
              <a:t>techniques</a:t>
            </a:r>
            <a:r>
              <a:rPr dirty="0" sz="750" spc="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50" spc="-25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75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 spc="-8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7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E0E0E"/>
                </a:solidFill>
                <a:latin typeface="Times New Roman"/>
                <a:cs typeface="Times New Roman"/>
              </a:rPr>
              <a:t>enhance</a:t>
            </a:r>
            <a:r>
              <a:rPr dirty="0" sz="750" spc="2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F0F0F"/>
                </a:solidFill>
                <a:latin typeface="Times New Roman"/>
                <a:cs typeface="Times New Roman"/>
              </a:rPr>
              <a:t>our</a:t>
            </a:r>
            <a:r>
              <a:rPr dirty="0" sz="7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Times New Roman"/>
                <a:cs typeface="Times New Roman"/>
              </a:rPr>
              <a:t>understanding</a:t>
            </a:r>
            <a:r>
              <a:rPr dirty="0" sz="75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7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E0E0E"/>
                </a:solidFill>
                <a:latin typeface="Times New Roman"/>
                <a:cs typeface="Times New Roman"/>
              </a:rPr>
              <a:t>the </a:t>
            </a:r>
            <a:r>
              <a:rPr dirty="0" sz="750" spc="-20">
                <a:solidFill>
                  <a:srgbClr val="0C0C0C"/>
                </a:solidFill>
                <a:latin typeface="Times New Roman"/>
                <a:cs typeface="Times New Roman"/>
              </a:rPr>
              <a:t>physical</a:t>
            </a:r>
            <a:r>
              <a:rPr dirty="0" sz="750" spc="6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C0C0C"/>
                </a:solidFill>
                <a:latin typeface="Times New Roman"/>
                <a:cs typeface="Times New Roman"/>
              </a:rPr>
              <a:t>properties</a:t>
            </a:r>
            <a:r>
              <a:rPr dirty="0" sz="750" spc="-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 spc="-25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75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 spc="-40">
                <a:solidFill>
                  <a:srgbClr val="0F0F0F"/>
                </a:solidFill>
                <a:latin typeface="Times New Roman"/>
                <a:cs typeface="Times New Roman"/>
              </a:rPr>
              <a:t>FRBs.</a:t>
            </a:r>
            <a:r>
              <a:rPr dirty="0" sz="7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 spc="-85">
                <a:solidFill>
                  <a:srgbClr val="0C0C0C"/>
                </a:solidFill>
                <a:latin typeface="Times New Roman"/>
                <a:cs typeface="Times New Roman"/>
              </a:rPr>
              <a:t>By</a:t>
            </a:r>
            <a:r>
              <a:rPr dirty="0" sz="750" spc="-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C0C0C"/>
                </a:solidFill>
                <a:latin typeface="Times New Roman"/>
                <a:cs typeface="Times New Roman"/>
              </a:rPr>
              <a:t>categorizing</a:t>
            </a:r>
            <a:r>
              <a:rPr dirty="0" sz="750" spc="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Times New Roman"/>
                <a:cs typeface="Times New Roman"/>
              </a:rPr>
              <a:t>these</a:t>
            </a:r>
            <a:r>
              <a:rPr dirty="0" sz="75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F0F0F"/>
                </a:solidFill>
                <a:latin typeface="Times New Roman"/>
                <a:cs typeface="Times New Roman"/>
              </a:rPr>
              <a:t>bursts</a:t>
            </a:r>
            <a:r>
              <a:rPr dirty="0" sz="7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Times New Roman"/>
                <a:cs typeface="Times New Roman"/>
              </a:rPr>
              <a:t>more</a:t>
            </a:r>
            <a:r>
              <a:rPr dirty="0" sz="750" spc="-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Times New Roman"/>
                <a:cs typeface="Times New Roman"/>
              </a:rPr>
              <a:t>efficiently,</a:t>
            </a:r>
            <a:r>
              <a:rPr dirty="0" sz="75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F0F0F"/>
                </a:solidFill>
                <a:latin typeface="Times New Roman"/>
                <a:cs typeface="Times New Roman"/>
              </a:rPr>
              <a:t>scientists</a:t>
            </a:r>
            <a:r>
              <a:rPr dirty="0" sz="750" spc="-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111111"/>
                </a:solidFill>
                <a:latin typeface="Times New Roman"/>
                <a:cs typeface="Times New Roman"/>
              </a:rPr>
              <a:t>con</a:t>
            </a:r>
            <a:r>
              <a:rPr dirty="0" sz="75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Times New Roman"/>
                <a:cs typeface="Times New Roman"/>
              </a:rPr>
              <a:t>explore</a:t>
            </a:r>
            <a:r>
              <a:rPr dirty="0" sz="7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111111"/>
                </a:solidFill>
                <a:latin typeface="Times New Roman"/>
                <a:cs typeface="Times New Roman"/>
              </a:rPr>
              <a:t>their</a:t>
            </a:r>
            <a:r>
              <a:rPr dirty="0" sz="750" spc="5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750" spc="-20">
                <a:solidFill>
                  <a:srgbClr val="0F0F0F"/>
                </a:solidFill>
                <a:latin typeface="Times New Roman"/>
                <a:cs typeface="Times New Roman"/>
              </a:rPr>
              <a:t>underlying</a:t>
            </a:r>
            <a:r>
              <a:rPr dirty="0" sz="7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C0C0C"/>
                </a:solidFill>
                <a:latin typeface="Times New Roman"/>
                <a:cs typeface="Times New Roman"/>
              </a:rPr>
              <a:t>mechanisms </a:t>
            </a:r>
            <a:r>
              <a:rPr dirty="0" sz="750" spc="-25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75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Times New Roman"/>
                <a:cs typeface="Times New Roman"/>
              </a:rPr>
              <a:t>potentially</a:t>
            </a:r>
            <a:r>
              <a:rPr dirty="0" sz="7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Times New Roman"/>
                <a:cs typeface="Times New Roman"/>
              </a:rPr>
              <a:t>uncover</a:t>
            </a:r>
            <a:r>
              <a:rPr dirty="0" sz="7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 spc="-25">
                <a:solidFill>
                  <a:srgbClr val="0C0C0C"/>
                </a:solidFill>
                <a:latin typeface="Times New Roman"/>
                <a:cs typeface="Times New Roman"/>
              </a:rPr>
              <a:t>new</a:t>
            </a:r>
            <a:r>
              <a:rPr dirty="0" sz="750" spc="5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Times New Roman"/>
                <a:cs typeface="Times New Roman"/>
              </a:rPr>
              <a:t>ostrophysical</a:t>
            </a:r>
            <a:r>
              <a:rPr dirty="0" sz="750" spc="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A0A0A"/>
                </a:solidFill>
                <a:latin typeface="Times New Roman"/>
                <a:cs typeface="Times New Roman"/>
              </a:rPr>
              <a:t>phenomena.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380" y="1301496"/>
            <a:ext cx="1356191" cy="111556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88951" y="1301496"/>
            <a:ext cx="1356191" cy="111556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9238" y="1301496"/>
            <a:ext cx="1356191" cy="111556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69523" y="1301496"/>
            <a:ext cx="1356191" cy="1115567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420571" y="2817876"/>
            <a:ext cx="1356360" cy="0"/>
          </a:xfrm>
          <a:custGeom>
            <a:avLst/>
            <a:gdLst/>
            <a:ahLst/>
            <a:cxnLst/>
            <a:rect l="l" t="t" r="r" b="b"/>
            <a:pathLst>
              <a:path w="1356360" h="0">
                <a:moveTo>
                  <a:pt x="0" y="0"/>
                </a:moveTo>
                <a:lnTo>
                  <a:pt x="1356190" y="0"/>
                </a:lnTo>
              </a:path>
            </a:pathLst>
          </a:custGeom>
          <a:ln w="9144">
            <a:solidFill>
              <a:srgbClr val="676B7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1883429" y="1292352"/>
            <a:ext cx="1402080" cy="1140460"/>
            <a:chOff x="1883429" y="1292352"/>
            <a:chExt cx="1402080" cy="1140460"/>
          </a:xfrm>
        </p:grpSpPr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83429" y="1292352"/>
              <a:ext cx="1371428" cy="113995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83429" y="1292352"/>
              <a:ext cx="1401904" cy="1139952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396292" y="367284"/>
            <a:ext cx="167703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4F2AD3"/>
                </a:solidFill>
                <a:latin typeface="Calibri"/>
                <a:cs typeface="Calibri"/>
              </a:rPr>
              <a:t>F</a:t>
            </a:r>
            <a:r>
              <a:rPr dirty="0" sz="800" spc="180">
                <a:solidFill>
                  <a:srgbClr val="4F2AD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02DC8"/>
                </a:solidFill>
                <a:latin typeface="Calibri"/>
                <a:cs typeface="Calibri"/>
              </a:rPr>
              <a:t>A</a:t>
            </a:r>
            <a:r>
              <a:rPr dirty="0" sz="800" spc="260">
                <a:solidFill>
                  <a:srgbClr val="502DC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F28CA"/>
                </a:solidFill>
                <a:latin typeface="Calibri"/>
                <a:cs typeface="Calibri"/>
              </a:rPr>
              <a:t>S</a:t>
            </a:r>
            <a:r>
              <a:rPr dirty="0" sz="800" spc="245">
                <a:solidFill>
                  <a:srgbClr val="4F28C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F28CC"/>
                </a:solidFill>
                <a:latin typeface="Calibri"/>
                <a:cs typeface="Calibri"/>
              </a:rPr>
              <a:t>T</a:t>
            </a:r>
            <a:r>
              <a:rPr dirty="0" sz="800" spc="265">
                <a:solidFill>
                  <a:srgbClr val="4F28CC"/>
                </a:solidFill>
                <a:latin typeface="Calibri"/>
                <a:cs typeface="Calibri"/>
              </a:rPr>
              <a:t>  </a:t>
            </a:r>
            <a:r>
              <a:rPr dirty="0" sz="800">
                <a:solidFill>
                  <a:srgbClr val="5031BF"/>
                </a:solidFill>
                <a:latin typeface="Calibri"/>
                <a:cs typeface="Calibri"/>
              </a:rPr>
              <a:t>R</a:t>
            </a:r>
            <a:r>
              <a:rPr dirty="0" sz="800" spc="215">
                <a:solidFill>
                  <a:srgbClr val="5031BF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02BCA"/>
                </a:solidFill>
                <a:latin typeface="Calibri"/>
                <a:cs typeface="Calibri"/>
              </a:rPr>
              <a:t>A</a:t>
            </a:r>
            <a:r>
              <a:rPr dirty="0" sz="800" spc="220">
                <a:solidFill>
                  <a:srgbClr val="502BCA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F2FBC"/>
                </a:solidFill>
                <a:latin typeface="Calibri"/>
                <a:cs typeface="Calibri"/>
              </a:rPr>
              <a:t>D</a:t>
            </a:r>
            <a:r>
              <a:rPr dirty="0" sz="800" spc="145">
                <a:solidFill>
                  <a:srgbClr val="4F2FBC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D31BC"/>
                </a:solidFill>
                <a:latin typeface="Calibri"/>
                <a:cs typeface="Calibri"/>
              </a:rPr>
              <a:t>I</a:t>
            </a:r>
            <a:r>
              <a:rPr dirty="0" sz="800" spc="290">
                <a:solidFill>
                  <a:srgbClr val="4D31BC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4B28BA"/>
                </a:solidFill>
                <a:latin typeface="Calibri"/>
                <a:cs typeface="Calibri"/>
              </a:rPr>
              <a:t>O</a:t>
            </a:r>
            <a:r>
              <a:rPr dirty="0" sz="800" spc="275">
                <a:solidFill>
                  <a:srgbClr val="4B28BA"/>
                </a:solidFill>
                <a:latin typeface="Calibri"/>
                <a:cs typeface="Calibri"/>
              </a:rPr>
              <a:t>  </a:t>
            </a:r>
            <a:r>
              <a:rPr dirty="0" sz="800">
                <a:solidFill>
                  <a:srgbClr val="502FC3"/>
                </a:solidFill>
                <a:latin typeface="Calibri"/>
                <a:cs typeface="Calibri"/>
              </a:rPr>
              <a:t>B</a:t>
            </a:r>
            <a:r>
              <a:rPr dirty="0" sz="800" spc="240">
                <a:solidFill>
                  <a:srgbClr val="502FC3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034C6"/>
                </a:solidFill>
                <a:latin typeface="Calibri"/>
                <a:cs typeface="Calibri"/>
              </a:rPr>
              <a:t>U</a:t>
            </a:r>
            <a:r>
              <a:rPr dirty="0" sz="800" spc="195">
                <a:solidFill>
                  <a:srgbClr val="5034C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B3FB5"/>
                </a:solidFill>
                <a:latin typeface="Calibri"/>
                <a:cs typeface="Calibri"/>
              </a:rPr>
              <a:t>R</a:t>
            </a:r>
            <a:r>
              <a:rPr dirty="0" sz="800" spc="225">
                <a:solidFill>
                  <a:srgbClr val="5B3FB5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5B3DC1"/>
                </a:solidFill>
                <a:latin typeface="Calibri"/>
                <a:cs typeface="Calibri"/>
              </a:rPr>
              <a:t>S</a:t>
            </a:r>
            <a:r>
              <a:rPr dirty="0" sz="800" spc="229">
                <a:solidFill>
                  <a:srgbClr val="5B3DC1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AC97F9"/>
                </a:solidFill>
                <a:latin typeface="Calibri"/>
                <a:cs typeface="Calibri"/>
              </a:rPr>
              <a:t>T</a:t>
            </a:r>
            <a:r>
              <a:rPr dirty="0" sz="800" spc="204">
                <a:solidFill>
                  <a:srgbClr val="AC97F9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644FB3"/>
                </a:solidFill>
                <a:latin typeface="Calibri"/>
                <a:cs typeface="Calibri"/>
              </a:rPr>
              <a:t>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88694" y="373019"/>
            <a:ext cx="4686300" cy="681990"/>
          </a:xfrm>
          <a:prstGeom prst="rect"/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2150" spc="-10">
                <a:solidFill>
                  <a:srgbClr val="0F0F0F"/>
                </a:solidFill>
                <a:latin typeface="Cambria"/>
                <a:cs typeface="Cambria"/>
              </a:rPr>
              <a:t>Background</a:t>
            </a:r>
            <a:r>
              <a:rPr dirty="0" sz="2150" spc="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2150">
                <a:solidFill>
                  <a:srgbClr val="111111"/>
                </a:solidFill>
                <a:latin typeface="Cambria"/>
                <a:cs typeface="Cambria"/>
              </a:rPr>
              <a:t>on</a:t>
            </a:r>
            <a:r>
              <a:rPr dirty="0" sz="2150" spc="-12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2150">
                <a:solidFill>
                  <a:srgbClr val="0F0F0F"/>
                </a:solidFill>
                <a:latin typeface="Cambria"/>
                <a:cs typeface="Cambria"/>
              </a:rPr>
              <a:t>Fast</a:t>
            </a:r>
            <a:r>
              <a:rPr dirty="0" sz="2150" spc="-3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2150" spc="-20">
                <a:solidFill>
                  <a:srgbClr val="0F0F0F"/>
                </a:solidFill>
                <a:latin typeface="Cambria"/>
                <a:cs typeface="Cambria"/>
              </a:rPr>
              <a:t>Radio</a:t>
            </a:r>
            <a:r>
              <a:rPr dirty="0" sz="2150" spc="-9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2150" spc="-10">
                <a:solidFill>
                  <a:srgbClr val="0F0F0F"/>
                </a:solidFill>
                <a:latin typeface="Cambria"/>
                <a:cs typeface="Cambria"/>
              </a:rPr>
              <a:t>Bursts</a:t>
            </a:r>
            <a:r>
              <a:rPr dirty="0" sz="2150" spc="-8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2150" spc="-10">
                <a:solidFill>
                  <a:srgbClr val="0F0F0F"/>
                </a:solidFill>
                <a:latin typeface="Cambria"/>
                <a:cs typeface="Cambria"/>
              </a:rPr>
              <a:t>(FRBs)</a:t>
            </a:r>
            <a:endParaRPr sz="2150">
              <a:latin typeface="Cambria"/>
              <a:cs typeface="Cambria"/>
            </a:endParaRPr>
          </a:p>
          <a:p>
            <a:pPr marL="19050">
              <a:lnSpc>
                <a:spcPct val="100000"/>
              </a:lnSpc>
              <a:spcBef>
                <a:spcPts val="440"/>
              </a:spcBef>
            </a:pPr>
            <a:r>
              <a:rPr dirty="0" sz="950">
                <a:solidFill>
                  <a:srgbClr val="6E6E6E"/>
                </a:solidFill>
                <a:latin typeface="Arial MT"/>
                <a:cs typeface="Arial MT"/>
              </a:rPr>
              <a:t>Understanding</a:t>
            </a:r>
            <a:r>
              <a:rPr dirty="0" sz="950" spc="80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AEAEAE"/>
                </a:solidFill>
                <a:latin typeface="Arial MT"/>
                <a:cs typeface="Arial MT"/>
              </a:rPr>
              <a:t>the</a:t>
            </a:r>
            <a:r>
              <a:rPr dirty="0" sz="950" spc="-30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E7E7E"/>
                </a:solidFill>
                <a:latin typeface="Arial MT"/>
                <a:cs typeface="Arial MT"/>
              </a:rPr>
              <a:t>Origins</a:t>
            </a:r>
            <a:r>
              <a:rPr dirty="0" sz="950" spc="-15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76E7C"/>
                </a:solidFill>
                <a:latin typeface="Arial MT"/>
                <a:cs typeface="Arial MT"/>
              </a:rPr>
              <a:t>and</a:t>
            </a:r>
            <a:r>
              <a:rPr dirty="0" sz="950" spc="-35">
                <a:solidFill>
                  <a:srgbClr val="676E7C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07070"/>
                </a:solidFill>
                <a:latin typeface="Arial MT"/>
                <a:cs typeface="Arial MT"/>
              </a:rPr>
              <a:t>Significance</a:t>
            </a:r>
            <a:r>
              <a:rPr dirty="0" sz="950" spc="50">
                <a:solidFill>
                  <a:srgbClr val="707070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D6D6D"/>
                </a:solidFill>
                <a:latin typeface="Arial MT"/>
                <a:cs typeface="Arial MT"/>
              </a:rPr>
              <a:t>of</a:t>
            </a:r>
            <a:r>
              <a:rPr dirty="0" sz="950" spc="45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47474"/>
                </a:solidFill>
                <a:latin typeface="Arial MT"/>
                <a:cs typeface="Arial MT"/>
              </a:rPr>
              <a:t>Fast</a:t>
            </a:r>
            <a:r>
              <a:rPr dirty="0" sz="950" spc="15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D6D6D"/>
                </a:solidFill>
                <a:latin typeface="Arial MT"/>
                <a:cs typeface="Arial MT"/>
              </a:rPr>
              <a:t>Radio</a:t>
            </a:r>
            <a:r>
              <a:rPr dirty="0" sz="950" spc="45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6D6D6D"/>
                </a:solidFill>
                <a:latin typeface="Arial MT"/>
                <a:cs typeface="Arial MT"/>
              </a:rPr>
              <a:t>Bursts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61616" y="2535935"/>
            <a:ext cx="12649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0025" algn="l"/>
              </a:tabLst>
            </a:pPr>
            <a:r>
              <a:rPr dirty="0" sz="1100" spc="-50">
                <a:solidFill>
                  <a:srgbClr val="4D26CD"/>
                </a:solidFill>
                <a:latin typeface="Times New Roman"/>
                <a:cs typeface="Times New Roman"/>
              </a:rPr>
              <a:t>l</a:t>
            </a:r>
            <a:r>
              <a:rPr dirty="0" sz="1100">
                <a:solidFill>
                  <a:srgbClr val="4D26CD"/>
                </a:solidFill>
                <a:latin typeface="Times New Roman"/>
                <a:cs typeface="Times New Roman"/>
              </a:rPr>
              <a:t>	</a:t>
            </a:r>
            <a:r>
              <a:rPr dirty="0" sz="1100">
                <a:solidFill>
                  <a:srgbClr val="0E0E0E"/>
                </a:solidFill>
                <a:latin typeface="Times New Roman"/>
                <a:cs typeface="Times New Roman"/>
              </a:rPr>
              <a:t>Definition</a:t>
            </a:r>
            <a:r>
              <a:rPr dirty="0" sz="1100" spc="-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0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-50">
                <a:solidFill>
                  <a:srgbClr val="0C0C0C"/>
                </a:solidFill>
                <a:latin typeface="Times New Roman"/>
                <a:cs typeface="Times New Roman"/>
              </a:rPr>
              <a:t>FRBs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95194" y="2912770"/>
            <a:ext cx="1359535" cy="95694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 indent="5080">
              <a:lnSpc>
                <a:spcPct val="103800"/>
              </a:lnSpc>
              <a:spcBef>
                <a:spcPts val="125"/>
              </a:spcBef>
            </a:pPr>
            <a:r>
              <a:rPr dirty="0" sz="600" spc="60">
                <a:solidFill>
                  <a:srgbClr val="0F0F0F"/>
                </a:solidFill>
                <a:latin typeface="Times New Roman"/>
                <a:cs typeface="Times New Roman"/>
              </a:rPr>
              <a:t>Fast</a:t>
            </a:r>
            <a:r>
              <a:rPr dirty="0" sz="60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600" spc="55">
                <a:solidFill>
                  <a:srgbClr val="0F0F0F"/>
                </a:solidFill>
                <a:latin typeface="Times New Roman"/>
                <a:cs typeface="Times New Roman"/>
              </a:rPr>
              <a:t>Radio</a:t>
            </a:r>
            <a:r>
              <a:rPr dirty="0" sz="60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600" spc="20">
                <a:solidFill>
                  <a:srgbClr val="0F0F0F"/>
                </a:solidFill>
                <a:latin typeface="Times New Roman"/>
                <a:cs typeface="Times New Roman"/>
              </a:rPr>
              <a:t>Bursts</a:t>
            </a:r>
            <a:r>
              <a:rPr dirty="0" sz="60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600" spc="20">
                <a:solidFill>
                  <a:srgbClr val="0F0F0F"/>
                </a:solidFill>
                <a:latin typeface="Times New Roman"/>
                <a:cs typeface="Times New Roman"/>
              </a:rPr>
              <a:t>(FRBs)</a:t>
            </a:r>
            <a:r>
              <a:rPr dirty="0" sz="60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600" spc="-25">
                <a:solidFill>
                  <a:srgbClr val="111111"/>
                </a:solidFill>
                <a:latin typeface="Times New Roman"/>
                <a:cs typeface="Times New Roman"/>
              </a:rPr>
              <a:t>are</a:t>
            </a:r>
            <a:r>
              <a:rPr dirty="0" sz="600" spc="5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E0E0E"/>
                </a:solidFill>
                <a:latin typeface="Times New Roman"/>
                <a:cs typeface="Times New Roman"/>
              </a:rPr>
              <a:t>extremely</a:t>
            </a:r>
            <a:r>
              <a:rPr dirty="0" sz="750" spc="4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50" spc="-20">
                <a:solidFill>
                  <a:srgbClr val="0F0F0F"/>
                </a:solidFill>
                <a:latin typeface="Times New Roman"/>
                <a:cs typeface="Times New Roman"/>
              </a:rPr>
              <a:t>brief</a:t>
            </a:r>
            <a:r>
              <a:rPr dirty="0" sz="7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111111"/>
                </a:solidFill>
                <a:latin typeface="Times New Roman"/>
                <a:cs typeface="Times New Roman"/>
              </a:rPr>
              <a:t>yet</a:t>
            </a:r>
            <a:r>
              <a:rPr dirty="0" sz="7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750" spc="-30">
                <a:solidFill>
                  <a:srgbClr val="0F0F0F"/>
                </a:solidFill>
                <a:latin typeface="Times New Roman"/>
                <a:cs typeface="Times New Roman"/>
              </a:rPr>
              <a:t>powerful</a:t>
            </a:r>
            <a:r>
              <a:rPr dirty="0" sz="7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E0E0E"/>
                </a:solidFill>
                <a:latin typeface="Times New Roman"/>
                <a:cs typeface="Times New Roman"/>
              </a:rPr>
              <a:t>bursts</a:t>
            </a:r>
            <a:r>
              <a:rPr dirty="0" sz="750" spc="50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80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20">
                <a:solidFill>
                  <a:srgbClr val="0F0F0F"/>
                </a:solidFill>
                <a:latin typeface="Times New Roman"/>
                <a:cs typeface="Times New Roman"/>
              </a:rPr>
              <a:t>radio</a:t>
            </a:r>
            <a:r>
              <a:rPr dirty="0" sz="800" spc="-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30">
                <a:solidFill>
                  <a:srgbClr val="0E0E0E"/>
                </a:solidFill>
                <a:latin typeface="Times New Roman"/>
                <a:cs typeface="Times New Roman"/>
              </a:rPr>
              <a:t>waves</a:t>
            </a:r>
            <a:r>
              <a:rPr dirty="0" sz="800" spc="-1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111111"/>
                </a:solidFill>
                <a:latin typeface="Times New Roman"/>
                <a:cs typeface="Times New Roman"/>
              </a:rPr>
              <a:t>thot</a:t>
            </a:r>
            <a:r>
              <a:rPr dirty="0" sz="800" spc="-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Times New Roman"/>
                <a:cs typeface="Times New Roman"/>
              </a:rPr>
              <a:t>typically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890"/>
              </a:lnSpc>
            </a:pPr>
            <a:r>
              <a:rPr dirty="0" sz="800" spc="-60">
                <a:solidFill>
                  <a:srgbClr val="0F0F0F"/>
                </a:solidFill>
                <a:latin typeface="Times New Roman"/>
                <a:cs typeface="Times New Roman"/>
              </a:rPr>
              <a:t>only</a:t>
            </a:r>
            <a:r>
              <a:rPr dirty="0" sz="80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131313"/>
                </a:solidFill>
                <a:latin typeface="Times New Roman"/>
                <a:cs typeface="Times New Roman"/>
              </a:rPr>
              <a:t>a</a:t>
            </a:r>
            <a:r>
              <a:rPr dirty="0" sz="800" spc="25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800" spc="-30">
                <a:solidFill>
                  <a:srgbClr val="131313"/>
                </a:solidFill>
                <a:latin typeface="Times New Roman"/>
                <a:cs typeface="Times New Roman"/>
              </a:rPr>
              <a:t>few</a:t>
            </a:r>
            <a:r>
              <a:rPr dirty="0" sz="800" spc="35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800" spc="-45">
                <a:solidFill>
                  <a:srgbClr val="0E0E0E"/>
                </a:solidFill>
                <a:latin typeface="Times New Roman"/>
                <a:cs typeface="Times New Roman"/>
              </a:rPr>
              <a:t>milliseconds.</a:t>
            </a:r>
            <a:r>
              <a:rPr dirty="0" sz="800" spc="1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Times New Roman"/>
                <a:cs typeface="Times New Roman"/>
              </a:rPr>
              <a:t>These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855"/>
              </a:lnSpc>
            </a:pPr>
            <a:r>
              <a:rPr dirty="0" sz="750">
                <a:solidFill>
                  <a:srgbClr val="0F0F0F"/>
                </a:solidFill>
                <a:latin typeface="Times New Roman"/>
                <a:cs typeface="Times New Roman"/>
              </a:rPr>
              <a:t>enigmatic</a:t>
            </a:r>
            <a:r>
              <a:rPr dirty="0" sz="7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Times New Roman"/>
                <a:cs typeface="Times New Roman"/>
              </a:rPr>
              <a:t>signals</a:t>
            </a:r>
            <a:r>
              <a:rPr dirty="0" sz="7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111111"/>
                </a:solidFill>
                <a:latin typeface="Times New Roman"/>
                <a:cs typeface="Times New Roman"/>
              </a:rPr>
              <a:t>ore</a:t>
            </a:r>
            <a:r>
              <a:rPr dirty="0" sz="75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F0F0F"/>
                </a:solidFill>
                <a:latin typeface="Times New Roman"/>
                <a:cs typeface="Times New Roman"/>
              </a:rPr>
              <a:t>thought</a:t>
            </a:r>
            <a:r>
              <a:rPr dirty="0" sz="7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 spc="-25">
                <a:solidFill>
                  <a:srgbClr val="1A1A1A"/>
                </a:solidFill>
                <a:latin typeface="Times New Roman"/>
                <a:cs typeface="Times New Roman"/>
              </a:rPr>
              <a:t>to</a:t>
            </a:r>
            <a:endParaRPr sz="750">
              <a:latin typeface="Times New Roman"/>
              <a:cs typeface="Times New Roman"/>
            </a:endParaRPr>
          </a:p>
          <a:p>
            <a:pPr marL="12700" marR="131445" indent="-635">
              <a:lnSpc>
                <a:spcPct val="98800"/>
              </a:lnSpc>
              <a:spcBef>
                <a:spcPts val="114"/>
              </a:spcBef>
            </a:pPr>
            <a:r>
              <a:rPr dirty="0" sz="800" spc="-20">
                <a:solidFill>
                  <a:srgbClr val="0E0E0E"/>
                </a:solidFill>
                <a:latin typeface="Times New Roman"/>
                <a:cs typeface="Times New Roman"/>
              </a:rPr>
              <a:t>originate</a:t>
            </a:r>
            <a:r>
              <a:rPr dirty="0" sz="800" spc="1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00" spc="-30">
                <a:solidFill>
                  <a:srgbClr val="0F0F0F"/>
                </a:solidFill>
                <a:latin typeface="Times New Roman"/>
                <a:cs typeface="Times New Roman"/>
              </a:rPr>
              <a:t>from</a:t>
            </a:r>
            <a:r>
              <a:rPr dirty="0" sz="80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20">
                <a:solidFill>
                  <a:srgbClr val="131313"/>
                </a:solidFill>
                <a:latin typeface="Times New Roman"/>
                <a:cs typeface="Times New Roman"/>
              </a:rPr>
              <a:t>distant</a:t>
            </a:r>
            <a:r>
              <a:rPr dirty="0" sz="800" spc="-3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Times New Roman"/>
                <a:cs typeface="Times New Roman"/>
              </a:rPr>
              <a:t>galaxies,</a:t>
            </a:r>
            <a:r>
              <a:rPr dirty="0" sz="80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35">
                <a:solidFill>
                  <a:srgbClr val="111111"/>
                </a:solidFill>
                <a:latin typeface="Times New Roman"/>
                <a:cs typeface="Times New Roman"/>
              </a:rPr>
              <a:t>making</a:t>
            </a:r>
            <a:r>
              <a:rPr dirty="0" sz="80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00" spc="-20">
                <a:solidFill>
                  <a:srgbClr val="111111"/>
                </a:solidFill>
                <a:latin typeface="Times New Roman"/>
                <a:cs typeface="Times New Roman"/>
              </a:rPr>
              <a:t>them</a:t>
            </a:r>
            <a:r>
              <a:rPr dirty="0" sz="800" spc="-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80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20">
                <a:solidFill>
                  <a:srgbClr val="0F0F0F"/>
                </a:solidFill>
                <a:latin typeface="Times New Roman"/>
                <a:cs typeface="Times New Roman"/>
              </a:rPr>
              <a:t>focal</a:t>
            </a:r>
            <a:r>
              <a:rPr dirty="0" sz="80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40">
                <a:solidFill>
                  <a:srgbClr val="0F0F0F"/>
                </a:solidFill>
                <a:latin typeface="Times New Roman"/>
                <a:cs typeface="Times New Roman"/>
              </a:rPr>
              <a:t>point</a:t>
            </a:r>
            <a:r>
              <a:rPr dirty="0" sz="800" spc="-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25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80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E0E0E"/>
                </a:solidFill>
                <a:latin typeface="Times New Roman"/>
                <a:cs typeface="Times New Roman"/>
              </a:rPr>
              <a:t>astronomical</a:t>
            </a:r>
            <a:r>
              <a:rPr dirty="0" sz="750" spc="2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Times New Roman"/>
                <a:cs typeface="Times New Roman"/>
              </a:rPr>
              <a:t>research.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884053" y="3092196"/>
            <a:ext cx="1355090" cy="9766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3335" marR="5080" indent="635">
              <a:lnSpc>
                <a:spcPct val="98800"/>
              </a:lnSpc>
              <a:spcBef>
                <a:spcPts val="110"/>
              </a:spcBef>
            </a:pPr>
            <a:r>
              <a:rPr dirty="0" sz="800" spc="-6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800" spc="-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Times New Roman"/>
                <a:cs typeface="Times New Roman"/>
              </a:rPr>
              <a:t>first</a:t>
            </a:r>
            <a:r>
              <a:rPr dirty="0" sz="80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125">
                <a:solidFill>
                  <a:srgbClr val="0F0F0F"/>
                </a:solidFill>
                <a:latin typeface="Times New Roman"/>
                <a:cs typeface="Times New Roman"/>
              </a:rPr>
              <a:t>FRB</a:t>
            </a:r>
            <a:r>
              <a:rPr dirty="0" sz="800" spc="-20">
                <a:solidFill>
                  <a:srgbClr val="0F0F0F"/>
                </a:solidFill>
                <a:latin typeface="Times New Roman"/>
                <a:cs typeface="Times New Roman"/>
              </a:rPr>
              <a:t> was</a:t>
            </a:r>
            <a:r>
              <a:rPr dirty="0" sz="800" spc="-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25">
                <a:solidFill>
                  <a:srgbClr val="0F0F0F"/>
                </a:solidFill>
                <a:latin typeface="Times New Roman"/>
                <a:cs typeface="Times New Roman"/>
              </a:rPr>
              <a:t>discovered</a:t>
            </a:r>
            <a:r>
              <a:rPr dirty="0" sz="80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25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800" spc="5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Times New Roman"/>
                <a:cs typeface="Times New Roman"/>
              </a:rPr>
              <a:t>007</a:t>
            </a:r>
            <a:r>
              <a:rPr dirty="0" sz="80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35">
                <a:solidFill>
                  <a:srgbClr val="0F0F0F"/>
                </a:solidFill>
                <a:latin typeface="Times New Roman"/>
                <a:cs typeface="Times New Roman"/>
              </a:rPr>
              <a:t>usinp</a:t>
            </a:r>
            <a:r>
              <a:rPr dirty="0" sz="80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0F0F0F"/>
                </a:solidFill>
                <a:latin typeface="Times New Roman"/>
                <a:cs typeface="Times New Roman"/>
              </a:rPr>
              <a:t>the </a:t>
            </a:r>
            <a:r>
              <a:rPr dirty="0" sz="800" spc="-35">
                <a:solidFill>
                  <a:srgbClr val="0E0E0E"/>
                </a:solidFill>
                <a:latin typeface="Times New Roman"/>
                <a:cs typeface="Times New Roman"/>
              </a:rPr>
              <a:t>Parkes</a:t>
            </a:r>
            <a:r>
              <a:rPr dirty="0" sz="800" spc="-1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00" spc="-40">
                <a:solidFill>
                  <a:srgbClr val="0F0F0F"/>
                </a:solidFill>
                <a:latin typeface="Times New Roman"/>
                <a:cs typeface="Times New Roman"/>
              </a:rPr>
              <a:t>Telescope</a:t>
            </a:r>
            <a:r>
              <a:rPr dirty="0" sz="80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25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dirty="0" sz="800" spc="5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 spc="-20">
                <a:solidFill>
                  <a:srgbClr val="0E0E0E"/>
                </a:solidFill>
                <a:latin typeface="Times New Roman"/>
                <a:cs typeface="Times New Roman"/>
              </a:rPr>
              <a:t>Australia.</a:t>
            </a:r>
            <a:r>
              <a:rPr dirty="0" sz="750" spc="5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50" spc="-50">
                <a:solidFill>
                  <a:srgbClr val="0F0F0F"/>
                </a:solidFill>
                <a:latin typeface="Times New Roman"/>
                <a:cs typeface="Times New Roman"/>
              </a:rPr>
              <a:t>This</a:t>
            </a:r>
            <a:r>
              <a:rPr dirty="0" sz="7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E0E0E"/>
                </a:solidFill>
                <a:latin typeface="Times New Roman"/>
                <a:cs typeface="Times New Roman"/>
              </a:rPr>
              <a:t>groundbreoking</a:t>
            </a:r>
            <a:endParaRPr sz="750">
              <a:latin typeface="Times New Roman"/>
              <a:cs typeface="Times New Roman"/>
            </a:endParaRPr>
          </a:p>
          <a:p>
            <a:pPr marL="12700" marR="96520" indent="635">
              <a:lnSpc>
                <a:spcPts val="819"/>
              </a:lnSpc>
              <a:spcBef>
                <a:spcPts val="250"/>
              </a:spcBef>
            </a:pPr>
            <a:r>
              <a:rPr dirty="0" sz="800" spc="-35">
                <a:solidFill>
                  <a:srgbClr val="111111"/>
                </a:solidFill>
                <a:latin typeface="Times New Roman"/>
                <a:cs typeface="Times New Roman"/>
              </a:rPr>
              <a:t>finding</a:t>
            </a:r>
            <a:r>
              <a:rPr dirty="0" sz="80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0F0F0F"/>
                </a:solidFill>
                <a:latin typeface="Times New Roman"/>
                <a:cs typeface="Times New Roman"/>
              </a:rPr>
              <a:t>opened</a:t>
            </a:r>
            <a:r>
              <a:rPr dirty="0" sz="80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35">
                <a:solidFill>
                  <a:srgbClr val="111111"/>
                </a:solidFill>
                <a:latin typeface="Times New Roman"/>
                <a:cs typeface="Times New Roman"/>
              </a:rPr>
              <a:t>up</a:t>
            </a:r>
            <a:r>
              <a:rPr dirty="0" sz="800" spc="-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131313"/>
                </a:solidFill>
                <a:latin typeface="Times New Roman"/>
                <a:cs typeface="Times New Roman"/>
              </a:rPr>
              <a:t>a</a:t>
            </a:r>
            <a:r>
              <a:rPr dirty="0" sz="800" spc="6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800" spc="-70">
                <a:solidFill>
                  <a:srgbClr val="111111"/>
                </a:solidFill>
                <a:latin typeface="Times New Roman"/>
                <a:cs typeface="Times New Roman"/>
              </a:rPr>
              <a:t>new</a:t>
            </a:r>
            <a:r>
              <a:rPr dirty="0" sz="800" spc="-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00" spc="-35">
                <a:solidFill>
                  <a:srgbClr val="111111"/>
                </a:solidFill>
                <a:latin typeface="Times New Roman"/>
                <a:cs typeface="Times New Roman"/>
              </a:rPr>
              <a:t>field</a:t>
            </a:r>
            <a:r>
              <a:rPr dirty="0" sz="80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00" spc="-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80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111111"/>
                </a:solidFill>
                <a:latin typeface="Times New Roman"/>
                <a:cs typeface="Times New Roman"/>
              </a:rPr>
              <a:t>study</a:t>
            </a:r>
            <a:r>
              <a:rPr dirty="0" sz="80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00" spc="-90">
                <a:solidFill>
                  <a:srgbClr val="131313"/>
                </a:solidFill>
                <a:latin typeface="Times New Roman"/>
                <a:cs typeface="Times New Roman"/>
              </a:rPr>
              <a:t>in</a:t>
            </a:r>
            <a:r>
              <a:rPr dirty="0" sz="800" spc="35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800" spc="-30">
                <a:solidFill>
                  <a:srgbClr val="0C0C0C"/>
                </a:solidFill>
                <a:latin typeface="Times New Roman"/>
                <a:cs typeface="Times New Roman"/>
              </a:rPr>
              <a:t>ostrophysics,</a:t>
            </a:r>
            <a:r>
              <a:rPr dirty="0" sz="800" spc="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131313"/>
                </a:solidFill>
                <a:latin typeface="Times New Roman"/>
                <a:cs typeface="Times New Roman"/>
              </a:rPr>
              <a:t>leading</a:t>
            </a:r>
            <a:endParaRPr sz="800">
              <a:latin typeface="Times New Roman"/>
              <a:cs typeface="Times New Roman"/>
            </a:endParaRPr>
          </a:p>
          <a:p>
            <a:pPr marL="19685" marR="248920">
              <a:lnSpc>
                <a:spcPct val="93000"/>
              </a:lnSpc>
              <a:spcBef>
                <a:spcPts val="175"/>
              </a:spcBef>
            </a:pPr>
            <a:r>
              <a:rPr dirty="0" sz="750">
                <a:solidFill>
                  <a:srgbClr val="0E0E0E"/>
                </a:solidFill>
                <a:latin typeface="Times New Roman"/>
                <a:cs typeface="Times New Roman"/>
              </a:rPr>
              <a:t>researchers</a:t>
            </a:r>
            <a:r>
              <a:rPr dirty="0" sz="750" spc="-2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0C0C0C"/>
                </a:solidFill>
                <a:latin typeface="Times New Roman"/>
                <a:cs typeface="Times New Roman"/>
              </a:rPr>
              <a:t>to</a:t>
            </a:r>
            <a:r>
              <a:rPr dirty="0" sz="750" spc="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111111"/>
                </a:solidFill>
                <a:latin typeface="Times New Roman"/>
                <a:cs typeface="Times New Roman"/>
              </a:rPr>
              <a:t>explore</a:t>
            </a:r>
            <a:r>
              <a:rPr dirty="0" sz="75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750" spc="-25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750" spc="5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00" spc="-30">
                <a:solidFill>
                  <a:srgbClr val="0E0E0E"/>
                </a:solidFill>
                <a:latin typeface="Times New Roman"/>
                <a:cs typeface="Times New Roman"/>
              </a:rPr>
              <a:t>mysteries</a:t>
            </a:r>
            <a:r>
              <a:rPr dirty="0" sz="800" spc="-1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00" spc="-25">
                <a:solidFill>
                  <a:srgbClr val="111111"/>
                </a:solidFill>
                <a:latin typeface="Times New Roman"/>
                <a:cs typeface="Times New Roman"/>
              </a:rPr>
              <a:t>surrounding</a:t>
            </a:r>
            <a:r>
              <a:rPr dirty="0" sz="80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Times New Roman"/>
                <a:cs typeface="Times New Roman"/>
              </a:rPr>
              <a:t>these</a:t>
            </a:r>
            <a:r>
              <a:rPr dirty="0" sz="80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E0E0E"/>
                </a:solidFill>
                <a:latin typeface="Times New Roman"/>
                <a:cs typeface="Times New Roman"/>
              </a:rPr>
              <a:t>phenomena.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437380" y="2557017"/>
            <a:ext cx="10541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solidFill>
                  <a:srgbClr val="4F2BD1"/>
                </a:solidFill>
                <a:latin typeface="Times New Roman"/>
                <a:cs typeface="Times New Roman"/>
              </a:rPr>
              <a:t>3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629220" y="2535682"/>
            <a:ext cx="86868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30">
                <a:solidFill>
                  <a:srgbClr val="0F0F0F"/>
                </a:solidFill>
                <a:latin typeface="Times New Roman"/>
                <a:cs typeface="Times New Roman"/>
              </a:rPr>
              <a:t>Significance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886734" y="2500545"/>
            <a:ext cx="2899410" cy="53594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72390">
              <a:lnSpc>
                <a:spcPct val="100000"/>
              </a:lnSpc>
              <a:spcBef>
                <a:spcPts val="375"/>
              </a:spcBef>
              <a:tabLst>
                <a:tab pos="267970" algn="l"/>
              </a:tabLst>
            </a:pPr>
            <a:r>
              <a:rPr dirty="0" sz="1100" spc="-50">
                <a:solidFill>
                  <a:srgbClr val="A582FF"/>
                </a:solidFill>
                <a:latin typeface="Times New Roman"/>
                <a:cs typeface="Times New Roman"/>
              </a:rPr>
              <a:t>2</a:t>
            </a:r>
            <a:r>
              <a:rPr dirty="0" sz="1100">
                <a:solidFill>
                  <a:srgbClr val="A582FF"/>
                </a:solidFill>
                <a:latin typeface="Times New Roman"/>
                <a:cs typeface="Times New Roman"/>
              </a:rPr>
              <a:t>	</a:t>
            </a:r>
            <a:r>
              <a:rPr dirty="0" sz="1100" spc="-10">
                <a:solidFill>
                  <a:srgbClr val="0E0E0E"/>
                </a:solidFill>
                <a:latin typeface="Times New Roman"/>
                <a:cs typeface="Times New Roman"/>
              </a:rPr>
              <a:t>Historical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  <a:tabLst>
                <a:tab pos="1503045" algn="l"/>
              </a:tabLst>
            </a:pPr>
            <a:r>
              <a:rPr dirty="0" sz="1050" spc="-10">
                <a:solidFill>
                  <a:srgbClr val="0F0F0F"/>
                </a:solidFill>
                <a:latin typeface="Times New Roman"/>
                <a:cs typeface="Times New Roman"/>
              </a:rPr>
              <a:t>Discovery</a:t>
            </a:r>
            <a:r>
              <a:rPr dirty="0" sz="105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050" spc="-20">
                <a:solidFill>
                  <a:srgbClr val="0E0E0E"/>
                </a:solidFill>
                <a:latin typeface="Times New Roman"/>
                <a:cs typeface="Times New Roman"/>
              </a:rPr>
              <a:t>FRBs</a:t>
            </a:r>
            <a:endParaRPr sz="1050">
              <a:latin typeface="Times New Roman"/>
              <a:cs typeface="Times New Roman"/>
            </a:endParaRPr>
          </a:p>
          <a:p>
            <a:pPr marL="23495">
              <a:lnSpc>
                <a:spcPct val="100000"/>
              </a:lnSpc>
              <a:spcBef>
                <a:spcPts val="770"/>
              </a:spcBef>
              <a:tabLst>
                <a:tab pos="1395730" algn="l"/>
                <a:tab pos="2886075" algn="l"/>
              </a:tabLst>
            </a:pPr>
            <a:r>
              <a:rPr dirty="0" u="sng" sz="600">
                <a:solidFill>
                  <a:srgbClr val="111111"/>
                </a:solidFill>
                <a:uFill>
                  <a:solidFill>
                    <a:srgbClr val="676B74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600" spc="7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u="sng" sz="600">
                <a:solidFill>
                  <a:srgbClr val="111111"/>
                </a:solidFill>
                <a:uFill>
                  <a:solidFill>
                    <a:srgbClr val="676B74"/>
                  </a:solidFill>
                </a:uFill>
                <a:latin typeface="Times New Roman"/>
                <a:cs typeface="Times New Roman"/>
              </a:rPr>
              <a:t>	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374534" y="3098546"/>
            <a:ext cx="1381125" cy="85026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3970" marR="5080" indent="-1905">
              <a:lnSpc>
                <a:spcPct val="103600"/>
              </a:lnSpc>
              <a:spcBef>
                <a:spcPts val="65"/>
              </a:spcBef>
            </a:pPr>
            <a:r>
              <a:rPr dirty="0" sz="750" spc="-90">
                <a:solidFill>
                  <a:srgbClr val="0E0E0E"/>
                </a:solidFill>
                <a:latin typeface="Arial MT"/>
                <a:cs typeface="Arial MT"/>
              </a:rPr>
              <a:t>FRBs</a:t>
            </a:r>
            <a:r>
              <a:rPr dirty="0" sz="750" spc="-4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offer</a:t>
            </a:r>
            <a:r>
              <a:rPr dirty="0" sz="750" spc="-35">
                <a:solidFill>
                  <a:srgbClr val="0F0F0F"/>
                </a:solidFill>
                <a:latin typeface="Arial MT"/>
                <a:cs typeface="Arial MT"/>
              </a:rPr>
              <a:t> unique</a:t>
            </a:r>
            <a:r>
              <a:rPr dirty="0" sz="750" spc="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35">
                <a:solidFill>
                  <a:srgbClr val="0E0E0E"/>
                </a:solidFill>
                <a:latin typeface="Arial MT"/>
                <a:cs typeface="Arial MT"/>
              </a:rPr>
              <a:t>insights</a:t>
            </a:r>
            <a:r>
              <a:rPr dirty="0" sz="750" spc="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into</a:t>
            </a:r>
            <a:r>
              <a:rPr dirty="0" sz="750" spc="-25">
                <a:solidFill>
                  <a:srgbClr val="0F0F0F"/>
                </a:solidFill>
                <a:latin typeface="Arial MT"/>
                <a:cs typeface="Arial MT"/>
              </a:rPr>
              <a:t> the</a:t>
            </a:r>
            <a:r>
              <a:rPr dirty="0" sz="75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C0C0C"/>
                </a:solidFill>
                <a:latin typeface="Arial MT"/>
                <a:cs typeface="Arial MT"/>
              </a:rPr>
              <a:t>intergoloctic</a:t>
            </a:r>
            <a:r>
              <a:rPr dirty="0" sz="750" spc="8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40">
                <a:solidFill>
                  <a:srgbClr val="0F0F0F"/>
                </a:solidFill>
                <a:latin typeface="Arial MT"/>
                <a:cs typeface="Arial MT"/>
              </a:rPr>
              <a:t>medium,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35">
                <a:solidFill>
                  <a:srgbClr val="0F0F0F"/>
                </a:solidFill>
                <a:latin typeface="Arial MT"/>
                <a:cs typeface="Arial MT"/>
              </a:rPr>
              <a:t>including</a:t>
            </a:r>
            <a:r>
              <a:rPr dirty="0" sz="750" spc="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C0C0C"/>
                </a:solidFill>
                <a:latin typeface="Arial MT"/>
                <a:cs typeface="Arial MT"/>
              </a:rPr>
              <a:t>the</a:t>
            </a:r>
            <a:r>
              <a:rPr dirty="0" sz="750" spc="5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30">
                <a:solidFill>
                  <a:srgbClr val="0F0F0F"/>
                </a:solidFill>
                <a:latin typeface="Arial MT"/>
                <a:cs typeface="Arial MT"/>
              </a:rPr>
              <a:t>density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30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dirty="0" sz="750" spc="-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35">
                <a:solidFill>
                  <a:srgbClr val="0F0F0F"/>
                </a:solidFill>
                <a:latin typeface="Arial MT"/>
                <a:cs typeface="Arial MT"/>
              </a:rPr>
              <a:t>composition</a:t>
            </a:r>
            <a:r>
              <a:rPr dirty="0" sz="750" spc="5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11111"/>
                </a:solidFill>
                <a:latin typeface="Arial MT"/>
                <a:cs typeface="Arial MT"/>
              </a:rPr>
              <a:t>of</a:t>
            </a:r>
            <a:r>
              <a:rPr dirty="0" sz="75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matter </a:t>
            </a:r>
            <a:r>
              <a:rPr dirty="0" sz="750" spc="-30">
                <a:solidFill>
                  <a:srgbClr val="111111"/>
                </a:solidFill>
                <a:latin typeface="Arial MT"/>
                <a:cs typeface="Arial MT"/>
              </a:rPr>
              <a:t>beMeen</a:t>
            </a:r>
            <a:r>
              <a:rPr dirty="0" sz="75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50" spc="-40">
                <a:solidFill>
                  <a:srgbClr val="0F0F0F"/>
                </a:solidFill>
                <a:latin typeface="Arial MT"/>
                <a:cs typeface="Arial MT"/>
              </a:rPr>
              <a:t>galaxies.</a:t>
            </a:r>
            <a:r>
              <a:rPr dirty="0" sz="750" spc="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55">
                <a:solidFill>
                  <a:srgbClr val="0F0F0F"/>
                </a:solidFill>
                <a:latin typeface="Arial MT"/>
                <a:cs typeface="Arial MT"/>
              </a:rPr>
              <a:t>Their</a:t>
            </a:r>
            <a:r>
              <a:rPr dirty="0" sz="750" spc="5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35">
                <a:solidFill>
                  <a:srgbClr val="0F0F0F"/>
                </a:solidFill>
                <a:latin typeface="Arial MT"/>
                <a:cs typeface="Arial MT"/>
              </a:rPr>
              <a:t>study</a:t>
            </a:r>
            <a:r>
              <a:rPr dirty="0" sz="750" spc="-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F0F0F"/>
                </a:solidFill>
                <a:latin typeface="Arial MT"/>
                <a:cs typeface="Arial MT"/>
              </a:rPr>
              <a:t>con</a:t>
            </a:r>
            <a:r>
              <a:rPr dirty="0" sz="75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50">
                <a:solidFill>
                  <a:srgbClr val="0C0C0C"/>
                </a:solidFill>
                <a:latin typeface="Arial MT"/>
                <a:cs typeface="Arial MT"/>
              </a:rPr>
              <a:t>also</a:t>
            </a:r>
            <a:r>
              <a:rPr dirty="0" sz="750" spc="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45">
                <a:solidFill>
                  <a:srgbClr val="111111"/>
                </a:solidFill>
                <a:latin typeface="Arial MT"/>
                <a:cs typeface="Arial MT"/>
              </a:rPr>
              <a:t>help</a:t>
            </a:r>
            <a:r>
              <a:rPr dirty="0" sz="750" spc="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50" spc="-35">
                <a:solidFill>
                  <a:srgbClr val="0F0F0F"/>
                </a:solidFill>
                <a:latin typeface="Arial MT"/>
                <a:cs typeface="Arial MT"/>
              </a:rPr>
              <a:t>scientists</a:t>
            </a:r>
            <a:r>
              <a:rPr dirty="0" sz="750" spc="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40">
                <a:solidFill>
                  <a:srgbClr val="0F0F0F"/>
                </a:solidFill>
                <a:latin typeface="Arial MT"/>
                <a:cs typeface="Arial MT"/>
              </a:rPr>
              <a:t>understand</a:t>
            </a:r>
            <a:r>
              <a:rPr dirty="0" sz="750" spc="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750" spc="5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50" spc="-35">
                <a:solidFill>
                  <a:srgbClr val="0E0E0E"/>
                </a:solidFill>
                <a:latin typeface="Arial MT"/>
                <a:cs typeface="Arial MT"/>
              </a:rPr>
              <a:t>nature</a:t>
            </a:r>
            <a:r>
              <a:rPr dirty="0" sz="750" spc="-3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A1A1A"/>
                </a:solidFill>
                <a:latin typeface="Arial MT"/>
                <a:cs typeface="Arial MT"/>
              </a:rPr>
              <a:t>of</a:t>
            </a:r>
            <a:r>
              <a:rPr dirty="0" sz="750" spc="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0E0E0E"/>
                </a:solidFill>
                <a:latin typeface="Arial MT"/>
                <a:cs typeface="Arial MT"/>
              </a:rPr>
              <a:t>their</a:t>
            </a:r>
            <a:r>
              <a:rPr dirty="0" sz="750" spc="3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65">
                <a:solidFill>
                  <a:srgbClr val="0E0E0E"/>
                </a:solidFill>
                <a:latin typeface="Arial MT"/>
                <a:cs typeface="Arial MT"/>
              </a:rPr>
              <a:t>sources,</a:t>
            </a:r>
            <a:r>
              <a:rPr dirty="0" sz="750" spc="2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11111"/>
                </a:solidFill>
                <a:latin typeface="Arial MT"/>
                <a:cs typeface="Arial MT"/>
              </a:rPr>
              <a:t>which </a:t>
            </a:r>
            <a:r>
              <a:rPr dirty="0" sz="750" spc="-35">
                <a:solidFill>
                  <a:srgbClr val="0F0F0F"/>
                </a:solidFill>
                <a:latin typeface="Arial MT"/>
                <a:cs typeface="Arial MT"/>
              </a:rPr>
              <a:t>remain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35">
                <a:solidFill>
                  <a:srgbClr val="0F0F0F"/>
                </a:solidFill>
                <a:latin typeface="Arial MT"/>
                <a:cs typeface="Arial MT"/>
              </a:rPr>
              <a:t>largely</a:t>
            </a:r>
            <a:r>
              <a:rPr dirty="0" sz="75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unidentified.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865546" y="3092196"/>
            <a:ext cx="1377315" cy="10953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 indent="8255">
              <a:lnSpc>
                <a:spcPct val="96700"/>
              </a:lnSpc>
              <a:spcBef>
                <a:spcPts val="130"/>
              </a:spcBef>
            </a:pPr>
            <a:r>
              <a:rPr dirty="0" sz="800" spc="-30">
                <a:solidFill>
                  <a:srgbClr val="0E0E0E"/>
                </a:solidFill>
                <a:latin typeface="Times New Roman"/>
                <a:cs typeface="Times New Roman"/>
              </a:rPr>
              <a:t>Despite</a:t>
            </a:r>
            <a:r>
              <a:rPr dirty="0" sz="800" spc="-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800" spc="-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30">
                <a:solidFill>
                  <a:srgbClr val="0F0F0F"/>
                </a:solidFill>
                <a:latin typeface="Times New Roman"/>
                <a:cs typeface="Times New Roman"/>
              </a:rPr>
              <a:t>discoveries</a:t>
            </a:r>
            <a:r>
              <a:rPr dirty="0" sz="80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E0E0E"/>
                </a:solidFill>
                <a:latin typeface="Times New Roman"/>
                <a:cs typeface="Times New Roman"/>
              </a:rPr>
              <a:t>made</a:t>
            </a:r>
            <a:r>
              <a:rPr dirty="0" sz="800" spc="-1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Times New Roman"/>
                <a:cs typeface="Times New Roman"/>
              </a:rPr>
              <a:t>since</a:t>
            </a:r>
            <a:r>
              <a:rPr dirty="0" sz="80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Times New Roman"/>
                <a:cs typeface="Times New Roman"/>
              </a:rPr>
              <a:t>their</a:t>
            </a:r>
            <a:r>
              <a:rPr dirty="0" sz="80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50">
                <a:solidFill>
                  <a:srgbClr val="0F0F0F"/>
                </a:solidFill>
                <a:latin typeface="Times New Roman"/>
                <a:cs typeface="Times New Roman"/>
              </a:rPr>
              <a:t>initial</a:t>
            </a:r>
            <a:r>
              <a:rPr dirty="0" sz="80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E0E0E"/>
                </a:solidFill>
                <a:latin typeface="Times New Roman"/>
                <a:cs typeface="Times New Roman"/>
              </a:rPr>
              <a:t>detection,</a:t>
            </a:r>
            <a:r>
              <a:rPr dirty="0" sz="800" spc="-3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00" spc="-25">
                <a:solidFill>
                  <a:srgbClr val="131313"/>
                </a:solidFill>
                <a:latin typeface="Times New Roman"/>
                <a:cs typeface="Times New Roman"/>
              </a:rPr>
              <a:t>the</a:t>
            </a:r>
            <a:r>
              <a:rPr dirty="0" sz="800" spc="50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800" spc="-30">
                <a:solidFill>
                  <a:srgbClr val="0F0F0F"/>
                </a:solidFill>
                <a:latin typeface="Times New Roman"/>
                <a:cs typeface="Times New Roman"/>
              </a:rPr>
              <a:t>mechanisms</a:t>
            </a:r>
            <a:r>
              <a:rPr dirty="0" sz="80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80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00" spc="-20">
                <a:solidFill>
                  <a:srgbClr val="0C0C0C"/>
                </a:solidFill>
                <a:latin typeface="Times New Roman"/>
                <a:cs typeface="Times New Roman"/>
              </a:rPr>
              <a:t>produce</a:t>
            </a:r>
            <a:r>
              <a:rPr dirty="0" sz="800" spc="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00" spc="-20">
                <a:solidFill>
                  <a:srgbClr val="0E0E0E"/>
                </a:solidFill>
                <a:latin typeface="Times New Roman"/>
                <a:cs typeface="Times New Roman"/>
              </a:rPr>
              <a:t>FRBs</a:t>
            </a:r>
            <a:r>
              <a:rPr dirty="0" sz="800" spc="50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00" spc="-20">
                <a:solidFill>
                  <a:srgbClr val="111111"/>
                </a:solidFill>
                <a:latin typeface="Times New Roman"/>
                <a:cs typeface="Times New Roman"/>
              </a:rPr>
              <a:t>ore</a:t>
            </a:r>
            <a:r>
              <a:rPr dirty="0" sz="800" spc="-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00" spc="-50">
                <a:solidFill>
                  <a:srgbClr val="131313"/>
                </a:solidFill>
                <a:latin typeface="Times New Roman"/>
                <a:cs typeface="Times New Roman"/>
              </a:rPr>
              <a:t>still</a:t>
            </a:r>
            <a:r>
              <a:rPr dirty="0" sz="800" spc="6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800" spc="-40">
                <a:solidFill>
                  <a:srgbClr val="0F0F0F"/>
                </a:solidFill>
                <a:latin typeface="Times New Roman"/>
                <a:cs typeface="Times New Roman"/>
              </a:rPr>
              <a:t>not</a:t>
            </a:r>
            <a:r>
              <a:rPr dirty="0" sz="80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60">
                <a:solidFill>
                  <a:srgbClr val="0F0F0F"/>
                </a:solidFill>
                <a:latin typeface="Times New Roman"/>
                <a:cs typeface="Times New Roman"/>
              </a:rPr>
              <a:t>fully</a:t>
            </a:r>
            <a:r>
              <a:rPr dirty="0" sz="80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E0E0E"/>
                </a:solidFill>
                <a:latin typeface="Times New Roman"/>
                <a:cs typeface="Times New Roman"/>
              </a:rPr>
              <a:t>understood.</a:t>
            </a:r>
            <a:endParaRPr sz="800">
              <a:latin typeface="Times New Roman"/>
              <a:cs typeface="Times New Roman"/>
            </a:endParaRPr>
          </a:p>
          <a:p>
            <a:pPr marL="12700" marR="277495" indent="7620">
              <a:lnSpc>
                <a:spcPts val="940"/>
              </a:lnSpc>
              <a:spcBef>
                <a:spcPts val="25"/>
              </a:spcBef>
            </a:pPr>
            <a:r>
              <a:rPr dirty="0" sz="800" spc="-30">
                <a:solidFill>
                  <a:srgbClr val="0F0F0F"/>
                </a:solidFill>
                <a:latin typeface="Times New Roman"/>
                <a:cs typeface="Times New Roman"/>
              </a:rPr>
              <a:t>Researchers</a:t>
            </a:r>
            <a:r>
              <a:rPr dirty="0" sz="80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25">
                <a:solidFill>
                  <a:srgbClr val="0F0F0F"/>
                </a:solidFill>
                <a:latin typeface="Times New Roman"/>
                <a:cs typeface="Times New Roman"/>
              </a:rPr>
              <a:t>continue</a:t>
            </a:r>
            <a:r>
              <a:rPr dirty="0" sz="80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25">
                <a:solidFill>
                  <a:srgbClr val="131313"/>
                </a:solidFill>
                <a:latin typeface="Times New Roman"/>
                <a:cs typeface="Times New Roman"/>
              </a:rPr>
              <a:t>to</a:t>
            </a:r>
            <a:r>
              <a:rPr dirty="0" sz="800" spc="50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800" spc="-25">
                <a:solidFill>
                  <a:srgbClr val="0C0C0C"/>
                </a:solidFill>
                <a:latin typeface="Times New Roman"/>
                <a:cs typeface="Times New Roman"/>
              </a:rPr>
              <a:t>investigate</a:t>
            </a:r>
            <a:r>
              <a:rPr dirty="0" sz="800" spc="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00" spc="-25">
                <a:solidFill>
                  <a:srgbClr val="0F0F0F"/>
                </a:solidFill>
                <a:latin typeface="Times New Roman"/>
                <a:cs typeface="Times New Roman"/>
              </a:rPr>
              <a:t>various</a:t>
            </a:r>
            <a:r>
              <a:rPr dirty="0" sz="80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C0C0C"/>
                </a:solidFill>
                <a:latin typeface="Times New Roman"/>
                <a:cs typeface="Times New Roman"/>
              </a:rPr>
              <a:t>theories,</a:t>
            </a:r>
            <a:r>
              <a:rPr dirty="0" sz="800" spc="5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00" spc="-45">
                <a:solidFill>
                  <a:srgbClr val="0E0E0E"/>
                </a:solidFill>
                <a:latin typeface="Times New Roman"/>
                <a:cs typeface="Times New Roman"/>
              </a:rPr>
              <a:t>including</a:t>
            </a:r>
            <a:r>
              <a:rPr dirty="0" sz="80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80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00" spc="-40">
                <a:solidFill>
                  <a:srgbClr val="0F0F0F"/>
                </a:solidFill>
                <a:latin typeface="Times New Roman"/>
                <a:cs typeface="Times New Roman"/>
              </a:rPr>
              <a:t>possibility</a:t>
            </a:r>
            <a:r>
              <a:rPr dirty="0" sz="80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25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80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20">
                <a:solidFill>
                  <a:srgbClr val="0E0E0E"/>
                </a:solidFill>
                <a:latin typeface="Times New Roman"/>
                <a:cs typeface="Times New Roman"/>
              </a:rPr>
              <a:t>mognetors</a:t>
            </a:r>
            <a:r>
              <a:rPr dirty="0" sz="800" spc="-2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00" spc="-2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800" spc="-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111111"/>
                </a:solidFill>
                <a:latin typeface="Times New Roman"/>
                <a:cs typeface="Times New Roman"/>
              </a:rPr>
              <a:t>other</a:t>
            </a:r>
            <a:r>
              <a:rPr dirty="0" sz="800" spc="-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E0E0E"/>
                </a:solidFill>
                <a:latin typeface="Times New Roman"/>
                <a:cs typeface="Times New Roman"/>
              </a:rPr>
              <a:t>exotic</a:t>
            </a:r>
            <a:r>
              <a:rPr dirty="0" sz="800" spc="50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00" spc="-25">
                <a:solidFill>
                  <a:srgbClr val="0E0E0E"/>
                </a:solidFill>
                <a:latin typeface="Times New Roman"/>
                <a:cs typeface="Times New Roman"/>
              </a:rPr>
              <a:t>astrophysical</a:t>
            </a:r>
            <a:r>
              <a:rPr dirty="0" sz="800" spc="10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Times New Roman"/>
                <a:cs typeface="Times New Roman"/>
              </a:rPr>
              <a:t>processes.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423554" y="2563367"/>
            <a:ext cx="819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4F2FB8"/>
                </a:solidFill>
                <a:latin typeface="Cambria"/>
                <a:cs typeface="Cambria"/>
              </a:rPr>
              <a:t>s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607755" y="2542032"/>
            <a:ext cx="91249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30">
                <a:solidFill>
                  <a:srgbClr val="0E0E0E"/>
                </a:solidFill>
                <a:latin typeface="Cambria"/>
                <a:cs typeface="Cambria"/>
              </a:rPr>
              <a:t>Contribution</a:t>
            </a:r>
            <a:r>
              <a:rPr dirty="0" sz="1100" spc="45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1100" spc="-35">
                <a:solidFill>
                  <a:srgbClr val="0E0E0E"/>
                </a:solidFill>
                <a:latin typeface="Cambria"/>
                <a:cs typeface="Cambria"/>
              </a:rPr>
              <a:t>of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868800" y="2503678"/>
            <a:ext cx="2898140" cy="532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72819" indent="251460">
              <a:lnSpc>
                <a:spcPct val="112999"/>
              </a:lnSpc>
              <a:spcBef>
                <a:spcPts val="100"/>
              </a:spcBef>
              <a:tabLst>
                <a:tab pos="1498600" algn="l"/>
              </a:tabLst>
            </a:pPr>
            <a:r>
              <a:rPr dirty="0" sz="1150" spc="-30">
                <a:solidFill>
                  <a:srgbClr val="0C0C0C"/>
                </a:solidFill>
                <a:latin typeface="Times New Roman"/>
                <a:cs typeface="Times New Roman"/>
              </a:rPr>
              <a:t>Challenges</a:t>
            </a:r>
            <a:r>
              <a:rPr dirty="0" sz="1150" spc="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150" spc="5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Understanding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00" spc="-10">
                <a:solidFill>
                  <a:srgbClr val="0F0F0F"/>
                </a:solidFill>
                <a:latin typeface="Cambria"/>
                <a:cs typeface="Cambria"/>
              </a:rPr>
              <a:t>CHIME</a:t>
            </a:r>
            <a:endParaRPr sz="1100">
              <a:latin typeface="Cambria"/>
              <a:cs typeface="Cambria"/>
            </a:endParaRPr>
          </a:p>
          <a:p>
            <a:pPr marL="22225">
              <a:lnSpc>
                <a:spcPct val="100000"/>
              </a:lnSpc>
              <a:spcBef>
                <a:spcPts val="755"/>
              </a:spcBef>
              <a:tabLst>
                <a:tab pos="1394460" algn="l"/>
                <a:tab pos="2884805" algn="l"/>
              </a:tabLst>
            </a:pPr>
            <a:r>
              <a:rPr dirty="0" u="sng" sz="600">
                <a:solidFill>
                  <a:srgbClr val="111111"/>
                </a:solidFill>
                <a:uFill>
                  <a:solidFill>
                    <a:srgbClr val="676B74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600" spc="7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u="sng" sz="600">
                <a:solidFill>
                  <a:srgbClr val="111111"/>
                </a:solidFill>
                <a:uFill>
                  <a:solidFill>
                    <a:srgbClr val="676B74"/>
                  </a:solidFill>
                </a:uFill>
                <a:latin typeface="Times New Roman"/>
                <a:cs typeface="Times New Roman"/>
              </a:rPr>
              <a:t>	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352824" y="3098546"/>
            <a:ext cx="1347470" cy="1089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5240" marR="5080" indent="-3175">
              <a:lnSpc>
                <a:spcPct val="97300"/>
              </a:lnSpc>
              <a:spcBef>
                <a:spcPts val="125"/>
              </a:spcBef>
            </a:pPr>
            <a:r>
              <a:rPr dirty="0" sz="750" spc="-45">
                <a:solidFill>
                  <a:srgbClr val="0F0F0F"/>
                </a:solidFill>
                <a:latin typeface="Consolas"/>
                <a:cs typeface="Consolas"/>
              </a:rPr>
              <a:t>TheConodion</a:t>
            </a:r>
            <a:r>
              <a:rPr dirty="0" sz="750" spc="-70">
                <a:solidFill>
                  <a:srgbClr val="0F0F0F"/>
                </a:solidFill>
                <a:latin typeface="Consolas"/>
                <a:cs typeface="Consolas"/>
              </a:rPr>
              <a:t> </a:t>
            </a:r>
            <a:r>
              <a:rPr dirty="0" sz="750" spc="-80">
                <a:solidFill>
                  <a:srgbClr val="0E0E0E"/>
                </a:solidFill>
                <a:latin typeface="Consolas"/>
                <a:cs typeface="Consolas"/>
              </a:rPr>
              <a:t>HydrogenIntensi</a:t>
            </a:r>
            <a:r>
              <a:rPr dirty="0" sz="750" spc="-35">
                <a:solidFill>
                  <a:srgbClr val="0E0E0E"/>
                </a:solidFill>
                <a:latin typeface="Consolas"/>
                <a:cs typeface="Consolas"/>
              </a:rPr>
              <a:t> </a:t>
            </a:r>
            <a:r>
              <a:rPr dirty="0" sz="750" spc="-50">
                <a:solidFill>
                  <a:srgbClr val="0E0E0E"/>
                </a:solidFill>
                <a:latin typeface="Consolas"/>
                <a:cs typeface="Consolas"/>
              </a:rPr>
              <a:t>y </a:t>
            </a:r>
            <a:r>
              <a:rPr dirty="0" sz="800" spc="-40">
                <a:solidFill>
                  <a:srgbClr val="0C0C0C"/>
                </a:solidFill>
                <a:latin typeface="Times New Roman"/>
                <a:cs typeface="Times New Roman"/>
              </a:rPr>
              <a:t>Mapping</a:t>
            </a:r>
            <a:r>
              <a:rPr dirty="0" sz="800" spc="7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00" spc="-40">
                <a:solidFill>
                  <a:srgbClr val="0F0F0F"/>
                </a:solidFill>
                <a:latin typeface="Times New Roman"/>
                <a:cs typeface="Times New Roman"/>
              </a:rPr>
              <a:t>Experiment</a:t>
            </a:r>
            <a:r>
              <a:rPr dirty="0" sz="80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75">
                <a:solidFill>
                  <a:srgbClr val="0F0F0F"/>
                </a:solidFill>
                <a:latin typeface="Times New Roman"/>
                <a:cs typeface="Times New Roman"/>
              </a:rPr>
              <a:t>(CHIME)</a:t>
            </a:r>
            <a:r>
              <a:rPr dirty="0" sz="80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25">
                <a:solidFill>
                  <a:srgbClr val="0F0F0F"/>
                </a:solidFill>
                <a:latin typeface="Times New Roman"/>
                <a:cs typeface="Times New Roman"/>
              </a:rPr>
              <a:t>has</a:t>
            </a:r>
            <a:r>
              <a:rPr dirty="0" sz="80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30">
                <a:solidFill>
                  <a:srgbClr val="0F0F0F"/>
                </a:solidFill>
                <a:latin typeface="Times New Roman"/>
                <a:cs typeface="Times New Roman"/>
              </a:rPr>
              <a:t>played</a:t>
            </a:r>
            <a:r>
              <a:rPr dirty="0" sz="80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80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35">
                <a:solidFill>
                  <a:srgbClr val="0F0F0F"/>
                </a:solidFill>
                <a:latin typeface="Times New Roman"/>
                <a:cs typeface="Times New Roman"/>
              </a:rPr>
              <a:t>crucial</a:t>
            </a:r>
            <a:r>
              <a:rPr dirty="0" sz="80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50">
                <a:solidFill>
                  <a:srgbClr val="0F0F0F"/>
                </a:solidFill>
                <a:latin typeface="Times New Roman"/>
                <a:cs typeface="Times New Roman"/>
              </a:rPr>
              <a:t>role</a:t>
            </a:r>
            <a:r>
              <a:rPr dirty="0" sz="80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85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80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Times New Roman"/>
                <a:cs typeface="Times New Roman"/>
              </a:rPr>
              <a:t>expanding</a:t>
            </a:r>
            <a:r>
              <a:rPr dirty="0" sz="80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800" spc="-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0F0F0F"/>
                </a:solidFill>
                <a:latin typeface="Times New Roman"/>
                <a:cs typeface="Times New Roman"/>
              </a:rPr>
              <a:t>catalog</a:t>
            </a:r>
            <a:r>
              <a:rPr dirty="0" sz="80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35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80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Times New Roman"/>
                <a:cs typeface="Times New Roman"/>
              </a:rPr>
              <a:t>observed</a:t>
            </a:r>
            <a:r>
              <a:rPr dirty="0" sz="80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85">
                <a:solidFill>
                  <a:srgbClr val="0F0F0F"/>
                </a:solidFill>
                <a:latin typeface="Times New Roman"/>
                <a:cs typeface="Times New Roman"/>
              </a:rPr>
              <a:t>FRBs.</a:t>
            </a:r>
            <a:r>
              <a:rPr dirty="0" sz="80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25">
                <a:solidFill>
                  <a:srgbClr val="0E0E0E"/>
                </a:solidFill>
                <a:latin typeface="Times New Roman"/>
                <a:cs typeface="Times New Roman"/>
              </a:rPr>
              <a:t>By</a:t>
            </a:r>
            <a:r>
              <a:rPr dirty="0" sz="800" spc="50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00" spc="-55">
                <a:solidFill>
                  <a:srgbClr val="0C0C0C"/>
                </a:solidFill>
                <a:latin typeface="Times New Roman"/>
                <a:cs typeface="Times New Roman"/>
              </a:rPr>
              <a:t>utilizing</a:t>
            </a:r>
            <a:r>
              <a:rPr dirty="0" sz="800" spc="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00" spc="-35">
                <a:solidFill>
                  <a:srgbClr val="0F0F0F"/>
                </a:solidFill>
                <a:latin typeface="Times New Roman"/>
                <a:cs typeface="Times New Roman"/>
              </a:rPr>
              <a:t>innovative</a:t>
            </a:r>
            <a:r>
              <a:rPr dirty="0" sz="80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C0C0C"/>
                </a:solidFill>
                <a:latin typeface="Times New Roman"/>
                <a:cs typeface="Times New Roman"/>
              </a:rPr>
              <a:t>technology,</a:t>
            </a:r>
            <a:r>
              <a:rPr dirty="0" sz="800" spc="5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00" spc="-100">
                <a:solidFill>
                  <a:srgbClr val="0F0F0F"/>
                </a:solidFill>
                <a:latin typeface="Times New Roman"/>
                <a:cs typeface="Times New Roman"/>
              </a:rPr>
              <a:t>CHIME</a:t>
            </a:r>
            <a:r>
              <a:rPr dirty="0" sz="80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0F0F0F"/>
                </a:solidFill>
                <a:latin typeface="Times New Roman"/>
                <a:cs typeface="Times New Roman"/>
              </a:rPr>
              <a:t>has</a:t>
            </a:r>
            <a:r>
              <a:rPr dirty="0" sz="800" spc="-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20">
                <a:solidFill>
                  <a:srgbClr val="111111"/>
                </a:solidFill>
                <a:latin typeface="Times New Roman"/>
                <a:cs typeface="Times New Roman"/>
              </a:rPr>
              <a:t>facilitated</a:t>
            </a:r>
            <a:r>
              <a:rPr dirty="0" sz="80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Times New Roman"/>
                <a:cs typeface="Times New Roman"/>
              </a:rPr>
              <a:t>advanced</a:t>
            </a:r>
            <a:r>
              <a:rPr dirty="0" sz="80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20">
                <a:solidFill>
                  <a:srgbClr val="0C0C0C"/>
                </a:solidFill>
                <a:latin typeface="Times New Roman"/>
                <a:cs typeface="Times New Roman"/>
              </a:rPr>
              <a:t>studies,</a:t>
            </a:r>
            <a:r>
              <a:rPr dirty="0" sz="800" spc="-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00" spc="-55">
                <a:solidFill>
                  <a:srgbClr val="0E0E0E"/>
                </a:solidFill>
                <a:latin typeface="Times New Roman"/>
                <a:cs typeface="Times New Roman"/>
              </a:rPr>
              <a:t>ollowing</a:t>
            </a:r>
            <a:r>
              <a:rPr dirty="0" sz="800" spc="1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00" spc="-20">
                <a:solidFill>
                  <a:srgbClr val="0C0C0C"/>
                </a:solidFill>
                <a:latin typeface="Times New Roman"/>
                <a:cs typeface="Times New Roman"/>
              </a:rPr>
              <a:t>scientists</a:t>
            </a:r>
            <a:r>
              <a:rPr dirty="0" sz="800" spc="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00" spc="-25">
                <a:solidFill>
                  <a:srgbClr val="131313"/>
                </a:solidFill>
                <a:latin typeface="Times New Roman"/>
                <a:cs typeface="Times New Roman"/>
              </a:rPr>
              <a:t>to</a:t>
            </a:r>
            <a:r>
              <a:rPr dirty="0" sz="800" spc="50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800" spc="-25">
                <a:solidFill>
                  <a:srgbClr val="0E0E0E"/>
                </a:solidFill>
                <a:latin typeface="Times New Roman"/>
                <a:cs typeface="Times New Roman"/>
              </a:rPr>
              <a:t>analyze</a:t>
            </a:r>
            <a:r>
              <a:rPr dirty="0" sz="800" spc="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0F0F0F"/>
                </a:solidFill>
                <a:latin typeface="Times New Roman"/>
                <a:cs typeface="Times New Roman"/>
              </a:rPr>
              <a:t>these</a:t>
            </a:r>
            <a:r>
              <a:rPr dirty="0" sz="80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25">
                <a:solidFill>
                  <a:srgbClr val="0F0F0F"/>
                </a:solidFill>
                <a:latin typeface="Times New Roman"/>
                <a:cs typeface="Times New Roman"/>
              </a:rPr>
              <a:t>bursts</a:t>
            </a:r>
            <a:r>
              <a:rPr dirty="0" sz="80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9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80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Times New Roman"/>
                <a:cs typeface="Times New Roman"/>
              </a:rPr>
              <a:t>greater</a:t>
            </a:r>
            <a:r>
              <a:rPr dirty="0" sz="80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25">
                <a:solidFill>
                  <a:srgbClr val="0F0F0F"/>
                </a:solidFill>
                <a:latin typeface="Times New Roman"/>
                <a:cs typeface="Times New Roman"/>
              </a:rPr>
              <a:t>detail</a:t>
            </a:r>
            <a:r>
              <a:rPr dirty="0" sz="80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0F0F0F"/>
                </a:solidFill>
                <a:latin typeface="Times New Roman"/>
                <a:cs typeface="Times New Roman"/>
              </a:rPr>
              <a:t>than</a:t>
            </a:r>
            <a:r>
              <a:rPr dirty="0" sz="80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20">
                <a:solidFill>
                  <a:srgbClr val="0F0F0F"/>
                </a:solidFill>
                <a:latin typeface="Times New Roman"/>
                <a:cs typeface="Times New Roman"/>
              </a:rPr>
              <a:t>ever</a:t>
            </a:r>
            <a:r>
              <a:rPr dirty="0" sz="80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0E0E0E"/>
                </a:solidFill>
                <a:latin typeface="Times New Roman"/>
                <a:cs typeface="Times New Roman"/>
              </a:rPr>
              <a:t>before.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95873" y="360934"/>
            <a:ext cx="151066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522DC8"/>
                </a:solidFill>
                <a:latin typeface="Cambria"/>
                <a:cs typeface="Cambria"/>
              </a:rPr>
              <a:t>S</a:t>
            </a:r>
            <a:r>
              <a:rPr dirty="0" sz="850" spc="170">
                <a:solidFill>
                  <a:srgbClr val="522DC8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5B3DC1"/>
                </a:solidFill>
                <a:latin typeface="Cambria"/>
                <a:cs typeface="Cambria"/>
              </a:rPr>
              <a:t>T</a:t>
            </a:r>
            <a:r>
              <a:rPr dirty="0" sz="850" spc="155">
                <a:solidFill>
                  <a:srgbClr val="5B3DC1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D2FCA"/>
                </a:solidFill>
                <a:latin typeface="Cambria"/>
                <a:cs typeface="Cambria"/>
              </a:rPr>
              <a:t>U</a:t>
            </a:r>
            <a:r>
              <a:rPr dirty="0" sz="850" spc="165">
                <a:solidFill>
                  <a:srgbClr val="4D2FCA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522AD1"/>
                </a:solidFill>
                <a:latin typeface="Cambria"/>
                <a:cs typeface="Cambria"/>
              </a:rPr>
              <a:t>D</a:t>
            </a:r>
            <a:r>
              <a:rPr dirty="0" sz="850" spc="70">
                <a:solidFill>
                  <a:srgbClr val="522AD1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502DBF"/>
                </a:solidFill>
                <a:latin typeface="Cambria"/>
                <a:cs typeface="Cambria"/>
              </a:rPr>
              <a:t>Y</a:t>
            </a:r>
            <a:r>
              <a:rPr dirty="0" sz="850" spc="200">
                <a:solidFill>
                  <a:srgbClr val="502DBF"/>
                </a:solidFill>
                <a:latin typeface="Cambria"/>
                <a:cs typeface="Cambria"/>
              </a:rPr>
              <a:t>  </a:t>
            </a:r>
            <a:r>
              <a:rPr dirty="0" sz="850">
                <a:solidFill>
                  <a:srgbClr val="4B2AC6"/>
                </a:solidFill>
                <a:latin typeface="Cambria"/>
                <a:cs typeface="Cambria"/>
              </a:rPr>
              <a:t>O</a:t>
            </a:r>
            <a:r>
              <a:rPr dirty="0" sz="850" spc="210">
                <a:solidFill>
                  <a:srgbClr val="4B2AC6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522ACF"/>
                </a:solidFill>
                <a:latin typeface="Cambria"/>
                <a:cs typeface="Cambria"/>
              </a:rPr>
              <a:t>B</a:t>
            </a:r>
            <a:r>
              <a:rPr dirty="0" sz="850" spc="140">
                <a:solidFill>
                  <a:srgbClr val="522ACF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F2BC3"/>
                </a:solidFill>
                <a:latin typeface="Cambria"/>
                <a:cs typeface="Cambria"/>
              </a:rPr>
              <a:t>J</a:t>
            </a:r>
            <a:r>
              <a:rPr dirty="0" sz="850" spc="345">
                <a:solidFill>
                  <a:srgbClr val="4F2BC3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502BD1"/>
                </a:solidFill>
                <a:latin typeface="Cambria"/>
                <a:cs typeface="Cambria"/>
              </a:rPr>
              <a:t>E</a:t>
            </a:r>
            <a:r>
              <a:rPr dirty="0" sz="850" spc="110">
                <a:solidFill>
                  <a:srgbClr val="502BD1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502DCA"/>
                </a:solidFill>
                <a:latin typeface="Cambria"/>
                <a:cs typeface="Cambria"/>
              </a:rPr>
              <a:t>C</a:t>
            </a:r>
            <a:r>
              <a:rPr dirty="0" sz="850" spc="210">
                <a:solidFill>
                  <a:srgbClr val="502DCA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F2FBC"/>
                </a:solidFill>
                <a:latin typeface="Cambria"/>
                <a:cs typeface="Cambria"/>
              </a:rPr>
              <a:t>T</a:t>
            </a:r>
            <a:r>
              <a:rPr dirty="0" sz="850" spc="125">
                <a:solidFill>
                  <a:srgbClr val="4F2FBC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B2AC6"/>
                </a:solidFill>
                <a:latin typeface="Cambria"/>
                <a:cs typeface="Cambria"/>
              </a:rPr>
              <a:t>I</a:t>
            </a:r>
            <a:r>
              <a:rPr dirty="0" sz="850" spc="210">
                <a:solidFill>
                  <a:srgbClr val="4B2AC6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5228C6"/>
                </a:solidFill>
                <a:latin typeface="Cambria"/>
                <a:cs typeface="Cambria"/>
              </a:rPr>
              <a:t>V</a:t>
            </a:r>
            <a:r>
              <a:rPr dirty="0" sz="850" spc="120">
                <a:solidFill>
                  <a:srgbClr val="5228C6"/>
                </a:solidFill>
                <a:latin typeface="Cambria"/>
                <a:cs typeface="Cambria"/>
              </a:rPr>
              <a:t> </a:t>
            </a:r>
            <a:r>
              <a:rPr dirty="0" sz="850" spc="-50">
                <a:solidFill>
                  <a:srgbClr val="4D2ABF"/>
                </a:solidFill>
                <a:latin typeface="Cambria"/>
                <a:cs typeface="Cambria"/>
              </a:rPr>
              <a:t>E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5911" y="393052"/>
            <a:ext cx="3553460" cy="663575"/>
          </a:xfrm>
          <a:prstGeom prst="rect"/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2150" spc="-30">
                <a:solidFill>
                  <a:srgbClr val="0F0F0F"/>
                </a:solidFill>
                <a:latin typeface="Cambria"/>
                <a:cs typeface="Cambria"/>
              </a:rPr>
              <a:t>Objective</a:t>
            </a:r>
            <a:r>
              <a:rPr dirty="0" sz="2150" spc="-1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2150">
                <a:solidFill>
                  <a:srgbClr val="111111"/>
                </a:solidFill>
                <a:latin typeface="Cambria"/>
                <a:cs typeface="Cambria"/>
              </a:rPr>
              <a:t>of</a:t>
            </a:r>
            <a:r>
              <a:rPr dirty="0" sz="2150" spc="3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2150">
                <a:solidFill>
                  <a:srgbClr val="0F0F0F"/>
                </a:solidFill>
                <a:latin typeface="Cambria"/>
                <a:cs typeface="Cambria"/>
              </a:rPr>
              <a:t>the</a:t>
            </a:r>
            <a:r>
              <a:rPr dirty="0" sz="2150" spc="-9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2150" spc="-10">
                <a:solidFill>
                  <a:srgbClr val="0F0F0F"/>
                </a:solidFill>
                <a:latin typeface="Cambria"/>
                <a:cs typeface="Cambria"/>
              </a:rPr>
              <a:t>Study</a:t>
            </a:r>
            <a:endParaRPr sz="2150">
              <a:latin typeface="Cambria"/>
              <a:cs typeface="Cambria"/>
            </a:endParaRPr>
          </a:p>
          <a:p>
            <a:pPr marL="20955">
              <a:lnSpc>
                <a:spcPct val="100000"/>
              </a:lnSpc>
              <a:spcBef>
                <a:spcPts val="395"/>
              </a:spcBef>
            </a:pPr>
            <a:r>
              <a:rPr dirty="0" sz="1000" spc="-10">
                <a:solidFill>
                  <a:srgbClr val="6B6B6B"/>
                </a:solidFill>
                <a:latin typeface="Cambria"/>
                <a:cs typeface="Cambria"/>
              </a:rPr>
              <a:t>Classifying</a:t>
            </a:r>
            <a:r>
              <a:rPr dirty="0" sz="1000" spc="150">
                <a:solidFill>
                  <a:srgbClr val="6B6B6B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6B6B6B"/>
                </a:solidFill>
                <a:latin typeface="Cambria"/>
                <a:cs typeface="Cambria"/>
              </a:rPr>
              <a:t>Fast</a:t>
            </a:r>
            <a:r>
              <a:rPr dirty="0" sz="1000" spc="45">
                <a:solidFill>
                  <a:srgbClr val="6B6B6B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6E6E6E"/>
                </a:solidFill>
                <a:latin typeface="Cambria"/>
                <a:cs typeface="Cambria"/>
              </a:rPr>
              <a:t>Radio</a:t>
            </a:r>
            <a:r>
              <a:rPr dirty="0" sz="1000" spc="25">
                <a:solidFill>
                  <a:srgbClr val="6E6E6E"/>
                </a:solidFill>
                <a:latin typeface="Cambria"/>
                <a:cs typeface="Cambria"/>
              </a:rPr>
              <a:t> </a:t>
            </a:r>
            <a:r>
              <a:rPr dirty="0" sz="1000" spc="-20">
                <a:solidFill>
                  <a:srgbClr val="707070"/>
                </a:solidFill>
                <a:latin typeface="Cambria"/>
                <a:cs typeface="Cambria"/>
              </a:rPr>
              <a:t>Bursts</a:t>
            </a:r>
            <a:r>
              <a:rPr dirty="0" sz="1000" spc="80">
                <a:solidFill>
                  <a:srgbClr val="707070"/>
                </a:solidFill>
                <a:latin typeface="Cambria"/>
                <a:cs typeface="Cambria"/>
              </a:rPr>
              <a:t> </a:t>
            </a:r>
            <a:r>
              <a:rPr dirty="0" sz="1000" spc="-20">
                <a:solidFill>
                  <a:srgbClr val="6B6B6B"/>
                </a:solidFill>
                <a:latin typeface="Cambria"/>
                <a:cs typeface="Cambria"/>
              </a:rPr>
              <a:t>Usinp</a:t>
            </a:r>
            <a:r>
              <a:rPr dirty="0" sz="1000" spc="40">
                <a:solidFill>
                  <a:srgbClr val="6B6B6B"/>
                </a:solidFill>
                <a:latin typeface="Cambria"/>
                <a:cs typeface="Cambria"/>
              </a:rPr>
              <a:t> </a:t>
            </a:r>
            <a:r>
              <a:rPr dirty="0" sz="1000" spc="-10">
                <a:solidFill>
                  <a:srgbClr val="727272"/>
                </a:solidFill>
                <a:latin typeface="Cambria"/>
                <a:cs typeface="Cambria"/>
              </a:rPr>
              <a:t>Machine</a:t>
            </a:r>
            <a:r>
              <a:rPr dirty="0" sz="1000" spc="50">
                <a:solidFill>
                  <a:srgbClr val="727272"/>
                </a:solidFill>
                <a:latin typeface="Cambria"/>
                <a:cs typeface="Cambria"/>
              </a:rPr>
              <a:t> </a:t>
            </a:r>
            <a:r>
              <a:rPr dirty="0" sz="1000" spc="-35">
                <a:solidFill>
                  <a:srgbClr val="676D79"/>
                </a:solidFill>
                <a:latin typeface="Cambria"/>
                <a:cs typeface="Cambria"/>
              </a:rPr>
              <a:t>Learninq</a:t>
            </a:r>
            <a:r>
              <a:rPr dirty="0" sz="1000" spc="80">
                <a:solidFill>
                  <a:srgbClr val="676D79"/>
                </a:solidFill>
                <a:latin typeface="Cambria"/>
                <a:cs typeface="Cambria"/>
              </a:rPr>
              <a:t> </a:t>
            </a:r>
            <a:r>
              <a:rPr dirty="0" sz="1000" spc="-10">
                <a:solidFill>
                  <a:srgbClr val="696969"/>
                </a:solidFill>
                <a:latin typeface="Cambria"/>
                <a:cs typeface="Cambria"/>
              </a:rPr>
              <a:t>Techniques</a:t>
            </a:r>
            <a:endParaRPr sz="1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2475" y="4200144"/>
            <a:ext cx="1334857" cy="20116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98095" y="3468623"/>
            <a:ext cx="655238" cy="65531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08000" y="2645664"/>
            <a:ext cx="652190" cy="41148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11810" y="1444752"/>
            <a:ext cx="670476" cy="66141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30857" y="441959"/>
            <a:ext cx="652190" cy="65531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21791"/>
            <a:ext cx="70095" cy="79248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80084" y="1557616"/>
            <a:ext cx="2701290" cy="134747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395"/>
              </a:spcBef>
            </a:pPr>
            <a:r>
              <a:rPr dirty="0" sz="850" spc="-20">
                <a:solidFill>
                  <a:srgbClr val="4D2FB1"/>
                </a:solidFill>
                <a:latin typeface="Times New Roman"/>
                <a:cs typeface="Times New Roman"/>
              </a:rPr>
              <a:t>U</a:t>
            </a:r>
            <a:r>
              <a:rPr dirty="0" sz="850" spc="165">
                <a:solidFill>
                  <a:srgbClr val="4D2FB1"/>
                </a:solidFill>
                <a:latin typeface="Times New Roman"/>
                <a:cs typeface="Times New Roman"/>
              </a:rPr>
              <a:t> </a:t>
            </a:r>
            <a:r>
              <a:rPr dirty="0" sz="850" spc="-40">
                <a:solidFill>
                  <a:srgbClr val="5028D6"/>
                </a:solidFill>
                <a:latin typeface="Times New Roman"/>
                <a:cs typeface="Times New Roman"/>
              </a:rPr>
              <a:t>N</a:t>
            </a:r>
            <a:r>
              <a:rPr dirty="0" sz="850" spc="95">
                <a:solidFill>
                  <a:srgbClr val="5028D6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6249C1"/>
                </a:solidFill>
                <a:latin typeface="Times New Roman"/>
                <a:cs typeface="Times New Roman"/>
              </a:rPr>
              <a:t>S</a:t>
            </a:r>
            <a:r>
              <a:rPr dirty="0" sz="850" spc="105">
                <a:solidFill>
                  <a:srgbClr val="6249C1"/>
                </a:solidFill>
                <a:latin typeface="Times New Roman"/>
                <a:cs typeface="Times New Roman"/>
              </a:rPr>
              <a:t> </a:t>
            </a:r>
            <a:r>
              <a:rPr dirty="0" sz="850" spc="-35">
                <a:solidFill>
                  <a:srgbClr val="4F33B3"/>
                </a:solidFill>
                <a:latin typeface="Times New Roman"/>
                <a:cs typeface="Times New Roman"/>
              </a:rPr>
              <a:t>U</a:t>
            </a:r>
            <a:r>
              <a:rPr dirty="0" sz="850" spc="130">
                <a:solidFill>
                  <a:srgbClr val="4F33B3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4B2BB5"/>
                </a:solidFill>
                <a:latin typeface="Times New Roman"/>
                <a:cs typeface="Times New Roman"/>
              </a:rPr>
              <a:t>P</a:t>
            </a:r>
            <a:r>
              <a:rPr dirty="0" sz="850" spc="65">
                <a:solidFill>
                  <a:srgbClr val="4B2BB5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502DD4"/>
                </a:solidFill>
                <a:latin typeface="Times New Roman"/>
                <a:cs typeface="Times New Roman"/>
              </a:rPr>
              <a:t>E</a:t>
            </a:r>
            <a:r>
              <a:rPr dirty="0" sz="850" spc="105">
                <a:solidFill>
                  <a:srgbClr val="502DD4"/>
                </a:solidFill>
                <a:latin typeface="Times New Roman"/>
                <a:cs typeface="Times New Roman"/>
              </a:rPr>
              <a:t> </a:t>
            </a:r>
            <a:r>
              <a:rPr dirty="0" sz="850" spc="-35">
                <a:solidFill>
                  <a:srgbClr val="492DB8"/>
                </a:solidFill>
                <a:latin typeface="Times New Roman"/>
                <a:cs typeface="Times New Roman"/>
              </a:rPr>
              <a:t>R</a:t>
            </a:r>
            <a:r>
              <a:rPr dirty="0" sz="850" spc="90">
                <a:solidFill>
                  <a:srgbClr val="492DB8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4D2DBA"/>
                </a:solidFill>
                <a:latin typeface="Times New Roman"/>
                <a:cs typeface="Times New Roman"/>
              </a:rPr>
              <a:t>V</a:t>
            </a:r>
            <a:r>
              <a:rPr dirty="0" sz="850" spc="80">
                <a:solidFill>
                  <a:srgbClr val="4D2DBA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4F2FBF"/>
                </a:solidFill>
                <a:latin typeface="Times New Roman"/>
                <a:cs typeface="Times New Roman"/>
              </a:rPr>
              <a:t>I</a:t>
            </a:r>
            <a:r>
              <a:rPr dirty="0" sz="850" spc="60">
                <a:solidFill>
                  <a:srgbClr val="4F2FB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7C60D6"/>
                </a:solidFill>
                <a:latin typeface="Times New Roman"/>
                <a:cs typeface="Times New Roman"/>
              </a:rPr>
              <a:t>S</a:t>
            </a:r>
            <a:r>
              <a:rPr dirty="0" sz="850" spc="70">
                <a:solidFill>
                  <a:srgbClr val="7C60D6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502ACC"/>
                </a:solidFill>
                <a:latin typeface="Times New Roman"/>
                <a:cs typeface="Times New Roman"/>
              </a:rPr>
              <a:t>E</a:t>
            </a:r>
            <a:r>
              <a:rPr dirty="0" sz="850" spc="105">
                <a:solidFill>
                  <a:srgbClr val="502AC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22FC4"/>
                </a:solidFill>
                <a:latin typeface="Times New Roman"/>
                <a:cs typeface="Times New Roman"/>
              </a:rPr>
              <a:t>D</a:t>
            </a:r>
            <a:r>
              <a:rPr dirty="0" sz="850" spc="475">
                <a:solidFill>
                  <a:srgbClr val="522FC4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4D2AC6"/>
                </a:solidFill>
                <a:latin typeface="Times New Roman"/>
                <a:cs typeface="Times New Roman"/>
              </a:rPr>
              <a:t>L</a:t>
            </a:r>
            <a:r>
              <a:rPr dirty="0" sz="850" spc="125">
                <a:solidFill>
                  <a:srgbClr val="4D2AC6"/>
                </a:solidFill>
                <a:latin typeface="Times New Roman"/>
                <a:cs typeface="Times New Roman"/>
              </a:rPr>
              <a:t> </a:t>
            </a:r>
            <a:r>
              <a:rPr dirty="0" sz="850" spc="-50">
                <a:solidFill>
                  <a:srgbClr val="4F2DC6"/>
                </a:solidFill>
                <a:latin typeface="Times New Roman"/>
                <a:cs typeface="Times New Roman"/>
              </a:rPr>
              <a:t>E</a:t>
            </a:r>
            <a:r>
              <a:rPr dirty="0" sz="850" spc="70">
                <a:solidFill>
                  <a:srgbClr val="4F2DC6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038BA"/>
                </a:solidFill>
                <a:latin typeface="Times New Roman"/>
                <a:cs typeface="Times New Roman"/>
              </a:rPr>
              <a:t>A</a:t>
            </a:r>
            <a:r>
              <a:rPr dirty="0" sz="850" spc="110">
                <a:solidFill>
                  <a:srgbClr val="5038BA"/>
                </a:solidFill>
                <a:latin typeface="Times New Roman"/>
                <a:cs typeface="Times New Roman"/>
              </a:rPr>
              <a:t> </a:t>
            </a:r>
            <a:r>
              <a:rPr dirty="0" sz="850" spc="-25">
                <a:solidFill>
                  <a:srgbClr val="8E79D6"/>
                </a:solidFill>
                <a:latin typeface="Times New Roman"/>
                <a:cs typeface="Times New Roman"/>
              </a:rPr>
              <a:t>R</a:t>
            </a:r>
            <a:r>
              <a:rPr dirty="0" sz="850" spc="155">
                <a:solidFill>
                  <a:srgbClr val="8E79D6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4D28CF"/>
                </a:solidFill>
                <a:latin typeface="Times New Roman"/>
                <a:cs typeface="Times New Roman"/>
              </a:rPr>
              <a:t>N</a:t>
            </a:r>
            <a:r>
              <a:rPr dirty="0" sz="850" spc="100">
                <a:solidFill>
                  <a:srgbClr val="4D28C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633CF"/>
                </a:solidFill>
                <a:latin typeface="Times New Roman"/>
                <a:cs typeface="Times New Roman"/>
              </a:rPr>
              <a:t>I</a:t>
            </a:r>
            <a:r>
              <a:rPr dirty="0" sz="850" spc="130">
                <a:solidFill>
                  <a:srgbClr val="5633CF"/>
                </a:solidFill>
                <a:latin typeface="Times New Roman"/>
                <a:cs typeface="Times New Roman"/>
              </a:rPr>
              <a:t> </a:t>
            </a:r>
            <a:r>
              <a:rPr dirty="0" sz="850" spc="-40">
                <a:solidFill>
                  <a:srgbClr val="4D26CF"/>
                </a:solidFill>
                <a:latin typeface="Times New Roman"/>
                <a:cs typeface="Times New Roman"/>
              </a:rPr>
              <a:t>N</a:t>
            </a:r>
            <a:r>
              <a:rPr dirty="0" sz="850" spc="90">
                <a:solidFill>
                  <a:srgbClr val="4D26CF"/>
                </a:solidFill>
                <a:latin typeface="Times New Roman"/>
                <a:cs typeface="Times New Roman"/>
              </a:rPr>
              <a:t> </a:t>
            </a:r>
            <a:r>
              <a:rPr dirty="0" sz="850" spc="-50">
                <a:solidFill>
                  <a:srgbClr val="502FCC"/>
                </a:solidFill>
                <a:latin typeface="Times New Roman"/>
                <a:cs typeface="Times New Roman"/>
              </a:rPr>
              <a:t>G</a:t>
            </a:r>
            <a:endParaRPr sz="850">
              <a:latin typeface="Times New Roman"/>
              <a:cs typeface="Times New Roman"/>
            </a:endParaRPr>
          </a:p>
          <a:p>
            <a:pPr marL="22225" marR="5080" indent="-10160">
              <a:lnSpc>
                <a:spcPts val="2540"/>
              </a:lnSpc>
              <a:spcBef>
                <a:spcPts val="869"/>
              </a:spcBef>
            </a:pPr>
            <a:r>
              <a:rPr dirty="0" sz="2150">
                <a:solidFill>
                  <a:srgbClr val="0E0E0E"/>
                </a:solidFill>
                <a:latin typeface="Cambria"/>
                <a:cs typeface="Cambria"/>
              </a:rPr>
              <a:t>Motivation</a:t>
            </a:r>
            <a:r>
              <a:rPr dirty="0" sz="2150" spc="11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2150" spc="-25">
                <a:solidFill>
                  <a:srgbClr val="0F0F0F"/>
                </a:solidFill>
                <a:latin typeface="Cambria"/>
                <a:cs typeface="Cambria"/>
              </a:rPr>
              <a:t>for </a:t>
            </a:r>
            <a:r>
              <a:rPr dirty="0" sz="2150" spc="-35">
                <a:solidFill>
                  <a:srgbClr val="0F0F0F"/>
                </a:solidFill>
                <a:latin typeface="Cambria"/>
                <a:cs typeface="Cambria"/>
              </a:rPr>
              <a:t>Unsupervised</a:t>
            </a:r>
            <a:r>
              <a:rPr dirty="0" sz="2150" spc="-3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2150" spc="-10">
                <a:solidFill>
                  <a:srgbClr val="0F0F0F"/>
                </a:solidFill>
                <a:latin typeface="Cambria"/>
                <a:cs typeface="Cambria"/>
              </a:rPr>
              <a:t>Learning</a:t>
            </a:r>
            <a:endParaRPr sz="2150">
              <a:latin typeface="Cambria"/>
              <a:cs typeface="Cambria"/>
            </a:endParaRPr>
          </a:p>
          <a:p>
            <a:pPr marL="37465" marR="87630" indent="1905">
              <a:lnSpc>
                <a:spcPct val="104800"/>
              </a:lnSpc>
              <a:spcBef>
                <a:spcPts val="500"/>
              </a:spcBef>
            </a:pPr>
            <a:r>
              <a:rPr dirty="0" sz="1050">
                <a:solidFill>
                  <a:srgbClr val="707070"/>
                </a:solidFill>
                <a:latin typeface="Times New Roman"/>
                <a:cs typeface="Times New Roman"/>
              </a:rPr>
              <a:t>Understanding</a:t>
            </a:r>
            <a:r>
              <a:rPr dirty="0" sz="1050" spc="150">
                <a:solidFill>
                  <a:srgbClr val="70707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E6E6E"/>
                </a:solidFill>
                <a:latin typeface="Times New Roman"/>
                <a:cs typeface="Times New Roman"/>
              </a:rPr>
              <a:t>the</a:t>
            </a:r>
            <a:r>
              <a:rPr dirty="0" sz="1050" spc="35">
                <a:solidFill>
                  <a:srgbClr val="6E6E6E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E6E6E"/>
                </a:solidFill>
                <a:latin typeface="Times New Roman"/>
                <a:cs typeface="Times New Roman"/>
              </a:rPr>
              <a:t>Importance</a:t>
            </a:r>
            <a:r>
              <a:rPr dirty="0" sz="1050" spc="80">
                <a:solidFill>
                  <a:srgbClr val="6E6E6E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46B77"/>
                </a:solidFill>
                <a:latin typeface="Times New Roman"/>
                <a:cs typeface="Times New Roman"/>
              </a:rPr>
              <a:t>of</a:t>
            </a:r>
            <a:r>
              <a:rPr dirty="0" sz="1050" spc="160">
                <a:solidFill>
                  <a:srgbClr val="646B77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D6D6D"/>
                </a:solidFill>
                <a:latin typeface="Times New Roman"/>
                <a:cs typeface="Times New Roman"/>
              </a:rPr>
              <a:t>Unsupervised </a:t>
            </a:r>
            <a:r>
              <a:rPr dirty="0" sz="1050" spc="-20">
                <a:solidFill>
                  <a:srgbClr val="6E6E6E"/>
                </a:solidFill>
                <a:latin typeface="Times New Roman"/>
                <a:cs typeface="Times New Roman"/>
              </a:rPr>
              <a:t>Learning</a:t>
            </a:r>
            <a:r>
              <a:rPr dirty="0" sz="1050" spc="20">
                <a:solidFill>
                  <a:srgbClr val="6E6E6E"/>
                </a:solidFill>
                <a:latin typeface="Times New Roman"/>
                <a:cs typeface="Times New Roman"/>
              </a:rPr>
              <a:t> </a:t>
            </a:r>
            <a:r>
              <a:rPr dirty="0" sz="1050" spc="-35">
                <a:solidFill>
                  <a:srgbClr val="6E6E6E"/>
                </a:solidFill>
                <a:latin typeface="Times New Roman"/>
                <a:cs typeface="Times New Roman"/>
              </a:rPr>
              <a:t>in</a:t>
            </a:r>
            <a:r>
              <a:rPr dirty="0" sz="1050" spc="80">
                <a:solidFill>
                  <a:srgbClr val="6E6E6E"/>
                </a:solidFill>
                <a:latin typeface="Times New Roman"/>
                <a:cs typeface="Times New Roman"/>
              </a:rPr>
              <a:t> </a:t>
            </a:r>
            <a:r>
              <a:rPr dirty="0" sz="1050" spc="-130">
                <a:solidFill>
                  <a:srgbClr val="6E6E6E"/>
                </a:solidFill>
                <a:latin typeface="Times New Roman"/>
                <a:cs typeface="Times New Roman"/>
              </a:rPr>
              <a:t>FRB</a:t>
            </a:r>
            <a:r>
              <a:rPr dirty="0" sz="1050" spc="65">
                <a:solidFill>
                  <a:srgbClr val="6E6E6E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707070"/>
                </a:solidFill>
                <a:latin typeface="Times New Roman"/>
                <a:cs typeface="Times New Roman"/>
              </a:rPr>
              <a:t>Research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604049" y="441452"/>
            <a:ext cx="1938020" cy="659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0C0C0C"/>
                </a:solidFill>
                <a:latin typeface="Times New Roman"/>
                <a:cs typeface="Times New Roman"/>
              </a:rPr>
              <a:t>Dependence</a:t>
            </a:r>
            <a:r>
              <a:rPr dirty="0" sz="600" spc="8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0E0E0E"/>
                </a:solidFill>
                <a:latin typeface="Times New Roman"/>
                <a:cs typeface="Times New Roman"/>
              </a:rPr>
              <a:t>on</a:t>
            </a:r>
            <a:r>
              <a:rPr dirty="0" sz="600" spc="6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600">
                <a:solidFill>
                  <a:srgbClr val="0C0C0C"/>
                </a:solidFill>
                <a:latin typeface="Times New Roman"/>
                <a:cs typeface="Times New Roman"/>
              </a:rPr>
              <a:t>Labeled</a:t>
            </a:r>
            <a:r>
              <a:rPr dirty="0" sz="600" spc="9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600" spc="-20">
                <a:solidFill>
                  <a:srgbClr val="0C0C0C"/>
                </a:solidFill>
                <a:latin typeface="Times New Roman"/>
                <a:cs typeface="Times New Roman"/>
              </a:rPr>
              <a:t>Data</a:t>
            </a:r>
            <a:endParaRPr sz="600">
              <a:latin typeface="Times New Roman"/>
              <a:cs typeface="Times New Roman"/>
            </a:endParaRPr>
          </a:p>
          <a:p>
            <a:pPr marL="12700" marR="5080" indent="1270">
              <a:lnSpc>
                <a:spcPct val="102499"/>
              </a:lnSpc>
              <a:spcBef>
                <a:spcPts val="459"/>
              </a:spcBef>
            </a:pPr>
            <a:r>
              <a:rPr dirty="0" sz="600" spc="-10">
                <a:solidFill>
                  <a:srgbClr val="0E0E0E"/>
                </a:solidFill>
                <a:latin typeface="Arial MT"/>
                <a:cs typeface="Arial MT"/>
              </a:rPr>
              <a:t>TrodiliOnol</a:t>
            </a:r>
            <a:r>
              <a:rPr dirty="0" sz="600" spc="4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0C0C0C"/>
                </a:solidFill>
                <a:latin typeface="Arial MT"/>
                <a:cs typeface="Arial MT"/>
              </a:rPr>
              <a:t>mochi</a:t>
            </a:r>
            <a:r>
              <a:rPr dirty="0" sz="600" spc="-10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00" spc="-30">
                <a:solidFill>
                  <a:srgbClr val="0E0E0E"/>
                </a:solidFill>
                <a:latin typeface="Arial MT"/>
                <a:cs typeface="Arial MT"/>
              </a:rPr>
              <a:t>ne</a:t>
            </a:r>
            <a:r>
              <a:rPr dirty="0" sz="6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0A0A0A"/>
                </a:solidFill>
                <a:latin typeface="Arial MT"/>
                <a:cs typeface="Arial MT"/>
              </a:rPr>
              <a:t>learning</a:t>
            </a:r>
            <a:r>
              <a:rPr dirty="0" sz="600" spc="3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0C0C0C"/>
                </a:solidFill>
                <a:latin typeface="Arial MT"/>
                <a:cs typeface="Arial MT"/>
              </a:rPr>
              <a:t>methods</a:t>
            </a:r>
            <a:r>
              <a:rPr dirty="0" sz="600" spc="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0F0F0F"/>
                </a:solidFill>
                <a:latin typeface="Arial MT"/>
                <a:cs typeface="Arial MT"/>
              </a:rPr>
              <a:t>often</a:t>
            </a:r>
            <a:r>
              <a:rPr dirty="0" sz="60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0A0A0A"/>
                </a:solidFill>
                <a:latin typeface="Arial MT"/>
                <a:cs typeface="Arial MT"/>
              </a:rPr>
              <a:t>rely</a:t>
            </a:r>
            <a:r>
              <a:rPr dirty="0" sz="600" spc="-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0E0E0E"/>
                </a:solidFill>
                <a:latin typeface="Arial MT"/>
                <a:cs typeface="Arial MT"/>
              </a:rPr>
              <a:t>On</a:t>
            </a:r>
            <a:r>
              <a:rPr dirty="0" sz="60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solidFill>
                  <a:srgbClr val="0C0C0C"/>
                </a:solidFill>
                <a:latin typeface="Arial MT"/>
                <a:cs typeface="Arial MT"/>
              </a:rPr>
              <a:t>labeled</a:t>
            </a:r>
            <a:r>
              <a:rPr dirty="0" sz="650" spc="-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F0F0F"/>
                </a:solidFill>
                <a:latin typeface="Arial MT"/>
                <a:cs typeface="Arial MT"/>
              </a:rPr>
              <a:t>datasets</a:t>
            </a:r>
            <a:r>
              <a:rPr dirty="0" sz="650" spc="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E0E0E"/>
                </a:solidFill>
                <a:latin typeface="Arial MT"/>
                <a:cs typeface="Arial MT"/>
              </a:rPr>
              <a:t>for</a:t>
            </a:r>
            <a:r>
              <a:rPr dirty="0" sz="650" spc="-2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F0F0F"/>
                </a:solidFill>
                <a:latin typeface="Arial MT"/>
                <a:cs typeface="Arial MT"/>
              </a:rPr>
              <a:t>training. </a:t>
            </a:r>
            <a:r>
              <a:rPr dirty="0" sz="650">
                <a:solidFill>
                  <a:srgbClr val="0C0C0C"/>
                </a:solidFill>
                <a:latin typeface="Arial MT"/>
                <a:cs typeface="Arial MT"/>
              </a:rPr>
              <a:t>In</a:t>
            </a:r>
            <a:r>
              <a:rPr dirty="0" sz="650" spc="6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650" spc="-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F0F0F"/>
                </a:solidFill>
                <a:latin typeface="Arial MT"/>
                <a:cs typeface="Arial MT"/>
              </a:rPr>
              <a:t>context</a:t>
            </a:r>
            <a:r>
              <a:rPr dirty="0" sz="650" spc="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E0E0E"/>
                </a:solidFill>
                <a:latin typeface="Arial MT"/>
                <a:cs typeface="Arial MT"/>
              </a:rPr>
              <a:t>of </a:t>
            </a:r>
            <a:r>
              <a:rPr dirty="0" sz="650" spc="-20">
                <a:solidFill>
                  <a:srgbClr val="0F0F0F"/>
                </a:solidFill>
                <a:latin typeface="Arial MT"/>
                <a:cs typeface="Arial MT"/>
              </a:rPr>
              <a:t>Fast</a:t>
            </a:r>
            <a:r>
              <a:rPr dirty="0" sz="65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40">
                <a:solidFill>
                  <a:srgbClr val="0F0F0F"/>
                </a:solidFill>
                <a:latin typeface="Arial MT"/>
                <a:cs typeface="Arial MT"/>
              </a:rPr>
              <a:t>Radio</a:t>
            </a:r>
            <a:r>
              <a:rPr dirty="0" sz="650" spc="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solidFill>
                  <a:srgbClr val="0F0F0F"/>
                </a:solidFill>
                <a:latin typeface="Arial MT"/>
                <a:cs typeface="Arial MT"/>
              </a:rPr>
              <a:t>Bursts</a:t>
            </a:r>
            <a:r>
              <a:rPr dirty="0" sz="65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45">
                <a:solidFill>
                  <a:srgbClr val="0F0F0F"/>
                </a:solidFill>
                <a:latin typeface="Arial MT"/>
                <a:cs typeface="Arial MT"/>
              </a:rPr>
              <a:t>(FRBs),</a:t>
            </a:r>
            <a:r>
              <a:rPr dirty="0" sz="6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0C0C0C"/>
                </a:solidFill>
                <a:latin typeface="Arial MT"/>
                <a:cs typeface="Arial MT"/>
              </a:rPr>
              <a:t>the</a:t>
            </a:r>
            <a:r>
              <a:rPr dirty="0" sz="650" spc="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E0E0E"/>
                </a:solidFill>
                <a:latin typeface="Arial MT"/>
                <a:cs typeface="Arial MT"/>
              </a:rPr>
              <a:t>scarcity</a:t>
            </a:r>
            <a:r>
              <a:rPr dirty="0" sz="650" spc="1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E0E0E"/>
                </a:solidFill>
                <a:latin typeface="Arial MT"/>
                <a:cs typeface="Arial MT"/>
              </a:rPr>
              <a:t>of</a:t>
            </a:r>
            <a:r>
              <a:rPr dirty="0" sz="650" spc="-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solidFill>
                  <a:srgbClr val="0F0F0F"/>
                </a:solidFill>
                <a:latin typeface="Arial MT"/>
                <a:cs typeface="Arial MT"/>
              </a:rPr>
              <a:t>labeled</a:t>
            </a:r>
            <a:r>
              <a:rPr dirty="0" sz="650" spc="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A0A0A"/>
                </a:solidFill>
                <a:latin typeface="Arial MT"/>
                <a:cs typeface="Arial MT"/>
              </a:rPr>
              <a:t>data</a:t>
            </a:r>
            <a:r>
              <a:rPr dirty="0" sz="650" spc="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F0F0F"/>
                </a:solidFill>
                <a:latin typeface="Arial MT"/>
                <a:cs typeface="Arial MT"/>
              </a:rPr>
              <a:t>poses</a:t>
            </a:r>
            <a:r>
              <a:rPr dirty="0" sz="65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0E0E0E"/>
                </a:solidFill>
                <a:latin typeface="Arial MT"/>
                <a:cs typeface="Arial MT"/>
              </a:rPr>
              <a:t>significant</a:t>
            </a:r>
            <a:r>
              <a:rPr dirty="0" sz="600" spc="2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0E0E0E"/>
                </a:solidFill>
                <a:latin typeface="Arial MT"/>
                <a:cs typeface="Arial MT"/>
              </a:rPr>
              <a:t>challenges.</a:t>
            </a:r>
            <a:r>
              <a:rPr dirty="0" sz="600" spc="5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0F0F0F"/>
                </a:solidFill>
                <a:latin typeface="Arial MT"/>
                <a:cs typeface="Arial MT"/>
              </a:rPr>
              <a:t>particularly</a:t>
            </a:r>
            <a:r>
              <a:rPr dirty="0" sz="600" spc="7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0F0F0F"/>
                </a:solidFill>
                <a:latin typeface="Arial MT"/>
                <a:cs typeface="Arial MT"/>
              </a:rPr>
              <a:t>due</a:t>
            </a:r>
            <a:r>
              <a:rPr dirty="0" sz="600" spc="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to</a:t>
            </a:r>
            <a:r>
              <a:rPr dirty="0" sz="600" spc="8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0F0F0F"/>
                </a:solidFill>
                <a:latin typeface="Arial MT"/>
                <a:cs typeface="Arial MT"/>
              </a:rPr>
              <a:t>obser</a:t>
            </a:r>
            <a:r>
              <a:rPr dirty="0" sz="600" spc="-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0E0E0E"/>
                </a:solidFill>
                <a:latin typeface="Arial MT"/>
                <a:cs typeface="Arial MT"/>
              </a:rPr>
              <a:t>vational</a:t>
            </a:r>
            <a:r>
              <a:rPr dirty="0" sz="60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0C0C0C"/>
                </a:solidFill>
                <a:latin typeface="Arial MT"/>
                <a:cs typeface="Arial MT"/>
              </a:rPr>
              <a:t>limitations</a:t>
            </a:r>
            <a:r>
              <a:rPr dirty="0" sz="600" spc="7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dirty="0" sz="600" spc="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0E0E0E"/>
                </a:solidFill>
                <a:latin typeface="Arial MT"/>
                <a:cs typeface="Arial MT"/>
              </a:rPr>
              <a:t>the</a:t>
            </a:r>
            <a:r>
              <a:rPr dirty="0" sz="600" spc="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rarity</a:t>
            </a:r>
            <a:r>
              <a:rPr dirty="0" sz="60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2A2A2A"/>
                </a:solidFill>
                <a:latin typeface="Arial MT"/>
                <a:cs typeface="Arial MT"/>
              </a:rPr>
              <a:t>of</a:t>
            </a:r>
            <a:r>
              <a:rPr dirty="0" sz="600" spc="7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0E0E0E"/>
                </a:solidFill>
                <a:latin typeface="Arial MT"/>
                <a:cs typeface="Arial MT"/>
              </a:rPr>
              <a:t>these</a:t>
            </a:r>
            <a:r>
              <a:rPr dirty="0" sz="600" spc="4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0C0C0C"/>
                </a:solidFill>
                <a:latin typeface="Arial MT"/>
                <a:cs typeface="Arial MT"/>
              </a:rPr>
              <a:t>events.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991223" y="1385929"/>
            <a:ext cx="1953260" cy="71818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555"/>
              </a:spcBef>
            </a:pPr>
            <a:r>
              <a:rPr dirty="0" sz="650" spc="-45">
                <a:solidFill>
                  <a:srgbClr val="0F0F0F"/>
                </a:solidFill>
                <a:latin typeface="Times New Roman"/>
                <a:cs typeface="Times New Roman"/>
              </a:rPr>
              <a:t>Role</a:t>
            </a:r>
            <a:r>
              <a:rPr dirty="0" sz="6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650" spc="-10">
                <a:solidFill>
                  <a:srgbClr val="0E0E0E"/>
                </a:solidFill>
                <a:latin typeface="Times New Roman"/>
                <a:cs typeface="Times New Roman"/>
              </a:rPr>
              <a:t>of </a:t>
            </a:r>
            <a:r>
              <a:rPr dirty="0" sz="650" spc="-10">
                <a:solidFill>
                  <a:srgbClr val="0F0F0F"/>
                </a:solidFill>
                <a:latin typeface="Times New Roman"/>
                <a:cs typeface="Times New Roman"/>
              </a:rPr>
              <a:t>Unsupervised</a:t>
            </a:r>
            <a:r>
              <a:rPr dirty="0" sz="6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650" spc="-10">
                <a:solidFill>
                  <a:srgbClr val="0E0E0E"/>
                </a:solidFill>
                <a:latin typeface="Times New Roman"/>
                <a:cs typeface="Times New Roman"/>
              </a:rPr>
              <a:t>Learning</a:t>
            </a:r>
            <a:endParaRPr sz="650">
              <a:latin typeface="Times New Roman"/>
              <a:cs typeface="Times New Roman"/>
            </a:endParaRPr>
          </a:p>
          <a:p>
            <a:pPr marL="13335" marR="5080" indent="5080">
              <a:lnSpc>
                <a:spcPct val="106700"/>
              </a:lnSpc>
              <a:spcBef>
                <a:spcPts val="375"/>
              </a:spcBef>
            </a:pPr>
            <a:r>
              <a:rPr dirty="0" sz="600" spc="-55">
                <a:solidFill>
                  <a:srgbClr val="0C0C0C"/>
                </a:solidFill>
                <a:latin typeface="Courier New"/>
                <a:cs typeface="Courier New"/>
              </a:rPr>
              <a:t>Unsupe&lt;Gsedmochneleofnng›echnquespcovdeo</a:t>
            </a:r>
            <a:r>
              <a:rPr dirty="0" sz="600" spc="50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600" spc="-75">
                <a:solidFill>
                  <a:srgbClr val="0C0C0C"/>
                </a:solidFill>
                <a:latin typeface="Courier New"/>
                <a:cs typeface="Courier New"/>
              </a:rPr>
              <a:t>powerful </a:t>
            </a:r>
            <a:r>
              <a:rPr dirty="0" sz="600" spc="-60">
                <a:solidFill>
                  <a:srgbClr val="0C0C0C"/>
                </a:solidFill>
                <a:latin typeface="Courier New"/>
                <a:cs typeface="Courier New"/>
              </a:rPr>
              <a:t>obefnotivebyofo^ing&lt;eseochestoonolyelo&lt;gevoumesot </a:t>
            </a:r>
            <a:r>
              <a:rPr dirty="0" sz="600" spc="-65">
                <a:solidFill>
                  <a:srgbClr val="0C0C0C"/>
                </a:solidFill>
                <a:latin typeface="Courier New"/>
                <a:cs typeface="Courier New"/>
              </a:rPr>
              <a:t>unobeteddoto.Thsmehodhelosinuncoveñog</a:t>
            </a:r>
            <a:r>
              <a:rPr dirty="0" sz="600" spc="204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600" spc="-10">
                <a:solidFill>
                  <a:srgbClr val="0F0F0F"/>
                </a:solidFill>
                <a:latin typeface="Courier New"/>
                <a:cs typeface="Courier New"/>
              </a:rPr>
              <a:t>hdden </a:t>
            </a:r>
            <a:r>
              <a:rPr dirty="0" sz="600" spc="-75">
                <a:solidFill>
                  <a:srgbClr val="0A0A0A"/>
                </a:solidFill>
                <a:latin typeface="Courier New"/>
                <a:cs typeface="Courier New"/>
              </a:rPr>
              <a:t>potternsond&lt;etofionshpswithnthedoto,whchcon</a:t>
            </a:r>
            <a:r>
              <a:rPr dirty="0" sz="600" spc="165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600" spc="-25">
                <a:solidFill>
                  <a:srgbClr val="111111"/>
                </a:solidFill>
                <a:latin typeface="Courier New"/>
                <a:cs typeface="Courier New"/>
              </a:rPr>
              <a:t>be</a:t>
            </a:r>
            <a:endParaRPr sz="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600" spc="-60">
                <a:solidFill>
                  <a:srgbClr val="0F0F0F"/>
                </a:solidFill>
                <a:latin typeface="Courier New"/>
                <a:cs typeface="Courier New"/>
              </a:rPr>
              <a:t>c</a:t>
            </a:r>
            <a:r>
              <a:rPr dirty="0" sz="600" spc="-80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600" spc="-85">
                <a:solidFill>
                  <a:srgbClr val="0F0F0F"/>
                </a:solidFill>
                <a:latin typeface="Courier New"/>
                <a:cs typeface="Courier New"/>
              </a:rPr>
              <a:t>ucolTocodvoncing</a:t>
            </a:r>
            <a:r>
              <a:rPr dirty="0" sz="600" spc="-140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600" spc="-75">
                <a:solidFill>
                  <a:srgbClr val="0F0F0F"/>
                </a:solidFill>
                <a:latin typeface="Courier New"/>
                <a:cs typeface="Courier New"/>
              </a:rPr>
              <a:t>oucundernonding</a:t>
            </a:r>
            <a:r>
              <a:rPr dirty="0" sz="600" spc="-130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dirty="0" sz="600" spc="-10">
                <a:solidFill>
                  <a:srgbClr val="0F0F0F"/>
                </a:solidFill>
                <a:latin typeface="Courier New"/>
                <a:cs typeface="Courier New"/>
              </a:rPr>
              <a:t>ofFPBs.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378307" y="2360050"/>
            <a:ext cx="1959610" cy="80899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600" spc="30">
                <a:solidFill>
                  <a:srgbClr val="0C0C0C"/>
                </a:solidFill>
                <a:latin typeface="Calibri"/>
                <a:cs typeface="Calibri"/>
              </a:rPr>
              <a:t>Utilizing</a:t>
            </a:r>
            <a:r>
              <a:rPr dirty="0" sz="600" spc="-4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600" spc="30">
                <a:solidFill>
                  <a:srgbClr val="0C0C0C"/>
                </a:solidFill>
                <a:latin typeface="Calibri"/>
                <a:cs typeface="Calibri"/>
              </a:rPr>
              <a:t>CHIME's</a:t>
            </a:r>
            <a:r>
              <a:rPr dirty="0" sz="600" spc="-1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600" spc="30">
                <a:solidFill>
                  <a:srgbClr val="111111"/>
                </a:solidFill>
                <a:latin typeface="Calibri"/>
                <a:cs typeface="Calibri"/>
              </a:rPr>
              <a:t>rRa</a:t>
            </a:r>
            <a:r>
              <a:rPr dirty="0" sz="600" spc="14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600" spc="-10">
                <a:solidFill>
                  <a:srgbClr val="111111"/>
                </a:solidFill>
                <a:latin typeface="Calibri"/>
                <a:cs typeface="Calibri"/>
              </a:rPr>
              <a:t>Catalog</a:t>
            </a:r>
            <a:endParaRPr sz="600">
              <a:latin typeface="Calibri"/>
              <a:cs typeface="Calibri"/>
            </a:endParaRPr>
          </a:p>
          <a:p>
            <a:pPr marL="13970" marR="5080" indent="2540">
              <a:lnSpc>
                <a:spcPct val="98500"/>
              </a:lnSpc>
              <a:spcBef>
                <a:spcPts val="440"/>
              </a:spcBef>
            </a:pPr>
            <a:r>
              <a:rPr dirty="0" sz="650" spc="-7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6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solidFill>
                  <a:srgbClr val="0E0E0E"/>
                </a:solidFill>
                <a:latin typeface="Arial MT"/>
                <a:cs typeface="Arial MT"/>
              </a:rPr>
              <a:t>Canadian</a:t>
            </a:r>
            <a:r>
              <a:rPr dirty="0" sz="650" spc="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solidFill>
                  <a:srgbClr val="0A0A0A"/>
                </a:solidFill>
                <a:latin typeface="Arial MT"/>
                <a:cs typeface="Arial MT"/>
              </a:rPr>
              <a:t>Hydrogen</a:t>
            </a:r>
            <a:r>
              <a:rPr dirty="0" sz="650" spc="-1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F0F0F"/>
                </a:solidFill>
                <a:latin typeface="Arial MT"/>
                <a:cs typeface="Arial MT"/>
              </a:rPr>
              <a:t>Intensity</a:t>
            </a:r>
            <a:r>
              <a:rPr dirty="0" sz="650" spc="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0F0F0F"/>
                </a:solidFill>
                <a:latin typeface="Arial MT"/>
                <a:cs typeface="Arial MT"/>
              </a:rPr>
              <a:t>Mapping</a:t>
            </a:r>
            <a:r>
              <a:rPr dirty="0" sz="650" spc="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C0C0C"/>
                </a:solidFill>
                <a:latin typeface="Arial MT"/>
                <a:cs typeface="Arial MT"/>
              </a:rPr>
              <a:t>Experiment</a:t>
            </a:r>
            <a:r>
              <a:rPr dirty="0" sz="650" spc="5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75">
                <a:solidFill>
                  <a:srgbClr val="0E0E0E"/>
                </a:solidFill>
                <a:latin typeface="Arial MT"/>
                <a:cs typeface="Arial MT"/>
              </a:rPr>
              <a:t>(CHIMES</a:t>
            </a:r>
            <a:r>
              <a:rPr dirty="0" sz="650" spc="3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50" spc="-35">
                <a:solidFill>
                  <a:srgbClr val="0C0C0C"/>
                </a:solidFill>
                <a:latin typeface="Arial MT"/>
                <a:cs typeface="Arial MT"/>
              </a:rPr>
              <a:t>has</a:t>
            </a:r>
            <a:r>
              <a:rPr dirty="0" sz="650" spc="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A0A0A"/>
                </a:solidFill>
                <a:latin typeface="Arial MT"/>
                <a:cs typeface="Arial MT"/>
              </a:rPr>
              <a:t>compiled</a:t>
            </a:r>
            <a:r>
              <a:rPr dirty="0" sz="650" spc="2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650" spc="-35">
                <a:solidFill>
                  <a:srgbClr val="0E0E0E"/>
                </a:solidFill>
                <a:latin typeface="Arial MT"/>
                <a:cs typeface="Arial MT"/>
              </a:rPr>
              <a:t>on</a:t>
            </a:r>
            <a:r>
              <a:rPr dirty="0" sz="650" spc="-1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solidFill>
                  <a:srgbClr val="0C0C0C"/>
                </a:solidFill>
                <a:latin typeface="Arial MT"/>
                <a:cs typeface="Arial MT"/>
              </a:rPr>
              <a:t>extensive</a:t>
            </a:r>
            <a:r>
              <a:rPr dirty="0" sz="650" spc="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0C0C0C"/>
                </a:solidFill>
                <a:latin typeface="Arial MT"/>
                <a:cs typeface="Arial MT"/>
              </a:rPr>
              <a:t>catalog</a:t>
            </a:r>
            <a:r>
              <a:rPr dirty="0" sz="650" spc="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E0E0E"/>
                </a:solidFill>
                <a:latin typeface="Arial MT"/>
                <a:cs typeface="Arial MT"/>
              </a:rPr>
              <a:t>of</a:t>
            </a:r>
            <a:r>
              <a:rPr dirty="0" sz="650" spc="5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50" spc="-55">
                <a:solidFill>
                  <a:srgbClr val="0E0E0E"/>
                </a:solidFill>
                <a:latin typeface="Arial MT"/>
                <a:cs typeface="Arial MT"/>
              </a:rPr>
              <a:t>*RBs.</a:t>
            </a:r>
            <a:r>
              <a:rPr dirty="0" sz="650" spc="3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C0C0C"/>
                </a:solidFill>
                <a:latin typeface="Arial MT"/>
                <a:cs typeface="Arial MT"/>
              </a:rPr>
              <a:t>By</a:t>
            </a:r>
            <a:r>
              <a:rPr dirty="0" sz="650" spc="5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0C0C0C"/>
                </a:solidFill>
                <a:latin typeface="Arial MT"/>
                <a:cs typeface="Arial MT"/>
              </a:rPr>
              <a:t>apolying</a:t>
            </a:r>
            <a:r>
              <a:rPr dirty="0" sz="650" spc="-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solidFill>
                  <a:srgbClr val="0C0C0C"/>
                </a:solidFill>
                <a:latin typeface="Arial MT"/>
                <a:cs typeface="Arial MT"/>
              </a:rPr>
              <a:t>unsupervised</a:t>
            </a:r>
            <a:r>
              <a:rPr dirty="0" sz="650" spc="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C0C0C"/>
                </a:solidFill>
                <a:latin typeface="Arial MT"/>
                <a:cs typeface="Arial MT"/>
              </a:rPr>
              <a:t>learning</a:t>
            </a:r>
            <a:r>
              <a:rPr dirty="0" sz="650" spc="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111111"/>
                </a:solidFill>
                <a:latin typeface="Arial MT"/>
                <a:cs typeface="Arial MT"/>
              </a:rPr>
              <a:t>to</a:t>
            </a:r>
            <a:r>
              <a:rPr dirty="0" sz="65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131313"/>
                </a:solidFill>
                <a:latin typeface="Arial MT"/>
                <a:cs typeface="Arial MT"/>
              </a:rPr>
              <a:t>this</a:t>
            </a:r>
            <a:r>
              <a:rPr dirty="0" sz="650" spc="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solidFill>
                  <a:srgbClr val="151515"/>
                </a:solidFill>
                <a:latin typeface="Arial MT"/>
                <a:cs typeface="Arial MT"/>
              </a:rPr>
              <a:t>rich</a:t>
            </a:r>
            <a:r>
              <a:rPr dirty="0" sz="650" spc="-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E0E0E"/>
                </a:solidFill>
                <a:latin typeface="Arial MT"/>
                <a:cs typeface="Arial MT"/>
              </a:rPr>
              <a:t>dataset,</a:t>
            </a:r>
            <a:r>
              <a:rPr dirty="0" sz="65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solidFill>
                  <a:srgbClr val="0A0A0A"/>
                </a:solidFill>
                <a:latin typeface="Arial MT"/>
                <a:cs typeface="Arial MT"/>
              </a:rPr>
              <a:t>researchers</a:t>
            </a:r>
            <a:r>
              <a:rPr dirty="0" sz="650" spc="2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650" spc="-35">
                <a:solidFill>
                  <a:srgbClr val="0C0C0C"/>
                </a:solidFill>
                <a:latin typeface="Arial MT"/>
                <a:cs typeface="Arial MT"/>
              </a:rPr>
              <a:t>can</a:t>
            </a:r>
            <a:r>
              <a:rPr dirty="0" sz="650" spc="-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A0A0A"/>
                </a:solidFill>
                <a:latin typeface="Arial MT"/>
                <a:cs typeface="Arial MT"/>
              </a:rPr>
              <a:t>effectively</a:t>
            </a:r>
            <a:r>
              <a:rPr dirty="0" sz="650" spc="2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F0F0F"/>
                </a:solidFill>
                <a:latin typeface="Arial MT"/>
                <a:cs typeface="Arial MT"/>
              </a:rPr>
              <a:t>differentiate</a:t>
            </a:r>
            <a:r>
              <a:rPr dirty="0" sz="650" spc="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E0E0E"/>
                </a:solidFill>
                <a:latin typeface="Arial MT"/>
                <a:cs typeface="Arial MT"/>
              </a:rPr>
              <a:t>between</a:t>
            </a:r>
            <a:r>
              <a:rPr dirty="0" sz="65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C0C0C"/>
                </a:solidFill>
                <a:latin typeface="Arial MT"/>
                <a:cs typeface="Arial MT"/>
              </a:rPr>
              <a:t>repeaters</a:t>
            </a:r>
            <a:r>
              <a:rPr dirty="0" sz="650" spc="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70">
                <a:solidFill>
                  <a:srgbClr val="0E0E0E"/>
                </a:solidFill>
                <a:latin typeface="Arial MT"/>
                <a:cs typeface="Arial MT"/>
              </a:rPr>
              <a:t>Ond</a:t>
            </a:r>
            <a:r>
              <a:rPr dirty="0" sz="650" spc="1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solidFill>
                  <a:srgbClr val="0C0C0C"/>
                </a:solidFill>
                <a:latin typeface="Arial MT"/>
                <a:cs typeface="Arial MT"/>
              </a:rPr>
              <a:t>non-</a:t>
            </a:r>
            <a:r>
              <a:rPr dirty="0" sz="650" spc="-25">
                <a:solidFill>
                  <a:srgbClr val="0C0C0C"/>
                </a:solidFill>
                <a:latin typeface="Arial MT"/>
                <a:cs typeface="Arial MT"/>
              </a:rPr>
              <a:t>repeaters,</a:t>
            </a:r>
            <a:r>
              <a:rPr dirty="0" sz="650" spc="-3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solidFill>
                  <a:srgbClr val="0C0C0C"/>
                </a:solidFill>
                <a:latin typeface="Arial MT"/>
                <a:cs typeface="Arial MT"/>
              </a:rPr>
              <a:t>enhancing</a:t>
            </a:r>
            <a:r>
              <a:rPr dirty="0" sz="650" spc="5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C0C0C"/>
                </a:solidFill>
                <a:latin typeface="Arial MT"/>
                <a:cs typeface="Arial MT"/>
              </a:rPr>
              <a:t>our</a:t>
            </a:r>
            <a:r>
              <a:rPr dirty="0" sz="650" spc="3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E0E0E"/>
                </a:solidFill>
                <a:latin typeface="Arial MT"/>
                <a:cs typeface="Arial MT"/>
              </a:rPr>
              <a:t>knowledge</a:t>
            </a:r>
            <a:r>
              <a:rPr dirty="0" sz="65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0C0C0C"/>
                </a:solidFill>
                <a:latin typeface="Arial MT"/>
                <a:cs typeface="Arial MT"/>
              </a:rPr>
              <a:t>and</a:t>
            </a:r>
            <a:r>
              <a:rPr dirty="0" sz="650" spc="-3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E0E0E"/>
                </a:solidFill>
                <a:latin typeface="Arial MT"/>
                <a:cs typeface="Arial MT"/>
              </a:rPr>
              <a:t>quidinq</a:t>
            </a:r>
            <a:r>
              <a:rPr dirty="0" sz="650" spc="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F0F0F"/>
                </a:solidFill>
                <a:latin typeface="Arial MT"/>
                <a:cs typeface="Arial MT"/>
              </a:rPr>
              <a:t>future</a:t>
            </a:r>
            <a:r>
              <a:rPr dirty="0" sz="650" spc="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C0C0C"/>
                </a:solidFill>
                <a:latin typeface="Arial MT"/>
                <a:cs typeface="Arial MT"/>
              </a:rPr>
              <a:t>observational</a:t>
            </a:r>
            <a:r>
              <a:rPr dirty="0" sz="650" spc="4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F0F0F"/>
                </a:solidFill>
                <a:latin typeface="Arial MT"/>
                <a:cs typeface="Arial MT"/>
              </a:rPr>
              <a:t>efforts.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771906" y="3362705"/>
            <a:ext cx="1923414" cy="81534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520"/>
              </a:spcBef>
            </a:pPr>
            <a:r>
              <a:rPr dirty="0" sz="650">
                <a:solidFill>
                  <a:srgbClr val="0A0A0A"/>
                </a:solidFill>
                <a:latin typeface="Times New Roman"/>
                <a:cs typeface="Times New Roman"/>
              </a:rPr>
              <a:t>Implications</a:t>
            </a:r>
            <a:r>
              <a:rPr dirty="0" sz="650" spc="-15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65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dirty="0" sz="650" spc="-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650">
                <a:solidFill>
                  <a:srgbClr val="0A0A0A"/>
                </a:solidFill>
                <a:latin typeface="Times New Roman"/>
                <a:cs typeface="Times New Roman"/>
              </a:rPr>
              <a:t>Future</a:t>
            </a:r>
            <a:r>
              <a:rPr dirty="0" sz="650" spc="-15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650" spc="-10">
                <a:solidFill>
                  <a:srgbClr val="080808"/>
                </a:solidFill>
                <a:latin typeface="Times New Roman"/>
                <a:cs typeface="Times New Roman"/>
              </a:rPr>
              <a:t>Research</a:t>
            </a:r>
            <a:endParaRPr sz="650">
              <a:latin typeface="Times New Roman"/>
              <a:cs typeface="Times New Roman"/>
            </a:endParaRPr>
          </a:p>
          <a:p>
            <a:pPr marL="12700" marR="5080" indent="635">
              <a:lnSpc>
                <a:spcPct val="97800"/>
              </a:lnSpc>
              <a:spcBef>
                <a:spcPts val="434"/>
              </a:spcBef>
            </a:pPr>
            <a:r>
              <a:rPr dirty="0" sz="650" spc="-70">
                <a:solidFill>
                  <a:srgbClr val="131313"/>
                </a:solidFill>
                <a:latin typeface="Arial MT"/>
                <a:cs typeface="Arial MT"/>
              </a:rPr>
              <a:t>The</a:t>
            </a:r>
            <a:r>
              <a:rPr dirty="0" sz="65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0C0C0C"/>
                </a:solidFill>
                <a:latin typeface="Arial MT"/>
                <a:cs typeface="Arial MT"/>
              </a:rPr>
              <a:t>insights</a:t>
            </a:r>
            <a:r>
              <a:rPr dirty="0" sz="650" spc="-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0C0C0C"/>
                </a:solidFill>
                <a:latin typeface="Arial MT"/>
                <a:cs typeface="Arial MT"/>
              </a:rPr>
              <a:t>gained</a:t>
            </a:r>
            <a:r>
              <a:rPr dirty="0" sz="650" spc="4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F0F0F"/>
                </a:solidFill>
                <a:latin typeface="Arial MT"/>
                <a:cs typeface="Arial MT"/>
              </a:rPr>
              <a:t>from</a:t>
            </a:r>
            <a:r>
              <a:rPr dirty="0" sz="650" spc="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35">
                <a:solidFill>
                  <a:srgbClr val="0F0F0F"/>
                </a:solidFill>
                <a:latin typeface="Arial MT"/>
                <a:cs typeface="Arial MT"/>
              </a:rPr>
              <a:t>unsupervised</a:t>
            </a:r>
            <a:r>
              <a:rPr dirty="0" sz="650" spc="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F0F0F"/>
                </a:solidFill>
                <a:latin typeface="Arial MT"/>
                <a:cs typeface="Arial MT"/>
              </a:rPr>
              <a:t>learning</a:t>
            </a:r>
            <a:r>
              <a:rPr dirty="0" sz="650" spc="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131313"/>
                </a:solidFill>
                <a:latin typeface="Arial MT"/>
                <a:cs typeface="Arial MT"/>
              </a:rPr>
              <a:t>con</a:t>
            </a:r>
            <a:r>
              <a:rPr dirty="0" sz="650" spc="50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131313"/>
                </a:solidFill>
                <a:latin typeface="Arial MT"/>
                <a:cs typeface="Arial MT"/>
              </a:rPr>
              <a:t>inform</a:t>
            </a:r>
            <a:r>
              <a:rPr dirty="0" sz="650" spc="1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C0C0C"/>
                </a:solidFill>
                <a:latin typeface="Arial MT"/>
                <a:cs typeface="Arial MT"/>
              </a:rPr>
              <a:t>future</a:t>
            </a:r>
            <a:r>
              <a:rPr dirty="0" sz="650" spc="-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E0E0E"/>
                </a:solidFill>
                <a:latin typeface="Arial MT"/>
                <a:cs typeface="Arial MT"/>
              </a:rPr>
              <a:t>observational</a:t>
            </a:r>
            <a:r>
              <a:rPr dirty="0" sz="650" spc="5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F0F0F"/>
                </a:solidFill>
                <a:latin typeface="Arial MT"/>
                <a:cs typeface="Arial MT"/>
              </a:rPr>
              <a:t>strategies,</a:t>
            </a:r>
            <a:r>
              <a:rPr dirty="0" sz="650" spc="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0C0C0C"/>
                </a:solidFill>
                <a:latin typeface="Arial MT"/>
                <a:cs typeface="Arial MT"/>
              </a:rPr>
              <a:t>leading</a:t>
            </a:r>
            <a:r>
              <a:rPr dirty="0" sz="650" spc="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131313"/>
                </a:solidFill>
                <a:latin typeface="Arial MT"/>
                <a:cs typeface="Arial MT"/>
              </a:rPr>
              <a:t>to</a:t>
            </a:r>
            <a:r>
              <a:rPr dirty="0" sz="650" spc="-3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0F0F0F"/>
                </a:solidFill>
                <a:latin typeface="Arial MT"/>
                <a:cs typeface="Arial MT"/>
              </a:rPr>
              <a:t>more</a:t>
            </a:r>
            <a:r>
              <a:rPr dirty="0" sz="65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F0F0F"/>
                </a:solidFill>
                <a:latin typeface="Arial MT"/>
                <a:cs typeface="Arial MT"/>
              </a:rPr>
              <a:t>targeted</a:t>
            </a:r>
            <a:r>
              <a:rPr dirty="0" sz="65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dirty="0" sz="65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E0E0E"/>
                </a:solidFill>
                <a:latin typeface="Arial MT"/>
                <a:cs typeface="Arial MT"/>
              </a:rPr>
              <a:t>efficient</a:t>
            </a:r>
            <a:r>
              <a:rPr dirty="0" sz="650" spc="2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C0C0C"/>
                </a:solidFill>
                <a:latin typeface="Arial MT"/>
                <a:cs typeface="Arial MT"/>
              </a:rPr>
              <a:t>studies</a:t>
            </a:r>
            <a:r>
              <a:rPr dirty="0" sz="65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F0F0F"/>
                </a:solidFill>
                <a:latin typeface="Arial MT"/>
                <a:cs typeface="Arial MT"/>
              </a:rPr>
              <a:t>of</a:t>
            </a:r>
            <a:r>
              <a:rPr dirty="0" sz="650" spc="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75">
                <a:solidFill>
                  <a:srgbClr val="0F0F0F"/>
                </a:solidFill>
                <a:latin typeface="Arial MT"/>
                <a:cs typeface="Arial MT"/>
              </a:rPr>
              <a:t>FRBs.</a:t>
            </a:r>
            <a:r>
              <a:rPr dirty="0" sz="650" spc="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50">
                <a:solidFill>
                  <a:srgbClr val="0C0C0C"/>
                </a:solidFill>
                <a:latin typeface="Arial MT"/>
                <a:cs typeface="Arial MT"/>
              </a:rPr>
              <a:t>This</a:t>
            </a:r>
            <a:r>
              <a:rPr dirty="0" sz="650" spc="-10">
                <a:solidFill>
                  <a:srgbClr val="0C0C0C"/>
                </a:solidFill>
                <a:latin typeface="Arial MT"/>
                <a:cs typeface="Arial MT"/>
              </a:rPr>
              <a:t> approach</a:t>
            </a:r>
            <a:r>
              <a:rPr dirty="0" sz="650" spc="5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F0F0F"/>
                </a:solidFill>
                <a:latin typeface="Arial MT"/>
                <a:cs typeface="Arial MT"/>
              </a:rPr>
              <a:t>holds</a:t>
            </a:r>
            <a:r>
              <a:rPr dirty="0" sz="650" spc="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C0C0C"/>
                </a:solidFill>
                <a:latin typeface="Arial MT"/>
                <a:cs typeface="Arial MT"/>
              </a:rPr>
              <a:t>the</a:t>
            </a:r>
            <a:r>
              <a:rPr dirty="0" sz="650" spc="-4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F0F0F"/>
                </a:solidFill>
                <a:latin typeface="Arial MT"/>
                <a:cs typeface="Arial MT"/>
              </a:rPr>
              <a:t>potential</a:t>
            </a:r>
            <a:r>
              <a:rPr dirty="0" sz="650" spc="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F0F0F"/>
                </a:solidFill>
                <a:latin typeface="Arial MT"/>
                <a:cs typeface="Arial MT"/>
              </a:rPr>
              <a:t>to</a:t>
            </a:r>
            <a:r>
              <a:rPr dirty="0" sz="650" spc="-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E0E0E"/>
                </a:solidFill>
                <a:latin typeface="Arial MT"/>
                <a:cs typeface="Arial MT"/>
              </a:rPr>
              <a:t>unlock</a:t>
            </a:r>
            <a:r>
              <a:rPr dirty="0" sz="650" spc="2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50" spc="-55">
                <a:solidFill>
                  <a:srgbClr val="0E0E0E"/>
                </a:solidFill>
                <a:latin typeface="Arial MT"/>
                <a:cs typeface="Arial MT"/>
              </a:rPr>
              <a:t>new</a:t>
            </a:r>
            <a:r>
              <a:rPr dirty="0" sz="650" spc="-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C0C0C"/>
                </a:solidFill>
                <a:latin typeface="Arial MT"/>
                <a:cs typeface="Arial MT"/>
              </a:rPr>
              <a:t>discoveries</a:t>
            </a:r>
            <a:r>
              <a:rPr dirty="0" sz="650" spc="3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E0E0E"/>
                </a:solidFill>
                <a:latin typeface="Arial MT"/>
                <a:cs typeface="Arial MT"/>
              </a:rPr>
              <a:t>and</a:t>
            </a:r>
            <a:r>
              <a:rPr dirty="0" sz="65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50" spc="-35">
                <a:solidFill>
                  <a:srgbClr val="0E0E0E"/>
                </a:solidFill>
                <a:latin typeface="Arial MT"/>
                <a:cs typeface="Arial MT"/>
              </a:rPr>
              <a:t>deeoen</a:t>
            </a:r>
            <a:r>
              <a:rPr dirty="0" sz="650" spc="-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131313"/>
                </a:solidFill>
                <a:latin typeface="Arial MT"/>
                <a:cs typeface="Arial MT"/>
              </a:rPr>
              <a:t>our</a:t>
            </a:r>
            <a:r>
              <a:rPr dirty="0" sz="650" spc="1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650" spc="-30">
                <a:solidFill>
                  <a:srgbClr val="0A0A0A"/>
                </a:solidFill>
                <a:latin typeface="Arial MT"/>
                <a:cs typeface="Arial MT"/>
              </a:rPr>
              <a:t>understanding</a:t>
            </a:r>
            <a:r>
              <a:rPr dirty="0" sz="650" spc="5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F0F0F"/>
                </a:solidFill>
                <a:latin typeface="Arial MT"/>
                <a:cs typeface="Arial MT"/>
              </a:rPr>
              <a:t>of </a:t>
            </a:r>
            <a:r>
              <a:rPr dirty="0" sz="650" spc="-25">
                <a:solidFill>
                  <a:srgbClr val="0C0C0C"/>
                </a:solidFill>
                <a:latin typeface="Arial MT"/>
                <a:cs typeface="Arial MT"/>
              </a:rPr>
              <a:t>these</a:t>
            </a:r>
            <a:r>
              <a:rPr dirty="0" sz="650" spc="-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C0C0C"/>
                </a:solidFill>
                <a:latin typeface="Arial MT"/>
                <a:cs typeface="Arial MT"/>
              </a:rPr>
              <a:t>mysterious</a:t>
            </a:r>
            <a:r>
              <a:rPr dirty="0" sz="650" spc="4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C0C0C"/>
                </a:solidFill>
                <a:latin typeface="Arial MT"/>
                <a:cs typeface="Arial MT"/>
              </a:rPr>
              <a:t>cosmic</a:t>
            </a:r>
            <a:r>
              <a:rPr dirty="0" sz="650" spc="5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C0C0C"/>
                </a:solidFill>
                <a:latin typeface="Arial MT"/>
                <a:cs typeface="Arial MT"/>
              </a:rPr>
              <a:t>ohenomena.</a:t>
            </a:r>
            <a:endParaRPr sz="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613333" y="4194047"/>
            <a:ext cx="1350645" cy="21082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41910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330"/>
              </a:spcBef>
              <a:tabLst>
                <a:tab pos="671195" algn="l"/>
              </a:tabLst>
            </a:pPr>
            <a:r>
              <a:rPr dirty="0" sz="650" spc="-85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^œn'ea</a:t>
            </a:r>
            <a:r>
              <a:rPr dirty="0" sz="650" spc="-65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 </a:t>
            </a:r>
            <a:r>
              <a:rPr dirty="0" sz="650" spc="-20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1°nç</a:t>
            </a:r>
            <a:r>
              <a:rPr dirty="0" sz="650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	</a:t>
            </a:r>
            <a:r>
              <a:rPr dirty="0" sz="650" spc="-25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preseutotions</a:t>
            </a:r>
            <a:endParaRPr sz="650">
              <a:latin typeface="Courier New"/>
              <a:cs typeface="Courier New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02666" y="1432560"/>
            <a:ext cx="73142" cy="7315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02666" y="2383535"/>
            <a:ext cx="73142" cy="762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02666" y="3486911"/>
            <a:ext cx="73142" cy="73152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02978" y="360934"/>
            <a:ext cx="128206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562ADA"/>
                </a:solidFill>
                <a:latin typeface="Times New Roman"/>
                <a:cs typeface="Times New Roman"/>
              </a:rPr>
              <a:t>D </a:t>
            </a:r>
            <a:r>
              <a:rPr dirty="0" sz="850" spc="-10">
                <a:solidFill>
                  <a:srgbClr val="4D2AB8"/>
                </a:solidFill>
                <a:latin typeface="Times New Roman"/>
                <a:cs typeface="Times New Roman"/>
              </a:rPr>
              <a:t>A</a:t>
            </a:r>
            <a:r>
              <a:rPr dirty="0" sz="850" spc="20">
                <a:solidFill>
                  <a:srgbClr val="4D2AB8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B3DBF"/>
                </a:solidFill>
                <a:latin typeface="Times New Roman"/>
                <a:cs typeface="Times New Roman"/>
              </a:rPr>
              <a:t>T</a:t>
            </a:r>
            <a:r>
              <a:rPr dirty="0" sz="850" spc="30">
                <a:solidFill>
                  <a:srgbClr val="5B3DB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02BD1"/>
                </a:solidFill>
                <a:latin typeface="Times New Roman"/>
                <a:cs typeface="Times New Roman"/>
              </a:rPr>
              <a:t>A</a:t>
            </a:r>
            <a:r>
              <a:rPr dirty="0" sz="850" spc="490">
                <a:solidFill>
                  <a:srgbClr val="502BD1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6D57C1"/>
                </a:solidFill>
                <a:latin typeface="Times New Roman"/>
                <a:cs typeface="Times New Roman"/>
              </a:rPr>
              <a:t>A</a:t>
            </a:r>
            <a:r>
              <a:rPr dirty="0" sz="850" spc="145">
                <a:solidFill>
                  <a:srgbClr val="6D57C1"/>
                </a:solidFill>
                <a:latin typeface="Times New Roman"/>
                <a:cs typeface="Times New Roman"/>
              </a:rPr>
              <a:t> </a:t>
            </a:r>
            <a:r>
              <a:rPr dirty="0" sz="850" spc="-30">
                <a:solidFill>
                  <a:srgbClr val="4F2AD1"/>
                </a:solidFill>
                <a:latin typeface="Times New Roman"/>
                <a:cs typeface="Times New Roman"/>
              </a:rPr>
              <a:t>N</a:t>
            </a:r>
            <a:r>
              <a:rPr dirty="0" sz="850" spc="130">
                <a:solidFill>
                  <a:srgbClr val="4F2AD1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02DCA"/>
                </a:solidFill>
                <a:latin typeface="Times New Roman"/>
                <a:cs typeface="Times New Roman"/>
              </a:rPr>
              <a:t>A</a:t>
            </a:r>
            <a:r>
              <a:rPr dirty="0" sz="850" spc="100">
                <a:solidFill>
                  <a:srgbClr val="502DCA"/>
                </a:solidFill>
                <a:latin typeface="Times New Roman"/>
                <a:cs typeface="Times New Roman"/>
              </a:rPr>
              <a:t> </a:t>
            </a:r>
            <a:r>
              <a:rPr dirty="0" sz="850" spc="-160">
                <a:solidFill>
                  <a:srgbClr val="4F2AD1"/>
                </a:solidFill>
                <a:latin typeface="Times New Roman"/>
                <a:cs typeface="Times New Roman"/>
              </a:rPr>
              <a:t>L</a:t>
            </a:r>
            <a:r>
              <a:rPr dirty="0" sz="850" spc="45">
                <a:solidFill>
                  <a:srgbClr val="4F2AD1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502FBA"/>
                </a:solidFill>
                <a:latin typeface="Times New Roman"/>
                <a:cs typeface="Times New Roman"/>
              </a:rPr>
              <a:t>Y</a:t>
            </a:r>
            <a:r>
              <a:rPr dirty="0" sz="850" spc="50">
                <a:solidFill>
                  <a:srgbClr val="502FBA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02FC1"/>
                </a:solidFill>
                <a:latin typeface="Times New Roman"/>
                <a:cs typeface="Times New Roman"/>
              </a:rPr>
              <a:t>S</a:t>
            </a:r>
            <a:r>
              <a:rPr dirty="0" sz="850" spc="60">
                <a:solidFill>
                  <a:srgbClr val="502FC1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02DCA"/>
                </a:solidFill>
                <a:latin typeface="Times New Roman"/>
                <a:cs typeface="Times New Roman"/>
              </a:rPr>
              <a:t>I</a:t>
            </a:r>
            <a:r>
              <a:rPr dirty="0" sz="850" spc="75">
                <a:solidFill>
                  <a:srgbClr val="502DCA"/>
                </a:solidFill>
                <a:latin typeface="Times New Roman"/>
                <a:cs typeface="Times New Roman"/>
              </a:rPr>
              <a:t> </a:t>
            </a:r>
            <a:r>
              <a:rPr dirty="0" sz="850" spc="-50">
                <a:solidFill>
                  <a:srgbClr val="4F2BC1"/>
                </a:solidFill>
                <a:latin typeface="Times New Roman"/>
                <a:cs typeface="Times New Roman"/>
              </a:rPr>
              <a:t>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8826" y="393052"/>
            <a:ext cx="2847340" cy="663575"/>
          </a:xfrm>
          <a:prstGeom prst="rect"/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2150" spc="-10">
                <a:solidFill>
                  <a:srgbClr val="111111"/>
                </a:solidFill>
                <a:latin typeface="Cambria"/>
                <a:cs typeface="Cambria"/>
              </a:rPr>
              <a:t>Data</a:t>
            </a:r>
            <a:r>
              <a:rPr dirty="0" sz="2150" spc="-8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2150" spc="-10">
                <a:solidFill>
                  <a:srgbClr val="0F0F0F"/>
                </a:solidFill>
                <a:latin typeface="Cambria"/>
                <a:cs typeface="Cambria"/>
              </a:rPr>
              <a:t>Overview</a:t>
            </a:r>
            <a:endParaRPr sz="2150">
              <a:latin typeface="Cambria"/>
              <a:cs typeface="Cambria"/>
            </a:endParaRPr>
          </a:p>
          <a:p>
            <a:pPr marL="20955">
              <a:lnSpc>
                <a:spcPct val="100000"/>
              </a:lnSpc>
              <a:spcBef>
                <a:spcPts val="395"/>
              </a:spcBef>
            </a:pPr>
            <a:r>
              <a:rPr dirty="0" sz="1000">
                <a:solidFill>
                  <a:srgbClr val="6D6D6D"/>
                </a:solidFill>
              </a:rPr>
              <a:t>Comprehensive</a:t>
            </a:r>
            <a:r>
              <a:rPr dirty="0" sz="1000" spc="125">
                <a:solidFill>
                  <a:srgbClr val="6D6D6D"/>
                </a:solidFill>
              </a:rPr>
              <a:t> </a:t>
            </a:r>
            <a:r>
              <a:rPr dirty="0" sz="1000" spc="-20">
                <a:solidFill>
                  <a:srgbClr val="727272"/>
                </a:solidFill>
              </a:rPr>
              <a:t>Analysis</a:t>
            </a:r>
            <a:r>
              <a:rPr dirty="0" sz="1000" spc="55">
                <a:solidFill>
                  <a:srgbClr val="727272"/>
                </a:solidFill>
              </a:rPr>
              <a:t> </a:t>
            </a:r>
            <a:r>
              <a:rPr dirty="0" sz="1000">
                <a:solidFill>
                  <a:srgbClr val="6D6D6D"/>
                </a:solidFill>
              </a:rPr>
              <a:t>of</a:t>
            </a:r>
            <a:r>
              <a:rPr dirty="0" sz="1000" spc="175">
                <a:solidFill>
                  <a:srgbClr val="6D6D6D"/>
                </a:solidFill>
              </a:rPr>
              <a:t> </a:t>
            </a:r>
            <a:r>
              <a:rPr dirty="0" sz="1000">
                <a:solidFill>
                  <a:srgbClr val="8A8A8A"/>
                </a:solidFill>
              </a:rPr>
              <a:t>Fast</a:t>
            </a:r>
            <a:r>
              <a:rPr dirty="0" sz="1000" spc="130">
                <a:solidFill>
                  <a:srgbClr val="8A8A8A"/>
                </a:solidFill>
              </a:rPr>
              <a:t> </a:t>
            </a:r>
            <a:r>
              <a:rPr dirty="0" sz="1000">
                <a:solidFill>
                  <a:srgbClr val="707787"/>
                </a:solidFill>
              </a:rPr>
              <a:t>Radio</a:t>
            </a:r>
            <a:r>
              <a:rPr dirty="0" sz="1000" spc="90">
                <a:solidFill>
                  <a:srgbClr val="707787"/>
                </a:solidFill>
              </a:rPr>
              <a:t> </a:t>
            </a:r>
            <a:r>
              <a:rPr dirty="0" sz="1000">
                <a:solidFill>
                  <a:srgbClr val="6E6E6E"/>
                </a:solidFill>
              </a:rPr>
              <a:t>Bursts</a:t>
            </a:r>
            <a:r>
              <a:rPr dirty="0" sz="1000" spc="10">
                <a:solidFill>
                  <a:srgbClr val="6E6E6E"/>
                </a:solidFill>
              </a:rPr>
              <a:t> </a:t>
            </a:r>
            <a:r>
              <a:rPr dirty="0" sz="1000" spc="-10">
                <a:solidFill>
                  <a:srgbClr val="757575"/>
                </a:solidFill>
              </a:rPr>
              <a:t>(FRBs)</a:t>
            </a:r>
            <a:endParaRPr sz="1000"/>
          </a:p>
        </p:txBody>
      </p:sp>
      <p:sp>
        <p:nvSpPr>
          <p:cNvPr id="8" name="object 8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Source</a:t>
            </a:r>
            <a:r>
              <a:rPr dirty="0" spc="35"/>
              <a:t> </a:t>
            </a:r>
            <a:r>
              <a:rPr dirty="0">
                <a:solidFill>
                  <a:srgbClr val="0C0C0C"/>
                </a:solidFill>
              </a:rPr>
              <a:t>of</a:t>
            </a:r>
            <a:r>
              <a:rPr dirty="0" spc="100">
                <a:solidFill>
                  <a:srgbClr val="0C0C0C"/>
                </a:solidFill>
              </a:rPr>
              <a:t> </a:t>
            </a:r>
            <a:r>
              <a:rPr dirty="0" spc="-20">
                <a:solidFill>
                  <a:srgbClr val="0F0F0F"/>
                </a:solidFill>
              </a:rPr>
              <a:t>Data</a:t>
            </a:r>
          </a:p>
          <a:p>
            <a:pPr marL="12700" marR="9525">
              <a:lnSpc>
                <a:spcPct val="114100"/>
              </a:lnSpc>
              <a:spcBef>
                <a:spcPts val="475"/>
              </a:spcBef>
            </a:pPr>
            <a:r>
              <a:rPr dirty="0" sz="850" spc="-75">
                <a:latin typeface="Arial MT"/>
                <a:cs typeface="Arial MT"/>
              </a:rPr>
              <a:t>The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dataset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 spc="-20">
                <a:latin typeface="Arial MT"/>
                <a:cs typeface="Arial MT"/>
              </a:rPr>
              <a:t>utilized</a:t>
            </a:r>
            <a:r>
              <a:rPr dirty="0" sz="850" spc="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for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this</a:t>
            </a:r>
            <a:r>
              <a:rPr dirty="0" sz="850" spc="-30">
                <a:latin typeface="Arial MT"/>
                <a:cs typeface="Arial MT"/>
              </a:rPr>
              <a:t> analysis</a:t>
            </a:r>
            <a:r>
              <a:rPr dirty="0" sz="850"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111111"/>
                </a:solidFill>
                <a:latin typeface="Arial MT"/>
                <a:cs typeface="Arial MT"/>
              </a:rPr>
              <a:t>is </a:t>
            </a:r>
            <a:r>
              <a:rPr dirty="0" sz="850" spc="-10">
                <a:solidFill>
                  <a:srgbClr val="111111"/>
                </a:solidFill>
                <a:latin typeface="Arial MT"/>
                <a:cs typeface="Arial MT"/>
              </a:rPr>
              <a:t>derived</a:t>
            </a:r>
            <a:r>
              <a:rPr dirty="0" sz="85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from</a:t>
            </a:r>
            <a:r>
              <a:rPr dirty="0" sz="850" spc="-4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850" spc="-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first </a:t>
            </a:r>
            <a:r>
              <a:rPr dirty="0" sz="850" spc="-30">
                <a:solidFill>
                  <a:srgbClr val="0F0F0F"/>
                </a:solidFill>
                <a:latin typeface="Arial MT"/>
                <a:cs typeface="Arial MT"/>
              </a:rPr>
              <a:t>CHIME/FRB</a:t>
            </a:r>
            <a:r>
              <a:rPr dirty="0" sz="850" spc="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11111"/>
                </a:solidFill>
                <a:latin typeface="Arial MT"/>
                <a:cs typeface="Arial MT"/>
              </a:rPr>
              <a:t>catalog,</a:t>
            </a:r>
            <a:r>
              <a:rPr dirty="0" sz="850" spc="-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providing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a</a:t>
            </a:r>
            <a:r>
              <a:rPr dirty="0" sz="85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foundational</a:t>
            </a:r>
            <a:r>
              <a:rPr dirty="0" sz="850" spc="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latin typeface="Arial MT"/>
                <a:cs typeface="Arial MT"/>
              </a:rPr>
              <a:t>basis</a:t>
            </a:r>
            <a:r>
              <a:rPr dirty="0" sz="850"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for</a:t>
            </a:r>
            <a:r>
              <a:rPr dirty="0" sz="850" spc="-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understanding </a:t>
            </a:r>
            <a:r>
              <a:rPr dirty="0" sz="850" spc="-90">
                <a:solidFill>
                  <a:srgbClr val="0F0F0F"/>
                </a:solidFill>
                <a:latin typeface="Arial MT"/>
                <a:cs typeface="Arial MT"/>
              </a:rPr>
              <a:t>Fas†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35">
                <a:solidFill>
                  <a:srgbClr val="0F0F0F"/>
                </a:solidFill>
                <a:latin typeface="Arial MT"/>
                <a:cs typeface="Arial MT"/>
              </a:rPr>
              <a:t>Radio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Bursts.</a:t>
            </a:r>
            <a:endParaRPr sz="8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8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850">
              <a:latin typeface="Arial MT"/>
              <a:cs typeface="Arial MT"/>
            </a:endParaRPr>
          </a:p>
          <a:p>
            <a:pPr marL="16510">
              <a:lnSpc>
                <a:spcPct val="100000"/>
              </a:lnSpc>
              <a:spcBef>
                <a:spcPts val="5"/>
              </a:spcBef>
            </a:pPr>
            <a:r>
              <a:rPr dirty="0">
                <a:solidFill>
                  <a:srgbClr val="0C0C0C"/>
                </a:solidFill>
              </a:rPr>
              <a:t>Dataset</a:t>
            </a:r>
            <a:r>
              <a:rPr dirty="0" spc="185">
                <a:solidFill>
                  <a:srgbClr val="0C0C0C"/>
                </a:solidFill>
              </a:rPr>
              <a:t> </a:t>
            </a:r>
            <a:r>
              <a:rPr dirty="0" spc="-20"/>
              <a:t>Size</a:t>
            </a:r>
          </a:p>
          <a:p>
            <a:pPr marL="15240" marR="18415" indent="-3175">
              <a:lnSpc>
                <a:spcPct val="114500"/>
              </a:lnSpc>
              <a:spcBef>
                <a:spcPts val="445"/>
              </a:spcBef>
            </a:pPr>
            <a:r>
              <a:rPr dirty="0" sz="850">
                <a:solidFill>
                  <a:srgbClr val="0F0F0F"/>
                </a:solidFill>
              </a:rPr>
              <a:t>The</a:t>
            </a:r>
            <a:r>
              <a:rPr dirty="0" sz="850" spc="10">
                <a:solidFill>
                  <a:srgbClr val="0F0F0F"/>
                </a:solidFill>
              </a:rPr>
              <a:t> </a:t>
            </a:r>
            <a:r>
              <a:rPr dirty="0" sz="850" spc="55">
                <a:solidFill>
                  <a:srgbClr val="111111"/>
                </a:solidFill>
              </a:rPr>
              <a:t>dataset</a:t>
            </a:r>
            <a:r>
              <a:rPr dirty="0" sz="850" spc="40">
                <a:solidFill>
                  <a:srgbClr val="111111"/>
                </a:solidFill>
              </a:rPr>
              <a:t> </a:t>
            </a:r>
            <a:r>
              <a:rPr dirty="0" sz="850"/>
              <a:t>comprises</a:t>
            </a:r>
            <a:r>
              <a:rPr dirty="0" sz="850" spc="110"/>
              <a:t> </a:t>
            </a:r>
            <a:r>
              <a:rPr dirty="0" sz="850">
                <a:solidFill>
                  <a:srgbClr val="111111"/>
                </a:solidFill>
              </a:rPr>
              <a:t>a</a:t>
            </a:r>
            <a:r>
              <a:rPr dirty="0" sz="850" spc="85">
                <a:solidFill>
                  <a:srgbClr val="111111"/>
                </a:solidFill>
              </a:rPr>
              <a:t> </a:t>
            </a:r>
            <a:r>
              <a:rPr dirty="0" sz="850">
                <a:solidFill>
                  <a:srgbClr val="0F0F0F"/>
                </a:solidFill>
              </a:rPr>
              <a:t>total</a:t>
            </a:r>
            <a:r>
              <a:rPr dirty="0" sz="850" spc="70">
                <a:solidFill>
                  <a:srgbClr val="0F0F0F"/>
                </a:solidFill>
              </a:rPr>
              <a:t> </a:t>
            </a:r>
            <a:r>
              <a:rPr dirty="0" sz="850"/>
              <a:t>of</a:t>
            </a:r>
            <a:r>
              <a:rPr dirty="0" sz="850" spc="125"/>
              <a:t> </a:t>
            </a:r>
            <a:r>
              <a:rPr dirty="0" sz="850">
                <a:solidFill>
                  <a:srgbClr val="111111"/>
                </a:solidFill>
              </a:rPr>
              <a:t>53ô</a:t>
            </a:r>
            <a:r>
              <a:rPr dirty="0" sz="850" spc="85">
                <a:solidFill>
                  <a:srgbClr val="111111"/>
                </a:solidFill>
              </a:rPr>
              <a:t> </a:t>
            </a:r>
            <a:r>
              <a:rPr dirty="0" sz="850">
                <a:solidFill>
                  <a:srgbClr val="111111"/>
                </a:solidFill>
              </a:rPr>
              <a:t>Fast</a:t>
            </a:r>
            <a:r>
              <a:rPr dirty="0" sz="850" spc="105">
                <a:solidFill>
                  <a:srgbClr val="111111"/>
                </a:solidFill>
              </a:rPr>
              <a:t> </a:t>
            </a:r>
            <a:r>
              <a:rPr dirty="0" sz="850">
                <a:solidFill>
                  <a:srgbClr val="0F0F0F"/>
                </a:solidFill>
              </a:rPr>
              <a:t>Radio</a:t>
            </a:r>
            <a:r>
              <a:rPr dirty="0" sz="850" spc="100">
                <a:solidFill>
                  <a:srgbClr val="0F0F0F"/>
                </a:solidFill>
              </a:rPr>
              <a:t> </a:t>
            </a:r>
            <a:r>
              <a:rPr dirty="0" sz="850">
                <a:solidFill>
                  <a:srgbClr val="0F0F0F"/>
                </a:solidFill>
              </a:rPr>
              <a:t>Bursts,</a:t>
            </a:r>
            <a:r>
              <a:rPr dirty="0" sz="850" spc="65">
                <a:solidFill>
                  <a:srgbClr val="0F0F0F"/>
                </a:solidFill>
              </a:rPr>
              <a:t> </a:t>
            </a:r>
            <a:r>
              <a:rPr dirty="0" sz="850">
                <a:solidFill>
                  <a:srgbClr val="0F0F0F"/>
                </a:solidFill>
              </a:rPr>
              <a:t>which</a:t>
            </a:r>
            <a:r>
              <a:rPr dirty="0" sz="850" spc="120">
                <a:solidFill>
                  <a:srgbClr val="0F0F0F"/>
                </a:solidFill>
              </a:rPr>
              <a:t> </a:t>
            </a:r>
            <a:r>
              <a:rPr dirty="0" sz="850" spc="-10">
                <a:solidFill>
                  <a:srgbClr val="0C0C0C"/>
                </a:solidFill>
              </a:rPr>
              <a:t>includes </a:t>
            </a:r>
            <a:r>
              <a:rPr dirty="0" sz="850">
                <a:solidFill>
                  <a:srgbClr val="0F0F0F"/>
                </a:solidFill>
              </a:rPr>
              <a:t>474</a:t>
            </a:r>
            <a:r>
              <a:rPr dirty="0" sz="850" spc="110">
                <a:solidFill>
                  <a:srgbClr val="0F0F0F"/>
                </a:solidFill>
              </a:rPr>
              <a:t> </a:t>
            </a:r>
            <a:r>
              <a:rPr dirty="0" sz="850">
                <a:solidFill>
                  <a:srgbClr val="0A0A0A"/>
                </a:solidFill>
              </a:rPr>
              <a:t>non-repeating</a:t>
            </a:r>
            <a:r>
              <a:rPr dirty="0" sz="850" spc="260">
                <a:solidFill>
                  <a:srgbClr val="0A0A0A"/>
                </a:solidFill>
              </a:rPr>
              <a:t> </a:t>
            </a:r>
            <a:r>
              <a:rPr dirty="0" sz="850">
                <a:solidFill>
                  <a:srgbClr val="111111"/>
                </a:solidFill>
              </a:rPr>
              <a:t>bursts</a:t>
            </a:r>
            <a:r>
              <a:rPr dirty="0" sz="850" spc="65">
                <a:solidFill>
                  <a:srgbClr val="111111"/>
                </a:solidFill>
              </a:rPr>
              <a:t> </a:t>
            </a:r>
            <a:r>
              <a:rPr dirty="0" sz="850">
                <a:solidFill>
                  <a:srgbClr val="0F0F0F"/>
                </a:solidFill>
              </a:rPr>
              <a:t>and</a:t>
            </a:r>
            <a:r>
              <a:rPr dirty="0" sz="850" spc="114">
                <a:solidFill>
                  <a:srgbClr val="0F0F0F"/>
                </a:solidFill>
              </a:rPr>
              <a:t> </a:t>
            </a:r>
            <a:r>
              <a:rPr dirty="0" sz="850" spc="-50">
                <a:solidFill>
                  <a:srgbClr val="131313"/>
                </a:solidFill>
              </a:rPr>
              <a:t>Ô2</a:t>
            </a:r>
            <a:r>
              <a:rPr dirty="0" sz="850" spc="120">
                <a:solidFill>
                  <a:srgbClr val="131313"/>
                </a:solidFill>
              </a:rPr>
              <a:t> </a:t>
            </a:r>
            <a:r>
              <a:rPr dirty="0" sz="850" spc="-25">
                <a:solidFill>
                  <a:srgbClr val="111111"/>
                </a:solidFill>
              </a:rPr>
              <a:t>bursTs</a:t>
            </a:r>
            <a:r>
              <a:rPr dirty="0" sz="850" spc="65">
                <a:solidFill>
                  <a:srgbClr val="111111"/>
                </a:solidFill>
              </a:rPr>
              <a:t> </a:t>
            </a:r>
            <a:r>
              <a:rPr dirty="0" sz="850">
                <a:solidFill>
                  <a:srgbClr val="0F0F0F"/>
                </a:solidFill>
              </a:rPr>
              <a:t>classified</a:t>
            </a:r>
            <a:r>
              <a:rPr dirty="0" sz="850" spc="165">
                <a:solidFill>
                  <a:srgbClr val="0F0F0F"/>
                </a:solidFill>
              </a:rPr>
              <a:t> </a:t>
            </a:r>
            <a:r>
              <a:rPr dirty="0" sz="850">
                <a:solidFill>
                  <a:srgbClr val="111111"/>
                </a:solidFill>
              </a:rPr>
              <a:t>as</a:t>
            </a:r>
            <a:r>
              <a:rPr dirty="0" sz="850" spc="260">
                <a:solidFill>
                  <a:srgbClr val="111111"/>
                </a:solidFill>
              </a:rPr>
              <a:t> </a:t>
            </a:r>
            <a:r>
              <a:rPr dirty="0" sz="850" spc="-10">
                <a:solidFill>
                  <a:srgbClr val="0C0C0C"/>
                </a:solidFill>
              </a:rPr>
              <a:t>repeoters </a:t>
            </a:r>
            <a:r>
              <a:rPr dirty="0" sz="850">
                <a:solidFill>
                  <a:srgbClr val="0F0F0F"/>
                </a:solidFill>
              </a:rPr>
              <a:t>originoting</a:t>
            </a:r>
            <a:r>
              <a:rPr dirty="0" sz="850" spc="150">
                <a:solidFill>
                  <a:srgbClr val="0F0F0F"/>
                </a:solidFill>
              </a:rPr>
              <a:t> </a:t>
            </a:r>
            <a:r>
              <a:rPr dirty="0" sz="850">
                <a:solidFill>
                  <a:srgbClr val="111111"/>
                </a:solidFill>
              </a:rPr>
              <a:t>from</a:t>
            </a:r>
            <a:r>
              <a:rPr dirty="0" sz="850" spc="185">
                <a:solidFill>
                  <a:srgbClr val="111111"/>
                </a:solidFill>
              </a:rPr>
              <a:t> </a:t>
            </a:r>
            <a:r>
              <a:rPr dirty="0" sz="850">
                <a:solidFill>
                  <a:srgbClr val="111111"/>
                </a:solidFill>
              </a:rPr>
              <a:t>t8</a:t>
            </a:r>
            <a:r>
              <a:rPr dirty="0" sz="850" spc="90">
                <a:solidFill>
                  <a:srgbClr val="111111"/>
                </a:solidFill>
              </a:rPr>
              <a:t> </a:t>
            </a:r>
            <a:r>
              <a:rPr dirty="0" sz="850">
                <a:solidFill>
                  <a:srgbClr val="0F0F0F"/>
                </a:solidFill>
              </a:rPr>
              <a:t>distinct</a:t>
            </a:r>
            <a:r>
              <a:rPr dirty="0" sz="850" spc="75">
                <a:solidFill>
                  <a:srgbClr val="0F0F0F"/>
                </a:solidFill>
              </a:rPr>
              <a:t> </a:t>
            </a:r>
            <a:r>
              <a:rPr dirty="0" sz="850"/>
              <a:t>sources.</a:t>
            </a:r>
            <a:r>
              <a:rPr dirty="0" sz="850" spc="35"/>
              <a:t> </a:t>
            </a:r>
            <a:r>
              <a:rPr dirty="0" sz="850" spc="-20"/>
              <a:t>This</a:t>
            </a:r>
            <a:r>
              <a:rPr dirty="0" sz="850" spc="40"/>
              <a:t> </a:t>
            </a:r>
            <a:r>
              <a:rPr dirty="0" sz="850">
                <a:solidFill>
                  <a:srgbClr val="111111"/>
                </a:solidFill>
              </a:rPr>
              <a:t>diversité</a:t>
            </a:r>
            <a:r>
              <a:rPr dirty="0" sz="850" spc="55">
                <a:solidFill>
                  <a:srgbClr val="111111"/>
                </a:solidFill>
              </a:rPr>
              <a:t> </a:t>
            </a:r>
            <a:r>
              <a:rPr dirty="0" sz="850" spc="-10">
                <a:solidFill>
                  <a:srgbClr val="0F0F0F"/>
                </a:solidFill>
              </a:rPr>
              <a:t>ollows</a:t>
            </a:r>
            <a:r>
              <a:rPr dirty="0" sz="850" spc="55">
                <a:solidFill>
                  <a:srgbClr val="0F0F0F"/>
                </a:solidFill>
              </a:rPr>
              <a:t> </a:t>
            </a:r>
            <a:r>
              <a:rPr dirty="0" sz="850">
                <a:solidFill>
                  <a:srgbClr val="111111"/>
                </a:solidFill>
              </a:rPr>
              <a:t>for</a:t>
            </a:r>
            <a:r>
              <a:rPr dirty="0" sz="850" spc="35">
                <a:solidFill>
                  <a:srgbClr val="111111"/>
                </a:solidFill>
              </a:rPr>
              <a:t> </a:t>
            </a:r>
            <a:r>
              <a:rPr dirty="0" sz="850">
                <a:solidFill>
                  <a:srgbClr val="131313"/>
                </a:solidFill>
              </a:rPr>
              <a:t>a</a:t>
            </a:r>
            <a:r>
              <a:rPr dirty="0" sz="850" spc="170">
                <a:solidFill>
                  <a:srgbClr val="131313"/>
                </a:solidFill>
              </a:rPr>
              <a:t> </a:t>
            </a:r>
            <a:r>
              <a:rPr dirty="0" sz="850" spc="-10">
                <a:solidFill>
                  <a:srgbClr val="111111"/>
                </a:solidFill>
              </a:rPr>
              <a:t>robust </a:t>
            </a:r>
            <a:r>
              <a:rPr dirty="0" sz="850">
                <a:solidFill>
                  <a:srgbClr val="0F0F0F"/>
                </a:solidFill>
              </a:rPr>
              <a:t>comparative</a:t>
            </a:r>
            <a:r>
              <a:rPr dirty="0" sz="850" spc="365">
                <a:solidFill>
                  <a:srgbClr val="0F0F0F"/>
                </a:solidFill>
              </a:rPr>
              <a:t> </a:t>
            </a:r>
            <a:r>
              <a:rPr dirty="0" sz="850" spc="-10">
                <a:solidFill>
                  <a:srgbClr val="0F0F0F"/>
                </a:solidFill>
              </a:rPr>
              <a:t>analysis.</a:t>
            </a:r>
            <a:endParaRPr sz="850"/>
          </a:p>
          <a:p>
            <a:pPr>
              <a:lnSpc>
                <a:spcPct val="100000"/>
              </a:lnSpc>
            </a:pPr>
            <a:endParaRPr sz="850"/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850"/>
          </a:p>
          <a:p>
            <a:pPr marL="16510">
              <a:lnSpc>
                <a:spcPct val="100000"/>
              </a:lnSpc>
            </a:pPr>
            <a:r>
              <a:rPr dirty="0" sz="1100">
                <a:solidFill>
                  <a:srgbClr val="0F0F0F"/>
                </a:solidFill>
              </a:rPr>
              <a:t>Feature</a:t>
            </a:r>
            <a:r>
              <a:rPr dirty="0" sz="1100" spc="70">
                <a:solidFill>
                  <a:srgbClr val="0F0F0F"/>
                </a:solidFill>
              </a:rPr>
              <a:t> </a:t>
            </a:r>
            <a:r>
              <a:rPr dirty="0" sz="1100" spc="-10">
                <a:solidFill>
                  <a:srgbClr val="0C0C0C"/>
                </a:solidFill>
              </a:rPr>
              <a:t>Selection</a:t>
            </a:r>
            <a:endParaRPr sz="1100"/>
          </a:p>
          <a:p>
            <a:pPr marL="15240" marR="5080" indent="-2540">
              <a:lnSpc>
                <a:spcPct val="115300"/>
              </a:lnSpc>
              <a:spcBef>
                <a:spcPts val="430"/>
              </a:spcBef>
            </a:pPr>
            <a:r>
              <a:rPr dirty="0" sz="850" spc="-30">
                <a:solidFill>
                  <a:srgbClr val="0F0F0F"/>
                </a:solidFill>
                <a:latin typeface="Arial MT"/>
                <a:cs typeface="Arial MT"/>
              </a:rPr>
              <a:t>Features</a:t>
            </a:r>
            <a:r>
              <a:rPr dirty="0" sz="85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55">
                <a:latin typeface="Arial MT"/>
                <a:cs typeface="Arial MT"/>
              </a:rPr>
              <a:t>were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meticulously</a:t>
            </a:r>
            <a:r>
              <a:rPr dirty="0" sz="850" spc="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35">
                <a:solidFill>
                  <a:srgbClr val="0F0F0F"/>
                </a:solidFill>
                <a:latin typeface="Arial MT"/>
                <a:cs typeface="Arial MT"/>
              </a:rPr>
              <a:t>selected</a:t>
            </a:r>
            <a:r>
              <a:rPr dirty="0" sz="850" spc="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111111"/>
                </a:solidFill>
                <a:latin typeface="Arial MT"/>
                <a:cs typeface="Arial MT"/>
              </a:rPr>
              <a:t>based</a:t>
            </a:r>
            <a:r>
              <a:rPr dirty="0" sz="85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on</a:t>
            </a:r>
            <a:r>
              <a:rPr dirty="0" sz="850" spc="-5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their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efficacy</a:t>
            </a:r>
            <a:r>
              <a:rPr dirty="0" sz="850" spc="25"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111111"/>
                </a:solidFill>
                <a:latin typeface="Arial MT"/>
                <a:cs typeface="Arial MT"/>
              </a:rPr>
              <a:t>in </a:t>
            </a:r>
            <a:r>
              <a:rPr dirty="0" sz="850" spc="-20">
                <a:latin typeface="Arial MT"/>
                <a:cs typeface="Arial MT"/>
              </a:rPr>
              <a:t>distinguishing</a:t>
            </a:r>
            <a:r>
              <a:rPr dirty="0" sz="850" spc="-30"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0C0C0C"/>
                </a:solidFill>
                <a:latin typeface="Arial MT"/>
                <a:cs typeface="Arial MT"/>
              </a:rPr>
              <a:t>between</a:t>
            </a:r>
            <a:r>
              <a:rPr dirty="0" sz="850" spc="-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repeating</a:t>
            </a:r>
            <a:r>
              <a:rPr dirty="0" sz="850" spc="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dirty="0" sz="85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non-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repeating</a:t>
            </a:r>
            <a:r>
              <a:rPr dirty="0" sz="850" spc="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85">
                <a:solidFill>
                  <a:srgbClr val="0F0F0F"/>
                </a:solidFill>
                <a:latin typeface="Arial MT"/>
                <a:cs typeface="Arial MT"/>
              </a:rPr>
              <a:t>FRBs.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60">
                <a:solidFill>
                  <a:srgbClr val="0F0F0F"/>
                </a:solidFill>
                <a:latin typeface="Arial MT"/>
                <a:cs typeface="Arial MT"/>
              </a:rPr>
              <a:t>This</a:t>
            </a:r>
            <a:r>
              <a:rPr dirty="0" sz="85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careful </a:t>
            </a:r>
            <a:r>
              <a:rPr dirty="0" sz="850" spc="-30">
                <a:solidFill>
                  <a:srgbClr val="0F0F0F"/>
                </a:solidFill>
                <a:latin typeface="Arial MT"/>
                <a:cs typeface="Arial MT"/>
              </a:rPr>
              <a:t>selection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latin typeface="Arial MT"/>
                <a:cs typeface="Arial MT"/>
              </a:rPr>
              <a:t>process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 spc="-35">
                <a:solidFill>
                  <a:srgbClr val="0F0F0F"/>
                </a:solidFill>
                <a:latin typeface="Arial MT"/>
                <a:cs typeface="Arial MT"/>
              </a:rPr>
              <a:t>enhances</a:t>
            </a:r>
            <a:r>
              <a:rPr dirty="0" sz="850" spc="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85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analytical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depth</a:t>
            </a:r>
            <a:r>
              <a:rPr dirty="0" sz="850" spc="-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11111"/>
                </a:solidFill>
                <a:latin typeface="Arial MT"/>
                <a:cs typeface="Arial MT"/>
              </a:rPr>
              <a:t>of</a:t>
            </a:r>
            <a:r>
              <a:rPr dirty="0" sz="85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850" spc="-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dataset.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398471" y="1350264"/>
            <a:ext cx="3309620" cy="2753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 sz="1100" spc="-70">
                <a:solidFill>
                  <a:srgbClr val="111111"/>
                </a:solidFill>
                <a:latin typeface="Times New Roman"/>
                <a:cs typeface="Times New Roman"/>
              </a:rPr>
              <a:t>Key</a:t>
            </a:r>
            <a:r>
              <a:rPr dirty="0" sz="1100" spc="-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C0C0C"/>
                </a:solidFill>
                <a:latin typeface="Times New Roman"/>
                <a:cs typeface="Times New Roman"/>
              </a:rPr>
              <a:t>Observed </a:t>
            </a:r>
            <a:r>
              <a:rPr dirty="0" sz="1100" spc="-10">
                <a:solidFill>
                  <a:srgbClr val="0F0F0F"/>
                </a:solidFill>
                <a:latin typeface="Times New Roman"/>
                <a:cs typeface="Times New Roman"/>
              </a:rPr>
              <a:t>Properties</a:t>
            </a:r>
            <a:endParaRPr sz="1100">
              <a:latin typeface="Times New Roman"/>
              <a:cs typeface="Times New Roman"/>
            </a:endParaRPr>
          </a:p>
          <a:p>
            <a:pPr marL="16510" marR="43815" indent="-2540">
              <a:lnSpc>
                <a:spcPct val="114100"/>
              </a:lnSpc>
              <a:spcBef>
                <a:spcPts val="465"/>
              </a:spcBef>
            </a:pP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The</a:t>
            </a:r>
            <a:r>
              <a:rPr dirty="0" sz="850" spc="12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primary</a:t>
            </a:r>
            <a:r>
              <a:rPr dirty="0" sz="8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observed</a:t>
            </a:r>
            <a:r>
              <a:rPr dirty="0" sz="850" spc="2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properties</a:t>
            </a:r>
            <a:r>
              <a:rPr dirty="0" sz="8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include</a:t>
            </a:r>
            <a:r>
              <a:rPr dirty="0" sz="8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peak</a:t>
            </a:r>
            <a:r>
              <a:rPr dirty="0" sz="850" spc="8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frequency,</a:t>
            </a:r>
            <a:r>
              <a:rPr dirty="0" sz="850" spc="8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Times New Roman"/>
                <a:cs typeface="Times New Roman"/>
              </a:rPr>
              <a:t>flux,</a:t>
            </a:r>
            <a:r>
              <a:rPr dirty="0" sz="8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Times New Roman"/>
                <a:cs typeface="Times New Roman"/>
              </a:rPr>
              <a:t>fluence, </a:t>
            </a:r>
            <a:r>
              <a:rPr dirty="0" sz="8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8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boxcar</a:t>
            </a:r>
            <a:r>
              <a:rPr dirty="0" sz="8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width.</a:t>
            </a:r>
            <a:r>
              <a:rPr dirty="0" sz="8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These</a:t>
            </a:r>
            <a:r>
              <a:rPr dirty="0" sz="8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properties</a:t>
            </a:r>
            <a:r>
              <a:rPr dirty="0" sz="850" spc="114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are</a:t>
            </a:r>
            <a:r>
              <a:rPr dirty="0" sz="8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critical</a:t>
            </a:r>
            <a:r>
              <a:rPr dirty="0" sz="8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8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understanding</a:t>
            </a:r>
            <a:r>
              <a:rPr dirty="0" sz="850" spc="15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 spc="-25">
                <a:solidFill>
                  <a:srgbClr val="0F0F0F"/>
                </a:solidFill>
                <a:latin typeface="Times New Roman"/>
                <a:cs typeface="Times New Roman"/>
              </a:rPr>
              <a:t>†he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 characteristics</a:t>
            </a:r>
            <a:r>
              <a:rPr dirty="0" sz="8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8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 spc="-40">
                <a:solidFill>
                  <a:srgbClr val="0F0F0F"/>
                </a:solidFill>
                <a:latin typeface="Times New Roman"/>
                <a:cs typeface="Times New Roman"/>
              </a:rPr>
              <a:t>FRBs</a:t>
            </a:r>
            <a:r>
              <a:rPr dirty="0" sz="8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850" spc="3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their</a:t>
            </a:r>
            <a:r>
              <a:rPr dirty="0" sz="8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Times New Roman"/>
                <a:cs typeface="Times New Roman"/>
              </a:rPr>
              <a:t>behavior.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>
                <a:solidFill>
                  <a:srgbClr val="111111"/>
                </a:solidFill>
                <a:latin typeface="Cambria"/>
                <a:cs typeface="Cambria"/>
              </a:rPr>
              <a:t>Key</a:t>
            </a:r>
            <a:r>
              <a:rPr dirty="0" sz="1050" spc="1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1050">
                <a:solidFill>
                  <a:srgbClr val="0E0E0E"/>
                </a:solidFill>
                <a:latin typeface="Cambria"/>
                <a:cs typeface="Cambria"/>
              </a:rPr>
              <a:t>Physical </a:t>
            </a:r>
            <a:r>
              <a:rPr dirty="0" sz="1050" spc="-10">
                <a:solidFill>
                  <a:srgbClr val="0E0E0E"/>
                </a:solidFill>
                <a:latin typeface="Cambria"/>
                <a:cs typeface="Cambria"/>
              </a:rPr>
              <a:t>Properties</a:t>
            </a:r>
            <a:endParaRPr sz="1050">
              <a:latin typeface="Cambria"/>
              <a:cs typeface="Cambria"/>
            </a:endParaRPr>
          </a:p>
          <a:p>
            <a:pPr marL="19050" marR="5080" indent="1270">
              <a:lnSpc>
                <a:spcPct val="114500"/>
              </a:lnSpc>
              <a:spcBef>
                <a:spcPts val="445"/>
              </a:spcBef>
            </a:pP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In</a:t>
            </a:r>
            <a:r>
              <a:rPr dirty="0" sz="850" spc="9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addition</a:t>
            </a:r>
            <a:r>
              <a:rPr dirty="0" sz="8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to</a:t>
            </a:r>
            <a:r>
              <a:rPr dirty="0" sz="850" spc="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observed</a:t>
            </a:r>
            <a:r>
              <a:rPr dirty="0" sz="850" spc="254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properties,</a:t>
            </a:r>
            <a:r>
              <a:rPr dirty="0" sz="850" spc="16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111111"/>
                </a:solidFill>
                <a:latin typeface="Times New Roman"/>
                <a:cs typeface="Times New Roman"/>
              </a:rPr>
              <a:t>key</a:t>
            </a:r>
            <a:r>
              <a:rPr dirty="0" sz="8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physical</a:t>
            </a:r>
            <a:r>
              <a:rPr dirty="0" sz="850" spc="22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properties</a:t>
            </a:r>
            <a:r>
              <a:rPr dirty="0" sz="850" spc="1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111111"/>
                </a:solidFill>
                <a:latin typeface="Times New Roman"/>
                <a:cs typeface="Times New Roman"/>
              </a:rPr>
              <a:t>such</a:t>
            </a:r>
            <a:r>
              <a:rPr dirty="0" sz="8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 spc="-25">
                <a:solidFill>
                  <a:srgbClr val="0C0C0C"/>
                </a:solidFill>
                <a:latin typeface="Times New Roman"/>
                <a:cs typeface="Times New Roman"/>
              </a:rPr>
              <a:t>as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redshift,</a:t>
            </a:r>
            <a:r>
              <a:rPr dirty="0" sz="8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rest-frame</a:t>
            </a:r>
            <a:r>
              <a:rPr dirty="0" sz="8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frequency</a:t>
            </a:r>
            <a:r>
              <a:rPr dirty="0" sz="8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width,</a:t>
            </a:r>
            <a:r>
              <a:rPr dirty="0" sz="8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energy,</a:t>
            </a:r>
            <a:r>
              <a:rPr dirty="0" sz="8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luminosity,</a:t>
            </a:r>
            <a:r>
              <a:rPr dirty="0" sz="8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850" spc="2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Times New Roman"/>
                <a:cs typeface="Times New Roman"/>
              </a:rPr>
              <a:t>brightness </a:t>
            </a:r>
            <a:r>
              <a:rPr dirty="0" sz="850" spc="10">
                <a:solidFill>
                  <a:srgbClr val="0F0F0F"/>
                </a:solidFill>
                <a:latin typeface="Times New Roman"/>
                <a:cs typeface="Times New Roman"/>
              </a:rPr>
              <a:t>temperature</a:t>
            </a:r>
            <a:r>
              <a:rPr dirty="0" sz="8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10">
                <a:solidFill>
                  <a:srgbClr val="111111"/>
                </a:solidFill>
                <a:latin typeface="Times New Roman"/>
                <a:cs typeface="Times New Roman"/>
              </a:rPr>
              <a:t>ore</a:t>
            </a:r>
            <a:r>
              <a:rPr dirty="0" sz="8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 spc="10">
                <a:solidFill>
                  <a:srgbClr val="0F0F0F"/>
                </a:solidFill>
                <a:latin typeface="Times New Roman"/>
                <a:cs typeface="Times New Roman"/>
              </a:rPr>
              <a:t>included.</a:t>
            </a:r>
            <a:r>
              <a:rPr dirty="0" sz="8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10">
                <a:solidFill>
                  <a:srgbClr val="111111"/>
                </a:solidFill>
                <a:latin typeface="Times New Roman"/>
                <a:cs typeface="Times New Roman"/>
              </a:rPr>
              <a:t>These</a:t>
            </a:r>
            <a:r>
              <a:rPr dirty="0" sz="8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 spc="10">
                <a:solidFill>
                  <a:srgbClr val="0F0F0F"/>
                </a:solidFill>
                <a:latin typeface="Times New Roman"/>
                <a:cs typeface="Times New Roman"/>
              </a:rPr>
              <a:t>metrics</a:t>
            </a:r>
            <a:r>
              <a:rPr dirty="0" sz="8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10">
                <a:solidFill>
                  <a:srgbClr val="0F0F0F"/>
                </a:solidFill>
                <a:latin typeface="Times New Roman"/>
                <a:cs typeface="Times New Roman"/>
              </a:rPr>
              <a:t>provide</a:t>
            </a:r>
            <a:r>
              <a:rPr dirty="0" sz="8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10">
                <a:solidFill>
                  <a:srgbClr val="111111"/>
                </a:solidFill>
                <a:latin typeface="Times New Roman"/>
                <a:cs typeface="Times New Roman"/>
              </a:rPr>
              <a:t>insights</a:t>
            </a:r>
            <a:r>
              <a:rPr dirty="0" sz="8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 spc="10">
                <a:solidFill>
                  <a:srgbClr val="111111"/>
                </a:solidFill>
                <a:latin typeface="Times New Roman"/>
                <a:cs typeface="Times New Roman"/>
              </a:rPr>
              <a:t>into</a:t>
            </a:r>
            <a:r>
              <a:rPr dirty="0" sz="8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 spc="-25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8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underlying</a:t>
            </a:r>
            <a:r>
              <a:rPr dirty="0" sz="8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physics</a:t>
            </a:r>
            <a:r>
              <a:rPr dirty="0" sz="850" spc="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8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Times New Roman"/>
                <a:cs typeface="Times New Roman"/>
              </a:rPr>
              <a:t>FRBs.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85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</a:pP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Data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0E0E0E"/>
                </a:solidFill>
                <a:latin typeface="Times New Roman"/>
                <a:cs typeface="Times New Roman"/>
              </a:rPr>
              <a:t>Format</a:t>
            </a:r>
            <a:endParaRPr sz="1050">
              <a:latin typeface="Times New Roman"/>
              <a:cs typeface="Times New Roman"/>
            </a:endParaRPr>
          </a:p>
          <a:p>
            <a:pPr marL="15240" marR="129539" indent="-1270">
              <a:lnSpc>
                <a:spcPct val="115300"/>
              </a:lnSpc>
              <a:spcBef>
                <a:spcPts val="440"/>
              </a:spcBef>
            </a:pP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8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dataset‘s</a:t>
            </a:r>
            <a:r>
              <a:rPr dirty="0" sz="8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properties</a:t>
            </a:r>
            <a:r>
              <a:rPr dirty="0" sz="8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are</a:t>
            </a:r>
            <a:r>
              <a:rPr dirty="0" sz="8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stored</a:t>
            </a:r>
            <a:r>
              <a:rPr dirty="0" sz="8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131313"/>
                </a:solidFill>
                <a:latin typeface="Times New Roman"/>
                <a:cs typeface="Times New Roman"/>
              </a:rPr>
              <a:t>in</a:t>
            </a:r>
            <a:r>
              <a:rPr dirty="0" sz="850" spc="135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8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logarithmically</a:t>
            </a:r>
            <a:r>
              <a:rPr dirty="0" sz="8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Times New Roman"/>
                <a:cs typeface="Times New Roman"/>
              </a:rPr>
              <a:t>transformed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format</a:t>
            </a:r>
            <a:r>
              <a:rPr dirty="0" sz="8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A0A0A"/>
                </a:solidFill>
                <a:latin typeface="Times New Roman"/>
                <a:cs typeface="Times New Roman"/>
              </a:rPr>
              <a:t>within</a:t>
            </a:r>
            <a:r>
              <a:rPr dirty="0" sz="850" spc="195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8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25">
                <a:solidFill>
                  <a:srgbClr val="0F0F0F"/>
                </a:solidFill>
                <a:latin typeface="Times New Roman"/>
                <a:cs typeface="Times New Roman"/>
              </a:rPr>
              <a:t>file</a:t>
            </a:r>
            <a:r>
              <a:rPr dirty="0" sz="8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25">
                <a:solidFill>
                  <a:srgbClr val="0E0E0E"/>
                </a:solidFill>
                <a:latin typeface="Times New Roman"/>
                <a:cs typeface="Times New Roman"/>
              </a:rPr>
              <a:t>’cuIcat1.csv’.</a:t>
            </a:r>
            <a:r>
              <a:rPr dirty="0" sz="850" spc="1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A0A0A"/>
                </a:solidFill>
                <a:latin typeface="Times New Roman"/>
                <a:cs typeface="Times New Roman"/>
              </a:rPr>
              <a:t>This</a:t>
            </a:r>
            <a:r>
              <a:rPr dirty="0" sz="850" spc="12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transformation</a:t>
            </a:r>
            <a:r>
              <a:rPr dirty="0" sz="850" spc="2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8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essential</a:t>
            </a:r>
            <a:r>
              <a:rPr dirty="0" sz="8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25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8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statistical</a:t>
            </a:r>
            <a:r>
              <a:rPr dirty="0" sz="850" spc="1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analysis</a:t>
            </a:r>
            <a:r>
              <a:rPr dirty="0" sz="8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850" spc="2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interpretation</a:t>
            </a:r>
            <a:r>
              <a:rPr dirty="0" sz="8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850" spc="3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80">
                <a:solidFill>
                  <a:srgbClr val="0F0F0F"/>
                </a:solidFill>
                <a:latin typeface="Times New Roman"/>
                <a:cs typeface="Times New Roman"/>
              </a:rPr>
              <a:t>FRB</a:t>
            </a:r>
            <a:r>
              <a:rPr dirty="0" sz="8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Times New Roman"/>
                <a:cs typeface="Times New Roman"/>
              </a:rPr>
              <a:t>da†a.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2475" y="4200144"/>
            <a:ext cx="1334857" cy="20116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35619" y="1139952"/>
            <a:ext cx="76190" cy="8229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35619" y="2791967"/>
            <a:ext cx="76190" cy="762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35619" y="3307079"/>
            <a:ext cx="76190" cy="762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35619" y="1758695"/>
            <a:ext cx="76190" cy="762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35619" y="2273807"/>
            <a:ext cx="76190" cy="762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135619" y="3825240"/>
            <a:ext cx="76190" cy="762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88694" y="360934"/>
            <a:ext cx="2294890" cy="49275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5028CA"/>
                </a:solidFill>
                <a:latin typeface="Cambria"/>
                <a:cs typeface="Cambria"/>
              </a:rPr>
              <a:t>D</a:t>
            </a:r>
            <a:r>
              <a:rPr dirty="0" sz="850" spc="100">
                <a:solidFill>
                  <a:srgbClr val="5028CA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5231BA"/>
                </a:solidFill>
                <a:latin typeface="Cambria"/>
                <a:cs typeface="Cambria"/>
              </a:rPr>
              <a:t>A</a:t>
            </a:r>
            <a:r>
              <a:rPr dirty="0" sz="850" spc="40">
                <a:solidFill>
                  <a:srgbClr val="5231BA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5B3DBF"/>
                </a:solidFill>
                <a:latin typeface="Cambria"/>
                <a:cs typeface="Cambria"/>
              </a:rPr>
              <a:t>T</a:t>
            </a:r>
            <a:r>
              <a:rPr dirty="0" sz="850" spc="90">
                <a:solidFill>
                  <a:srgbClr val="5B3DBF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D2DC1"/>
                </a:solidFill>
                <a:latin typeface="Cambria"/>
                <a:cs typeface="Cambria"/>
              </a:rPr>
              <a:t>A</a:t>
            </a:r>
            <a:r>
              <a:rPr dirty="0" sz="850" spc="135">
                <a:solidFill>
                  <a:srgbClr val="4D2DC1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DACAFF"/>
                </a:solidFill>
                <a:latin typeface="Cambria"/>
                <a:cs typeface="Cambria"/>
              </a:rPr>
              <a:t>S</a:t>
            </a:r>
            <a:r>
              <a:rPr dirty="0" sz="850" spc="200">
                <a:solidFill>
                  <a:srgbClr val="DACAFF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B26C3"/>
                </a:solidFill>
                <a:latin typeface="Cambria"/>
                <a:cs typeface="Cambria"/>
              </a:rPr>
              <a:t>E</a:t>
            </a:r>
            <a:r>
              <a:rPr dirty="0" sz="850" spc="90">
                <a:solidFill>
                  <a:srgbClr val="4B26C3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AC95F7"/>
                </a:solidFill>
                <a:latin typeface="Cambria"/>
                <a:cs typeface="Cambria"/>
              </a:rPr>
              <a:t>T</a:t>
            </a:r>
            <a:r>
              <a:rPr dirty="0" sz="850" spc="215">
                <a:solidFill>
                  <a:srgbClr val="AC95F7"/>
                </a:solidFill>
                <a:latin typeface="Cambria"/>
                <a:cs typeface="Cambria"/>
              </a:rPr>
              <a:t>  </a:t>
            </a:r>
            <a:r>
              <a:rPr dirty="0" sz="850">
                <a:solidFill>
                  <a:srgbClr val="522DC8"/>
                </a:solidFill>
                <a:latin typeface="Cambria"/>
                <a:cs typeface="Cambria"/>
              </a:rPr>
              <a:t>F</a:t>
            </a:r>
            <a:r>
              <a:rPr dirty="0" sz="850" spc="130">
                <a:solidFill>
                  <a:srgbClr val="522DC8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522FCA"/>
                </a:solidFill>
                <a:latin typeface="Cambria"/>
                <a:cs typeface="Cambria"/>
              </a:rPr>
              <a:t>E</a:t>
            </a:r>
            <a:r>
              <a:rPr dirty="0" sz="850" spc="90">
                <a:solidFill>
                  <a:srgbClr val="522FCA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D2FB8"/>
                </a:solidFill>
                <a:latin typeface="Cambria"/>
                <a:cs typeface="Cambria"/>
              </a:rPr>
              <a:t>A</a:t>
            </a:r>
            <a:r>
              <a:rPr dirty="0" sz="850" spc="65">
                <a:solidFill>
                  <a:srgbClr val="4D2FB8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F2DCF"/>
                </a:solidFill>
                <a:latin typeface="Cambria"/>
                <a:cs typeface="Cambria"/>
              </a:rPr>
              <a:t>T</a:t>
            </a:r>
            <a:r>
              <a:rPr dirty="0" sz="850" spc="100">
                <a:solidFill>
                  <a:srgbClr val="4F2DCF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F2FBA"/>
                </a:solidFill>
                <a:latin typeface="Cambria"/>
                <a:cs typeface="Cambria"/>
              </a:rPr>
              <a:t>U</a:t>
            </a:r>
            <a:r>
              <a:rPr dirty="0" sz="850" spc="150">
                <a:solidFill>
                  <a:srgbClr val="4F2FBA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5433C1"/>
                </a:solidFill>
                <a:latin typeface="Cambria"/>
                <a:cs typeface="Cambria"/>
              </a:rPr>
              <a:t>R</a:t>
            </a:r>
            <a:r>
              <a:rPr dirty="0" sz="850" spc="160">
                <a:solidFill>
                  <a:srgbClr val="5433C1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522DD1"/>
                </a:solidFill>
                <a:latin typeface="Cambria"/>
                <a:cs typeface="Cambria"/>
              </a:rPr>
              <a:t>E</a:t>
            </a:r>
            <a:r>
              <a:rPr dirty="0" sz="850" spc="125">
                <a:solidFill>
                  <a:srgbClr val="522DD1"/>
                </a:solidFill>
                <a:latin typeface="Cambria"/>
                <a:cs typeface="Cambria"/>
              </a:rPr>
              <a:t> </a:t>
            </a:r>
            <a:r>
              <a:rPr dirty="0" sz="850" spc="-50">
                <a:solidFill>
                  <a:srgbClr val="4F2AC3"/>
                </a:solidFill>
                <a:latin typeface="Cambria"/>
                <a:cs typeface="Cambria"/>
              </a:rPr>
              <a:t>S</a:t>
            </a:r>
            <a:endParaRPr sz="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2150" spc="-20">
                <a:solidFill>
                  <a:srgbClr val="0F0F0F"/>
                </a:solidFill>
                <a:latin typeface="Cambria"/>
                <a:cs typeface="Cambria"/>
              </a:rPr>
              <a:t>Feature</a:t>
            </a:r>
            <a:r>
              <a:rPr dirty="0" sz="2150" spc="-7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2150" spc="-20">
                <a:solidFill>
                  <a:srgbClr val="0C0C0C"/>
                </a:solidFill>
                <a:latin typeface="Cambria"/>
                <a:cs typeface="Cambria"/>
              </a:rPr>
              <a:t>Description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03848" y="1105408"/>
            <a:ext cx="339534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5">
                <a:solidFill>
                  <a:srgbClr val="0E0E0E"/>
                </a:solidFill>
                <a:latin typeface="Cambria"/>
                <a:cs typeface="Cambria"/>
              </a:rPr>
              <a:t>Observed</a:t>
            </a:r>
            <a:r>
              <a:rPr dirty="0" sz="700" spc="1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700" spc="-10">
                <a:solidFill>
                  <a:srgbClr val="0E0E0E"/>
                </a:solidFill>
                <a:latin typeface="Cambria"/>
                <a:cs typeface="Cambria"/>
              </a:rPr>
              <a:t>Properties</a:t>
            </a:r>
            <a:endParaRPr sz="700">
              <a:latin typeface="Cambria"/>
              <a:cs typeface="Cambria"/>
            </a:endParaRPr>
          </a:p>
          <a:p>
            <a:pPr marL="13970" marR="5080" indent="635">
              <a:lnSpc>
                <a:spcPct val="106700"/>
              </a:lnSpc>
              <a:spcBef>
                <a:spcPts val="459"/>
              </a:spcBef>
            </a:pPr>
            <a:r>
              <a:rPr dirty="0" sz="600" spc="-35">
                <a:solidFill>
                  <a:srgbClr val="111111"/>
                </a:solidFill>
                <a:latin typeface="Cambria"/>
                <a:cs typeface="Cambria"/>
              </a:rPr>
              <a:t>The</a:t>
            </a:r>
            <a:r>
              <a:rPr dirty="0" sz="600" spc="-1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30" b="1">
                <a:solidFill>
                  <a:srgbClr val="0F0F0F"/>
                </a:solidFill>
                <a:latin typeface="Cambria"/>
                <a:cs typeface="Cambria"/>
              </a:rPr>
              <a:t>dataset</a:t>
            </a:r>
            <a:r>
              <a:rPr dirty="0" sz="600" spc="45" b="1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40">
                <a:solidFill>
                  <a:srgbClr val="151515"/>
                </a:solidFill>
                <a:latin typeface="Cambria"/>
                <a:cs typeface="Cambria"/>
              </a:rPr>
              <a:t>includes</a:t>
            </a:r>
            <a:r>
              <a:rPr dirty="0" sz="600" spc="-5">
                <a:solidFill>
                  <a:srgbClr val="151515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111111"/>
                </a:solidFill>
                <a:latin typeface="Cambria"/>
                <a:cs typeface="Cambria"/>
              </a:rPr>
              <a:t>critical</a:t>
            </a:r>
            <a:r>
              <a:rPr dirty="0" sz="600" spc="4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20">
                <a:solidFill>
                  <a:srgbClr val="0E0E0E"/>
                </a:solidFill>
                <a:latin typeface="Cambria"/>
                <a:cs typeface="Cambria"/>
              </a:rPr>
              <a:t>observed</a:t>
            </a:r>
            <a:r>
              <a:rPr dirty="0" sz="600" spc="7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600" spc="-35">
                <a:solidFill>
                  <a:srgbClr val="0F0F0F"/>
                </a:solidFill>
                <a:latin typeface="Cambria"/>
                <a:cs typeface="Cambria"/>
              </a:rPr>
              <a:t>properties</a:t>
            </a:r>
            <a:r>
              <a:rPr dirty="0" sz="600" spc="2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0C0C0C"/>
                </a:solidFill>
                <a:latin typeface="Cambria"/>
                <a:cs typeface="Cambria"/>
              </a:rPr>
              <a:t>essential</a:t>
            </a:r>
            <a:r>
              <a:rPr dirty="0" sz="600" spc="45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600" spc="-20">
                <a:solidFill>
                  <a:srgbClr val="111111"/>
                </a:solidFill>
                <a:latin typeface="Cambria"/>
                <a:cs typeface="Cambria"/>
              </a:rPr>
              <a:t>for</a:t>
            </a:r>
            <a:r>
              <a:rPr dirty="0" sz="600" spc="1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20">
                <a:solidFill>
                  <a:srgbClr val="0C0C0C"/>
                </a:solidFill>
                <a:latin typeface="Cambria"/>
                <a:cs typeface="Cambria"/>
              </a:rPr>
              <a:t>analysis,</a:t>
            </a:r>
            <a:r>
              <a:rPr dirty="0" sz="600" spc="25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111111"/>
                </a:solidFill>
                <a:latin typeface="Cambria"/>
                <a:cs typeface="Cambria"/>
              </a:rPr>
              <a:t>such</a:t>
            </a:r>
            <a:r>
              <a:rPr dirty="0" sz="600" spc="4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b="1">
                <a:solidFill>
                  <a:srgbClr val="0F0F0F"/>
                </a:solidFill>
                <a:latin typeface="Cambria"/>
                <a:cs typeface="Cambria"/>
              </a:rPr>
              <a:t>as</a:t>
            </a:r>
            <a:r>
              <a:rPr dirty="0" sz="600" spc="15" b="1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40" b="1">
                <a:solidFill>
                  <a:srgbClr val="131313"/>
                </a:solidFill>
                <a:latin typeface="Cambria"/>
                <a:cs typeface="Cambria"/>
              </a:rPr>
              <a:t>Peak</a:t>
            </a:r>
            <a:r>
              <a:rPr dirty="0" sz="600" spc="50" b="1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0E0E0E"/>
                </a:solidFill>
                <a:latin typeface="Cambria"/>
                <a:cs typeface="Cambria"/>
              </a:rPr>
              <a:t>Frequency.</a:t>
            </a:r>
            <a:r>
              <a:rPr dirty="0" sz="600" spc="25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0F0F0F"/>
                </a:solidFill>
                <a:latin typeface="Cambria"/>
                <a:cs typeface="Cambria"/>
              </a:rPr>
              <a:t>Flux,</a:t>
            </a:r>
            <a:r>
              <a:rPr dirty="0" sz="600" spc="2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10" b="1">
                <a:solidFill>
                  <a:srgbClr val="0F0F0F"/>
                </a:solidFill>
                <a:latin typeface="Cambria"/>
                <a:cs typeface="Cambria"/>
              </a:rPr>
              <a:t>Fluence,</a:t>
            </a:r>
            <a:r>
              <a:rPr dirty="0" sz="600" spc="500" b="1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111111"/>
                </a:solidFill>
                <a:latin typeface="Cambria"/>
                <a:cs typeface="Cambria"/>
              </a:rPr>
              <a:t>and</a:t>
            </a:r>
            <a:r>
              <a:rPr dirty="0" sz="600" spc="5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30">
                <a:solidFill>
                  <a:srgbClr val="0F0F0F"/>
                </a:solidFill>
                <a:latin typeface="Cambria"/>
                <a:cs typeface="Cambria"/>
              </a:rPr>
              <a:t>Boxcor</a:t>
            </a:r>
            <a:r>
              <a:rPr dirty="0" sz="600" spc="1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111111"/>
                </a:solidFill>
                <a:latin typeface="Cambria"/>
                <a:cs typeface="Cambria"/>
              </a:rPr>
              <a:t>Widih.</a:t>
            </a:r>
            <a:r>
              <a:rPr dirty="0" sz="600" spc="1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20">
                <a:solidFill>
                  <a:srgbClr val="0F0F0F"/>
                </a:solidFill>
                <a:latin typeface="Cambria"/>
                <a:cs typeface="Cambria"/>
              </a:rPr>
              <a:t>These</a:t>
            </a:r>
            <a:r>
              <a:rPr dirty="0" sz="600" spc="2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131313"/>
                </a:solidFill>
                <a:latin typeface="Cambria"/>
                <a:cs typeface="Cambria"/>
              </a:rPr>
              <a:t>parameters</a:t>
            </a:r>
            <a:r>
              <a:rPr dirty="0" sz="600" spc="7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600" spc="-30">
                <a:solidFill>
                  <a:srgbClr val="111111"/>
                </a:solidFill>
                <a:latin typeface="Cambria"/>
                <a:cs typeface="Cambria"/>
              </a:rPr>
              <a:t>provide</a:t>
            </a:r>
            <a:r>
              <a:rPr dirty="0" sz="600" spc="4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111111"/>
                </a:solidFill>
                <a:latin typeface="Cambria"/>
                <a:cs typeface="Cambria"/>
              </a:rPr>
              <a:t>insights</a:t>
            </a:r>
            <a:r>
              <a:rPr dirty="0" sz="600" spc="5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30">
                <a:solidFill>
                  <a:srgbClr val="1A1A1A"/>
                </a:solidFill>
                <a:latin typeface="Cambria"/>
                <a:cs typeface="Cambria"/>
              </a:rPr>
              <a:t>into </a:t>
            </a:r>
            <a:r>
              <a:rPr dirty="0" sz="600">
                <a:solidFill>
                  <a:srgbClr val="111111"/>
                </a:solidFill>
                <a:latin typeface="Cambria"/>
                <a:cs typeface="Cambria"/>
              </a:rPr>
              <a:t>the</a:t>
            </a:r>
            <a:r>
              <a:rPr dirty="0" sz="600" spc="2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111111"/>
                </a:solidFill>
                <a:latin typeface="Cambria"/>
                <a:cs typeface="Cambria"/>
              </a:rPr>
              <a:t>behavior</a:t>
            </a:r>
            <a:r>
              <a:rPr dirty="0" sz="600" spc="4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20">
                <a:solidFill>
                  <a:srgbClr val="0F0F0F"/>
                </a:solidFill>
                <a:latin typeface="Cambria"/>
                <a:cs typeface="Cambria"/>
              </a:rPr>
              <a:t>and</a:t>
            </a:r>
            <a:r>
              <a:rPr dirty="0" sz="60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20">
                <a:solidFill>
                  <a:srgbClr val="0E0E0E"/>
                </a:solidFill>
                <a:latin typeface="Cambria"/>
                <a:cs typeface="Cambria"/>
              </a:rPr>
              <a:t>characteristics</a:t>
            </a:r>
            <a:r>
              <a:rPr dirty="0" sz="600" spc="-55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181818"/>
                </a:solidFill>
                <a:latin typeface="Cambria"/>
                <a:cs typeface="Cambria"/>
              </a:rPr>
              <a:t>of</a:t>
            </a:r>
            <a:r>
              <a:rPr dirty="0" sz="600" spc="20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dirty="0" sz="600" spc="-20">
                <a:solidFill>
                  <a:srgbClr val="111111"/>
                </a:solidFill>
                <a:latin typeface="Cambria"/>
                <a:cs typeface="Cambria"/>
              </a:rPr>
              <a:t>the</a:t>
            </a:r>
            <a:r>
              <a:rPr dirty="0" sz="600" spc="-2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0F0F0F"/>
                </a:solidFill>
                <a:latin typeface="Cambria"/>
                <a:cs typeface="Cambria"/>
              </a:rPr>
              <a:t>data</a:t>
            </a:r>
            <a:r>
              <a:rPr dirty="0" sz="600" spc="2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0F0F0F"/>
                </a:solidFill>
                <a:latin typeface="Cambria"/>
                <a:cs typeface="Cambria"/>
              </a:rPr>
              <a:t>being</a:t>
            </a:r>
            <a:r>
              <a:rPr dirty="0" sz="600" spc="50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0E0E0E"/>
                </a:solidFill>
                <a:latin typeface="Cambria"/>
                <a:cs typeface="Cambria"/>
              </a:rPr>
              <a:t>studied.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89310" y="1842770"/>
            <a:ext cx="3596640" cy="392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5028DA"/>
                </a:solidFill>
                <a:latin typeface="Cambria"/>
                <a:cs typeface="Cambria"/>
              </a:rPr>
              <a:t>@</a:t>
            </a:r>
            <a:r>
              <a:rPr dirty="0" sz="750" spc="350">
                <a:solidFill>
                  <a:srgbClr val="5028DA"/>
                </a:solidFill>
                <a:latin typeface="Cambria"/>
                <a:cs typeface="Cambria"/>
              </a:rPr>
              <a:t>  </a:t>
            </a:r>
            <a:r>
              <a:rPr dirty="0" sz="750">
                <a:solidFill>
                  <a:srgbClr val="0F0F0F"/>
                </a:solidFill>
                <a:latin typeface="Cambria"/>
                <a:cs typeface="Cambria"/>
              </a:rPr>
              <a:t>Peak</a:t>
            </a:r>
            <a:r>
              <a:rPr dirty="0" sz="750" spc="-5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750" spc="-10">
                <a:solidFill>
                  <a:srgbClr val="111111"/>
                </a:solidFill>
                <a:latin typeface="Cambria"/>
                <a:cs typeface="Cambria"/>
              </a:rPr>
              <a:t>Frequency</a:t>
            </a:r>
            <a:r>
              <a:rPr dirty="0" sz="750" spc="4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750" spc="-25">
                <a:solidFill>
                  <a:srgbClr val="111111"/>
                </a:solidFill>
                <a:latin typeface="Cambria"/>
                <a:cs typeface="Cambria"/>
              </a:rPr>
              <a:t>(v)</a:t>
            </a:r>
            <a:endParaRPr sz="750">
              <a:latin typeface="Cambria"/>
              <a:cs typeface="Cambria"/>
            </a:endParaRPr>
          </a:p>
          <a:p>
            <a:pPr marL="230504" marR="5080" indent="-635">
              <a:lnSpc>
                <a:spcPct val="110000"/>
              </a:lnSpc>
              <a:spcBef>
                <a:spcPts val="400"/>
              </a:spcBef>
            </a:pPr>
            <a:r>
              <a:rPr dirty="0" sz="600">
                <a:solidFill>
                  <a:srgbClr val="111111"/>
                </a:solidFill>
                <a:latin typeface="Cambria"/>
                <a:cs typeface="Cambria"/>
              </a:rPr>
              <a:t>Peak</a:t>
            </a:r>
            <a:r>
              <a:rPr dirty="0" sz="600" spc="4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35">
                <a:solidFill>
                  <a:srgbClr val="0F0F0F"/>
                </a:solidFill>
                <a:latin typeface="Cambria"/>
                <a:cs typeface="Cambria"/>
              </a:rPr>
              <a:t>Frequency</a:t>
            </a:r>
            <a:r>
              <a:rPr dirty="0" sz="600" spc="7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35">
                <a:solidFill>
                  <a:srgbClr val="0C0C0C"/>
                </a:solidFill>
                <a:latin typeface="Cambria"/>
                <a:cs typeface="Cambria"/>
              </a:rPr>
              <a:t>represents</a:t>
            </a:r>
            <a:r>
              <a:rPr dirty="0" sz="600" spc="35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0F0F0F"/>
                </a:solidFill>
                <a:latin typeface="Cambria"/>
                <a:cs typeface="Cambria"/>
              </a:rPr>
              <a:t>the</a:t>
            </a:r>
            <a:r>
              <a:rPr dirty="0" sz="60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30">
                <a:solidFill>
                  <a:srgbClr val="131313"/>
                </a:solidFill>
                <a:latin typeface="Cambria"/>
                <a:cs typeface="Cambria"/>
              </a:rPr>
              <a:t>frequency</a:t>
            </a:r>
            <a:r>
              <a:rPr dirty="0" sz="600" spc="4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1A1A1A"/>
                </a:solidFill>
                <a:latin typeface="Cambria"/>
                <a:cs typeface="Cambria"/>
              </a:rPr>
              <a:t>at</a:t>
            </a:r>
            <a:r>
              <a:rPr dirty="0" sz="600" spc="-10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dirty="0" sz="600" spc="-35">
                <a:solidFill>
                  <a:srgbClr val="0F0F0F"/>
                </a:solidFill>
                <a:latin typeface="Cambria"/>
                <a:cs typeface="Cambria"/>
              </a:rPr>
              <a:t>which</a:t>
            </a:r>
            <a:r>
              <a:rPr dirty="0" sz="600" spc="2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dirty="0" sz="600" spc="2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0C0C0C"/>
                </a:solidFill>
                <a:latin typeface="Cambria"/>
                <a:cs typeface="Cambria"/>
              </a:rPr>
              <a:t>maximum</a:t>
            </a:r>
            <a:r>
              <a:rPr dirty="0" sz="600" spc="1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600" spc="-20">
                <a:solidFill>
                  <a:srgbClr val="131313"/>
                </a:solidFill>
                <a:latin typeface="Cambria"/>
                <a:cs typeface="Cambria"/>
              </a:rPr>
              <a:t>flux</a:t>
            </a:r>
            <a:r>
              <a:rPr dirty="0" sz="600" spc="2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600" spc="-35">
                <a:solidFill>
                  <a:srgbClr val="181818"/>
                </a:solidFill>
                <a:latin typeface="Cambria"/>
                <a:cs typeface="Cambria"/>
              </a:rPr>
              <a:t>is</a:t>
            </a:r>
            <a:r>
              <a:rPr dirty="0" sz="600" spc="-15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0E0E0E"/>
                </a:solidFill>
                <a:latin typeface="Cambria"/>
                <a:cs typeface="Cambria"/>
              </a:rPr>
              <a:t>observed.</a:t>
            </a:r>
            <a:r>
              <a:rPr dirty="0" sz="600" spc="5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111111"/>
                </a:solidFill>
                <a:latin typeface="Cambria"/>
                <a:cs typeface="Cambria"/>
              </a:rPr>
              <a:t>It</a:t>
            </a:r>
            <a:r>
              <a:rPr dirty="0" sz="600" spc="1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45">
                <a:solidFill>
                  <a:srgbClr val="131313"/>
                </a:solidFill>
                <a:latin typeface="Cambria"/>
                <a:cs typeface="Cambria"/>
              </a:rPr>
              <a:t>is</a:t>
            </a:r>
            <a:r>
              <a:rPr dirty="0" sz="600" spc="1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1A1A1A"/>
                </a:solidFill>
                <a:latin typeface="Cambria"/>
                <a:cs typeface="Cambria"/>
              </a:rPr>
              <a:t>vital</a:t>
            </a:r>
            <a:r>
              <a:rPr dirty="0" sz="600" spc="5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dirty="0" sz="600" spc="-20">
                <a:solidFill>
                  <a:srgbClr val="181818"/>
                </a:solidFill>
                <a:latin typeface="Cambria"/>
                <a:cs typeface="Cambria"/>
              </a:rPr>
              <a:t>for</a:t>
            </a:r>
            <a:r>
              <a:rPr dirty="0" sz="600" spc="-5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111111"/>
                </a:solidFill>
                <a:latin typeface="Cambria"/>
                <a:cs typeface="Cambria"/>
              </a:rPr>
              <a:t>understanding</a:t>
            </a:r>
            <a:r>
              <a:rPr dirty="0" sz="600" spc="50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20">
                <a:solidFill>
                  <a:srgbClr val="0F0F0F"/>
                </a:solidFill>
                <a:latin typeface="Cambria"/>
                <a:cs typeface="Cambria"/>
              </a:rPr>
              <a:t>the</a:t>
            </a:r>
            <a:r>
              <a:rPr dirty="0" sz="600" spc="-2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111111"/>
                </a:solidFill>
                <a:latin typeface="Cambria"/>
                <a:cs typeface="Cambria"/>
              </a:rPr>
              <a:t>emission</a:t>
            </a:r>
            <a:r>
              <a:rPr dirty="0" sz="600" spc="2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0F0F0F"/>
                </a:solidFill>
                <a:latin typeface="Cambria"/>
                <a:cs typeface="Cambria"/>
              </a:rPr>
              <a:t>mechanisms</a:t>
            </a:r>
            <a:r>
              <a:rPr dirty="0" sz="600" spc="4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0E0E0E"/>
                </a:solidFill>
                <a:latin typeface="Cambria"/>
                <a:cs typeface="Cambria"/>
              </a:rPr>
              <a:t>and</a:t>
            </a:r>
            <a:r>
              <a:rPr dirty="0" sz="600" spc="15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0F0F0F"/>
                </a:solidFill>
                <a:latin typeface="Cambria"/>
                <a:cs typeface="Cambria"/>
              </a:rPr>
              <a:t>the</a:t>
            </a:r>
            <a:r>
              <a:rPr dirty="0" sz="600" spc="-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30">
                <a:solidFill>
                  <a:srgbClr val="111111"/>
                </a:solidFill>
                <a:latin typeface="Cambria"/>
                <a:cs typeface="Cambria"/>
              </a:rPr>
              <a:t>nature</a:t>
            </a:r>
            <a:r>
              <a:rPr dirty="0" sz="600" spc="1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111111"/>
                </a:solidFill>
                <a:latin typeface="Cambria"/>
                <a:cs typeface="Cambria"/>
              </a:rPr>
              <a:t>of</a:t>
            </a:r>
            <a:r>
              <a:rPr dirty="0" sz="600" spc="1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0C0C0C"/>
                </a:solidFill>
                <a:latin typeface="Cambria"/>
                <a:cs typeface="Cambria"/>
              </a:rPr>
              <a:t>the</a:t>
            </a:r>
            <a:r>
              <a:rPr dirty="0" sz="600" spc="15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600" spc="-30">
                <a:solidFill>
                  <a:srgbClr val="0F0F0F"/>
                </a:solidFill>
                <a:latin typeface="Cambria"/>
                <a:cs typeface="Cambria"/>
              </a:rPr>
              <a:t>sources</a:t>
            </a:r>
            <a:r>
              <a:rPr dirty="0" sz="600" spc="2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50">
                <a:solidFill>
                  <a:srgbClr val="2D2D2D"/>
                </a:solidFill>
                <a:latin typeface="Cambria"/>
                <a:cs typeface="Cambria"/>
              </a:rPr>
              <a:t>in</a:t>
            </a:r>
            <a:r>
              <a:rPr dirty="0" sz="600" spc="15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131313"/>
                </a:solidFill>
                <a:latin typeface="Cambria"/>
                <a:cs typeface="Cambria"/>
              </a:rPr>
              <a:t>the</a:t>
            </a:r>
            <a:r>
              <a:rPr dirty="0" sz="600" spc="-5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0F0F0F"/>
                </a:solidFill>
                <a:latin typeface="Cambria"/>
                <a:cs typeface="Cambria"/>
              </a:rPr>
              <a:t>dataset.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05108" y="2504948"/>
            <a:ext cx="332359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dirty="0" sz="600" b="1">
                <a:solidFill>
                  <a:srgbClr val="131313"/>
                </a:solidFill>
                <a:latin typeface="Times New Roman"/>
                <a:cs typeface="Times New Roman"/>
              </a:rPr>
              <a:t>Flux</a:t>
            </a:r>
            <a:r>
              <a:rPr dirty="0" sz="600" spc="105" b="1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600" spc="-25">
                <a:solidFill>
                  <a:srgbClr val="0F0F0F"/>
                </a:solidFill>
                <a:latin typeface="Times New Roman"/>
                <a:cs typeface="Times New Roman"/>
              </a:rPr>
              <a:t>(S)</a:t>
            </a:r>
            <a:endParaRPr sz="600">
              <a:latin typeface="Times New Roman"/>
              <a:cs typeface="Times New Roman"/>
            </a:endParaRPr>
          </a:p>
          <a:p>
            <a:pPr marL="12700" marR="5080" indent="1905">
              <a:lnSpc>
                <a:spcPct val="106700"/>
              </a:lnSpc>
              <a:spcBef>
                <a:spcPts val="500"/>
              </a:spcBef>
            </a:pPr>
            <a:r>
              <a:rPr dirty="0" sz="600" spc="-40">
                <a:solidFill>
                  <a:srgbClr val="131313"/>
                </a:solidFill>
                <a:latin typeface="Cambria"/>
                <a:cs typeface="Cambria"/>
              </a:rPr>
              <a:t>Flux</a:t>
            </a:r>
            <a:r>
              <a:rPr dirty="0" sz="60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181818"/>
                </a:solidFill>
                <a:latin typeface="Cambria"/>
                <a:cs typeface="Cambria"/>
              </a:rPr>
              <a:t>quontifies</a:t>
            </a:r>
            <a:r>
              <a:rPr dirty="0" sz="600" spc="30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1C1C1C"/>
                </a:solidFill>
                <a:latin typeface="Cambria"/>
                <a:cs typeface="Cambria"/>
              </a:rPr>
              <a:t>the</a:t>
            </a:r>
            <a:r>
              <a:rPr dirty="0" sz="600" spc="-15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600" spc="-20">
                <a:solidFill>
                  <a:srgbClr val="111111"/>
                </a:solidFill>
                <a:latin typeface="Cambria"/>
                <a:cs typeface="Cambria"/>
              </a:rPr>
              <a:t>amount</a:t>
            </a:r>
            <a:r>
              <a:rPr dirty="0" sz="600" spc="2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262626"/>
                </a:solidFill>
                <a:latin typeface="Cambria"/>
                <a:cs typeface="Cambria"/>
              </a:rPr>
              <a:t>of</a:t>
            </a:r>
            <a:r>
              <a:rPr dirty="0" sz="600" spc="3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131313"/>
                </a:solidFill>
                <a:latin typeface="Cambria"/>
                <a:cs typeface="Cambria"/>
              </a:rPr>
              <a:t>energy</a:t>
            </a:r>
            <a:r>
              <a:rPr dirty="0" sz="600" spc="3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600" spc="-35" b="1">
                <a:solidFill>
                  <a:srgbClr val="111111"/>
                </a:solidFill>
                <a:latin typeface="Cambria"/>
                <a:cs typeface="Cambria"/>
              </a:rPr>
              <a:t>emined</a:t>
            </a:r>
            <a:r>
              <a:rPr dirty="0" sz="600" spc="45" b="1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65" b="1">
                <a:solidFill>
                  <a:srgbClr val="151515"/>
                </a:solidFill>
                <a:latin typeface="Cambria"/>
                <a:cs typeface="Cambria"/>
              </a:rPr>
              <a:t>per</a:t>
            </a:r>
            <a:r>
              <a:rPr dirty="0" sz="600" spc="10" b="1">
                <a:solidFill>
                  <a:srgbClr val="151515"/>
                </a:solidFill>
                <a:latin typeface="Cambria"/>
                <a:cs typeface="Cambria"/>
              </a:rPr>
              <a:t> </a:t>
            </a:r>
            <a:r>
              <a:rPr dirty="0" sz="600" spc="-45">
                <a:solidFill>
                  <a:srgbClr val="111111"/>
                </a:solidFill>
                <a:latin typeface="Cambria"/>
                <a:cs typeface="Cambria"/>
              </a:rPr>
              <a:t>unit</a:t>
            </a:r>
            <a:r>
              <a:rPr dirty="0" sz="600" spc="1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0F0F0F"/>
                </a:solidFill>
                <a:latin typeface="Cambria"/>
                <a:cs typeface="Cambria"/>
              </a:rPr>
              <a:t>area.</a:t>
            </a:r>
            <a:r>
              <a:rPr dirty="0" sz="600" spc="-2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35">
                <a:solidFill>
                  <a:srgbClr val="2D2D2D"/>
                </a:solidFill>
                <a:latin typeface="Cambria"/>
                <a:cs typeface="Cambria"/>
              </a:rPr>
              <a:t>This</a:t>
            </a:r>
            <a:r>
              <a:rPr dirty="0" sz="600" spc="35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1C1C1C"/>
                </a:solidFill>
                <a:latin typeface="Cambria"/>
                <a:cs typeface="Cambria"/>
              </a:rPr>
              <a:t>metric</a:t>
            </a:r>
            <a:r>
              <a:rPr dirty="0" sz="600" spc="10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1C1C1C"/>
                </a:solidFill>
                <a:latin typeface="Cambria"/>
                <a:cs typeface="Cambria"/>
              </a:rPr>
              <a:t>is</a:t>
            </a:r>
            <a:r>
              <a:rPr dirty="0" sz="600" spc="-35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0F0F0F"/>
                </a:solidFill>
                <a:latin typeface="Cambria"/>
                <a:cs typeface="Cambria"/>
              </a:rPr>
              <a:t>crucial</a:t>
            </a:r>
            <a:r>
              <a:rPr dirty="0" sz="600" spc="5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35">
                <a:solidFill>
                  <a:srgbClr val="131313"/>
                </a:solidFill>
                <a:latin typeface="Cambria"/>
                <a:cs typeface="Cambria"/>
              </a:rPr>
              <a:t>for</a:t>
            </a:r>
            <a:r>
              <a:rPr dirty="0" sz="600" spc="2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600" spc="-30">
                <a:solidFill>
                  <a:srgbClr val="111111"/>
                </a:solidFill>
                <a:latin typeface="Cambria"/>
                <a:cs typeface="Cambria"/>
              </a:rPr>
              <a:t>measuring</a:t>
            </a:r>
            <a:r>
              <a:rPr dirty="0" sz="600" spc="4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0F0F0F"/>
                </a:solidFill>
                <a:latin typeface="Cambria"/>
                <a:cs typeface="Cambria"/>
              </a:rPr>
              <a:t>the</a:t>
            </a:r>
            <a:r>
              <a:rPr dirty="0" sz="600" spc="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161616"/>
                </a:solidFill>
                <a:latin typeface="Cambria"/>
                <a:cs typeface="Cambria"/>
              </a:rPr>
              <a:t>intensity</a:t>
            </a:r>
            <a:r>
              <a:rPr dirty="0" sz="600" spc="50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111111"/>
                </a:solidFill>
                <a:latin typeface="Cambria"/>
                <a:cs typeface="Cambria"/>
              </a:rPr>
              <a:t>of</a:t>
            </a:r>
            <a:r>
              <a:rPr dirty="0" sz="600" spc="2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20">
                <a:solidFill>
                  <a:srgbClr val="0F0F0F"/>
                </a:solidFill>
                <a:latin typeface="Cambria"/>
                <a:cs typeface="Cambria"/>
              </a:rPr>
              <a:t>the</a:t>
            </a:r>
            <a:r>
              <a:rPr dirty="0" sz="600" spc="-2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0F0F0F"/>
                </a:solidFill>
                <a:latin typeface="Cambria"/>
                <a:cs typeface="Cambria"/>
              </a:rPr>
              <a:t>observed</a:t>
            </a:r>
            <a:r>
              <a:rPr dirty="0" sz="600" spc="6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30">
                <a:solidFill>
                  <a:srgbClr val="0F0F0F"/>
                </a:solidFill>
                <a:latin typeface="Cambria"/>
                <a:cs typeface="Cambria"/>
              </a:rPr>
              <a:t>phenomena</a:t>
            </a:r>
            <a:r>
              <a:rPr dirty="0" sz="600" spc="3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161616"/>
                </a:solidFill>
                <a:latin typeface="Cambria"/>
                <a:cs typeface="Cambria"/>
              </a:rPr>
              <a:t>and</a:t>
            </a:r>
            <a:r>
              <a:rPr dirty="0" sz="600" spc="3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0F0F0F"/>
                </a:solidFill>
                <a:latin typeface="Cambria"/>
                <a:cs typeface="Cambria"/>
              </a:rPr>
              <a:t>helps</a:t>
            </a:r>
            <a:r>
              <a:rPr dirty="0" sz="600" spc="2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70">
                <a:solidFill>
                  <a:srgbClr val="0E0E0E"/>
                </a:solidFill>
                <a:latin typeface="Cambria"/>
                <a:cs typeface="Cambria"/>
              </a:rPr>
              <a:t>in</a:t>
            </a:r>
            <a:r>
              <a:rPr dirty="0" sz="600" spc="25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161616"/>
                </a:solidFill>
                <a:latin typeface="Cambria"/>
                <a:cs typeface="Cambria"/>
              </a:rPr>
              <a:t>comparing</a:t>
            </a:r>
            <a:r>
              <a:rPr dirty="0" sz="600" spc="5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dirty="0" sz="600" spc="-30">
                <a:solidFill>
                  <a:srgbClr val="111111"/>
                </a:solidFill>
                <a:latin typeface="Cambria"/>
                <a:cs typeface="Cambria"/>
              </a:rPr>
              <a:t>different</a:t>
            </a:r>
            <a:r>
              <a:rPr dirty="0" sz="600" spc="2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111111"/>
                </a:solidFill>
                <a:latin typeface="Cambria"/>
                <a:cs typeface="Cambria"/>
              </a:rPr>
              <a:t>sources.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03762" y="3138423"/>
            <a:ext cx="3187065" cy="386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0">
                <a:solidFill>
                  <a:srgbClr val="0F0F0F"/>
                </a:solidFill>
                <a:latin typeface="Cambria"/>
                <a:cs typeface="Cambria"/>
              </a:rPr>
              <a:t>Fluence</a:t>
            </a:r>
            <a:r>
              <a:rPr dirty="0" sz="700" spc="2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700" spc="-25">
                <a:solidFill>
                  <a:srgbClr val="0F0F0F"/>
                </a:solidFill>
                <a:latin typeface="Cambria"/>
                <a:cs typeface="Cambria"/>
              </a:rPr>
              <a:t>(F)</a:t>
            </a:r>
            <a:endParaRPr sz="700">
              <a:latin typeface="Cambria"/>
              <a:cs typeface="Cambria"/>
            </a:endParaRPr>
          </a:p>
          <a:p>
            <a:pPr marL="13970" marR="5080" indent="1905">
              <a:lnSpc>
                <a:spcPct val="106700"/>
              </a:lnSpc>
              <a:spcBef>
                <a:spcPts val="459"/>
              </a:spcBef>
            </a:pPr>
            <a:r>
              <a:rPr dirty="0" sz="600" spc="-25">
                <a:solidFill>
                  <a:srgbClr val="111111"/>
                </a:solidFill>
                <a:latin typeface="Cambria"/>
                <a:cs typeface="Cambria"/>
              </a:rPr>
              <a:t>Fluence</a:t>
            </a:r>
            <a:r>
              <a:rPr dirty="0" sz="600" spc="1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30">
                <a:solidFill>
                  <a:srgbClr val="111111"/>
                </a:solidFill>
                <a:latin typeface="Cambria"/>
                <a:cs typeface="Cambria"/>
              </a:rPr>
              <a:t>is</a:t>
            </a:r>
            <a:r>
              <a:rPr dirty="0" sz="600" spc="-2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1A1A1A"/>
                </a:solidFill>
                <a:latin typeface="Cambria"/>
                <a:cs typeface="Cambria"/>
              </a:rPr>
              <a:t>the</a:t>
            </a:r>
            <a:r>
              <a:rPr dirty="0" sz="600" spc="-30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161616"/>
                </a:solidFill>
                <a:latin typeface="Cambria"/>
                <a:cs typeface="Cambria"/>
              </a:rPr>
              <a:t>total</a:t>
            </a:r>
            <a:r>
              <a:rPr dirty="0" sz="600" spc="35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0F0F0F"/>
                </a:solidFill>
                <a:latin typeface="Cambria"/>
                <a:cs typeface="Cambria"/>
              </a:rPr>
              <a:t>energy</a:t>
            </a:r>
            <a:r>
              <a:rPr dirty="0" sz="600" spc="2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30">
                <a:solidFill>
                  <a:srgbClr val="111111"/>
                </a:solidFill>
                <a:latin typeface="Cambria"/>
                <a:cs typeface="Cambria"/>
              </a:rPr>
              <a:t>received</a:t>
            </a:r>
            <a:r>
              <a:rPr dirty="0" sz="600" spc="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0E0E0E"/>
                </a:solidFill>
                <a:latin typeface="Cambria"/>
                <a:cs typeface="Cambria"/>
              </a:rPr>
              <a:t>over</a:t>
            </a:r>
            <a:r>
              <a:rPr dirty="0" sz="600" spc="-2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131313"/>
                </a:solidFill>
                <a:latin typeface="Cambria"/>
                <a:cs typeface="Cambria"/>
              </a:rPr>
              <a:t>a</a:t>
            </a:r>
            <a:r>
              <a:rPr dirty="0" sz="600" spc="45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0F0F0F"/>
                </a:solidFill>
                <a:latin typeface="Cambria"/>
                <a:cs typeface="Cambria"/>
              </a:rPr>
              <a:t>piven</a:t>
            </a:r>
            <a:r>
              <a:rPr dirty="0" sz="600" spc="2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111111"/>
                </a:solidFill>
                <a:latin typeface="Cambria"/>
                <a:cs typeface="Cambria"/>
              </a:rPr>
              <a:t>area,</a:t>
            </a:r>
            <a:r>
              <a:rPr dirty="0" sz="600" spc="3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30">
                <a:solidFill>
                  <a:srgbClr val="111111"/>
                </a:solidFill>
                <a:latin typeface="Cambria"/>
                <a:cs typeface="Cambria"/>
              </a:rPr>
              <a:t>integrating</a:t>
            </a:r>
            <a:r>
              <a:rPr dirty="0" sz="600" spc="8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181818"/>
                </a:solidFill>
                <a:latin typeface="Cambria"/>
                <a:cs typeface="Cambria"/>
              </a:rPr>
              <a:t>the</a:t>
            </a:r>
            <a:r>
              <a:rPr dirty="0" sz="600" spc="5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dirty="0" sz="600" spc="-40">
                <a:solidFill>
                  <a:srgbClr val="0E0E0E"/>
                </a:solidFill>
                <a:latin typeface="Cambria"/>
                <a:cs typeface="Cambria"/>
              </a:rPr>
              <a:t>flux</a:t>
            </a:r>
            <a:r>
              <a:rPr dirty="0" sz="600" spc="1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600" spc="-20">
                <a:solidFill>
                  <a:srgbClr val="111111"/>
                </a:solidFill>
                <a:latin typeface="Cambria"/>
                <a:cs typeface="Cambria"/>
              </a:rPr>
              <a:t>over</a:t>
            </a:r>
            <a:r>
              <a:rPr dirty="0" sz="600" spc="2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0F0F0F"/>
                </a:solidFill>
                <a:latin typeface="Cambria"/>
                <a:cs typeface="Cambria"/>
              </a:rPr>
              <a:t>time.</a:t>
            </a:r>
            <a:r>
              <a:rPr dirty="0" sz="600" spc="1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111111"/>
                </a:solidFill>
                <a:latin typeface="Cambria"/>
                <a:cs typeface="Cambria"/>
              </a:rPr>
              <a:t>It</a:t>
            </a:r>
            <a:r>
              <a:rPr dirty="0" sz="600" spc="1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50">
                <a:solidFill>
                  <a:srgbClr val="111111"/>
                </a:solidFill>
                <a:latin typeface="Cambria"/>
                <a:cs typeface="Cambria"/>
              </a:rPr>
              <a:t>is</a:t>
            </a:r>
            <a:r>
              <a:rPr dirty="0" sz="600" spc="-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20">
                <a:solidFill>
                  <a:srgbClr val="111111"/>
                </a:solidFill>
                <a:latin typeface="Cambria"/>
                <a:cs typeface="Cambria"/>
              </a:rPr>
              <a:t>significant</a:t>
            </a:r>
            <a:r>
              <a:rPr dirty="0" sz="600" spc="3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161616"/>
                </a:solidFill>
                <a:latin typeface="Cambria"/>
                <a:cs typeface="Cambria"/>
              </a:rPr>
              <a:t>for</a:t>
            </a:r>
            <a:r>
              <a:rPr dirty="0" sz="600" spc="500">
                <a:solidFill>
                  <a:srgbClr val="161616"/>
                </a:solidFill>
                <a:latin typeface="Cambria"/>
                <a:cs typeface="Cambria"/>
              </a:rPr>
              <a:t> </a:t>
            </a:r>
            <a:r>
              <a:rPr dirty="0" sz="600" spc="-30">
                <a:solidFill>
                  <a:srgbClr val="0F0F0F"/>
                </a:solidFill>
                <a:latin typeface="Cambria"/>
                <a:cs typeface="Cambria"/>
              </a:rPr>
              <a:t>determining</a:t>
            </a:r>
            <a:r>
              <a:rPr dirty="0" sz="600" spc="3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35">
                <a:solidFill>
                  <a:srgbClr val="0F0F0F"/>
                </a:solidFill>
                <a:latin typeface="Cambria"/>
                <a:cs typeface="Cambria"/>
              </a:rPr>
              <a:t>rhe</a:t>
            </a:r>
            <a:r>
              <a:rPr dirty="0" sz="60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111111"/>
                </a:solidFill>
                <a:latin typeface="Cambria"/>
                <a:cs typeface="Cambria"/>
              </a:rPr>
              <a:t>total</a:t>
            </a:r>
            <a:r>
              <a:rPr dirty="0" sz="600" spc="2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25">
                <a:solidFill>
                  <a:srgbClr val="0F0F0F"/>
                </a:solidFill>
                <a:latin typeface="Cambria"/>
                <a:cs typeface="Cambria"/>
              </a:rPr>
              <a:t>energy</a:t>
            </a:r>
            <a:r>
              <a:rPr dirty="0" sz="600" spc="-1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-30">
                <a:solidFill>
                  <a:srgbClr val="0F0F0F"/>
                </a:solidFill>
                <a:latin typeface="Cambria"/>
                <a:cs typeface="Cambria"/>
              </a:rPr>
              <a:t>ourput</a:t>
            </a:r>
            <a:r>
              <a:rPr dirty="0" sz="600" spc="1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1C1C1C"/>
                </a:solidFill>
                <a:latin typeface="Cambria"/>
                <a:cs typeface="Cambria"/>
              </a:rPr>
              <a:t>ot</a:t>
            </a:r>
            <a:r>
              <a:rPr dirty="0" sz="600" spc="-20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600" spc="-30">
                <a:solidFill>
                  <a:srgbClr val="111111"/>
                </a:solidFill>
                <a:latin typeface="Cambria"/>
                <a:cs typeface="Cambria"/>
              </a:rPr>
              <a:t>transient</a:t>
            </a:r>
            <a:r>
              <a:rPr dirty="0" sz="600" spc="2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>
                <a:solidFill>
                  <a:srgbClr val="111111"/>
                </a:solidFill>
                <a:latin typeface="Cambria"/>
                <a:cs typeface="Cambria"/>
              </a:rPr>
              <a:t>awonomicol</a:t>
            </a:r>
            <a:r>
              <a:rPr dirty="0" sz="600" spc="2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-10">
                <a:solidFill>
                  <a:srgbClr val="111111"/>
                </a:solidFill>
                <a:latin typeface="Cambria"/>
                <a:cs typeface="Cambria"/>
              </a:rPr>
              <a:t>events.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90584" y="3797300"/>
            <a:ext cx="357314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060" algn="l"/>
              </a:tabLst>
            </a:pPr>
            <a:r>
              <a:rPr dirty="0" sz="600" spc="-50">
                <a:solidFill>
                  <a:srgbClr val="5028DA"/>
                </a:solidFill>
                <a:latin typeface="Cambria"/>
                <a:cs typeface="Cambria"/>
              </a:rPr>
              <a:t>@</a:t>
            </a:r>
            <a:r>
              <a:rPr dirty="0" sz="600">
                <a:solidFill>
                  <a:srgbClr val="5028DA"/>
                </a:solidFill>
                <a:latin typeface="Cambria"/>
                <a:cs typeface="Cambria"/>
              </a:rPr>
              <a:t>	</a:t>
            </a:r>
            <a:r>
              <a:rPr dirty="0" sz="600" spc="20">
                <a:solidFill>
                  <a:srgbClr val="0F0F0F"/>
                </a:solidFill>
                <a:latin typeface="Cambria"/>
                <a:cs typeface="Cambria"/>
              </a:rPr>
              <a:t>Boxcar</a:t>
            </a:r>
            <a:r>
              <a:rPr dirty="0" sz="600" spc="114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600" spc="20">
                <a:solidFill>
                  <a:srgbClr val="111111"/>
                </a:solidFill>
                <a:latin typeface="Cambria"/>
                <a:cs typeface="Cambria"/>
              </a:rPr>
              <a:t>Width</a:t>
            </a:r>
            <a:r>
              <a:rPr dirty="0" sz="600" spc="8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600" spc="35">
                <a:solidFill>
                  <a:srgbClr val="111111"/>
                </a:solidFill>
                <a:latin typeface="Cambria"/>
                <a:cs typeface="Cambria"/>
              </a:rPr>
              <a:t>(at)</a:t>
            </a:r>
            <a:endParaRPr sz="600">
              <a:latin typeface="Cambria"/>
              <a:cs typeface="Cambria"/>
            </a:endParaRPr>
          </a:p>
          <a:p>
            <a:pPr marL="227965" marR="5080">
              <a:lnSpc>
                <a:spcPct val="110000"/>
              </a:lnSpc>
              <a:spcBef>
                <a:spcPts val="455"/>
              </a:spcBef>
            </a:pPr>
            <a:r>
              <a:rPr dirty="0" sz="600" spc="-35">
                <a:solidFill>
                  <a:srgbClr val="111111"/>
                </a:solidFill>
                <a:latin typeface="Arial MT"/>
                <a:cs typeface="Arial MT"/>
              </a:rPr>
              <a:t>Boxcor</a:t>
            </a:r>
            <a:r>
              <a:rPr dirty="0" sz="600" spc="7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40">
                <a:solidFill>
                  <a:srgbClr val="161616"/>
                </a:solidFill>
                <a:latin typeface="Arial MT"/>
                <a:cs typeface="Arial MT"/>
              </a:rPr>
              <a:t>Width</a:t>
            </a:r>
            <a:r>
              <a:rPr dirty="0" sz="600" spc="-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151515"/>
                </a:solidFill>
                <a:latin typeface="Arial MT"/>
                <a:cs typeface="Arial MT"/>
              </a:rPr>
              <a:t>is</a:t>
            </a:r>
            <a:r>
              <a:rPr dirty="0" sz="600" spc="-4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161616"/>
                </a:solidFill>
                <a:latin typeface="Arial MT"/>
                <a:cs typeface="Arial MT"/>
              </a:rPr>
              <a:t>the</a:t>
            </a:r>
            <a:r>
              <a:rPr dirty="0" sz="600" spc="-5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131313"/>
                </a:solidFill>
                <a:latin typeface="Arial MT"/>
                <a:cs typeface="Arial MT"/>
              </a:rPr>
              <a:t>time</a:t>
            </a:r>
            <a:r>
              <a:rPr dirty="0" sz="600" spc="-6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0F0F0F"/>
                </a:solidFill>
                <a:latin typeface="Arial MT"/>
                <a:cs typeface="Arial MT"/>
              </a:rPr>
              <a:t>interval</a:t>
            </a:r>
            <a:r>
              <a:rPr dirty="0" sz="600" spc="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30">
                <a:solidFill>
                  <a:srgbClr val="0F0F0F"/>
                </a:solidFill>
                <a:latin typeface="Arial MT"/>
                <a:cs typeface="Arial MT"/>
              </a:rPr>
              <a:t>over</a:t>
            </a:r>
            <a:r>
              <a:rPr dirty="0" sz="600" spc="5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45">
                <a:solidFill>
                  <a:srgbClr val="131313"/>
                </a:solidFill>
                <a:latin typeface="Arial MT"/>
                <a:cs typeface="Arial MT"/>
              </a:rPr>
              <a:t>which</a:t>
            </a:r>
            <a:r>
              <a:rPr dirty="0" sz="60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600" spc="-3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60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111111"/>
                </a:solidFill>
                <a:latin typeface="Arial MT"/>
                <a:cs typeface="Arial MT"/>
              </a:rPr>
              <a:t>flux</a:t>
            </a:r>
            <a:r>
              <a:rPr dirty="0" sz="6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383838"/>
                </a:solidFill>
                <a:latin typeface="Arial MT"/>
                <a:cs typeface="Arial MT"/>
              </a:rPr>
              <a:t>is</a:t>
            </a:r>
            <a:r>
              <a:rPr dirty="0" sz="600" spc="-5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600" spc="-40">
                <a:solidFill>
                  <a:srgbClr val="111111"/>
                </a:solidFill>
                <a:latin typeface="Arial MT"/>
                <a:cs typeface="Arial MT"/>
              </a:rPr>
              <a:t>averaged.</a:t>
            </a:r>
            <a:r>
              <a:rPr dirty="0" sz="6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60">
                <a:solidFill>
                  <a:srgbClr val="2F2F2F"/>
                </a:solidFill>
                <a:latin typeface="Arial MT"/>
                <a:cs typeface="Arial MT"/>
              </a:rPr>
              <a:t>This</a:t>
            </a:r>
            <a:r>
              <a:rPr dirty="0" sz="600" spc="1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111111"/>
                </a:solidFill>
                <a:latin typeface="Arial MT"/>
                <a:cs typeface="Arial MT"/>
              </a:rPr>
              <a:t>properly</a:t>
            </a:r>
            <a:r>
              <a:rPr dirty="0" sz="600" spc="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50">
                <a:solidFill>
                  <a:srgbClr val="3D3D3D"/>
                </a:solidFill>
                <a:latin typeface="Arial MT"/>
                <a:cs typeface="Arial MT"/>
              </a:rPr>
              <a:t>is</a:t>
            </a:r>
            <a:r>
              <a:rPr dirty="0" sz="600" spc="-1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600" spc="-35">
                <a:solidFill>
                  <a:srgbClr val="111111"/>
                </a:solidFill>
                <a:latin typeface="Arial MT"/>
                <a:cs typeface="Arial MT"/>
              </a:rPr>
              <a:t>essential</a:t>
            </a:r>
            <a:r>
              <a:rPr dirty="0" sz="60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1A1A1A"/>
                </a:solidFill>
                <a:latin typeface="Arial MT"/>
                <a:cs typeface="Arial MT"/>
              </a:rPr>
              <a:t>for</a:t>
            </a:r>
            <a:r>
              <a:rPr dirty="0" sz="6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00" spc="-35">
                <a:solidFill>
                  <a:srgbClr val="1A1A1A"/>
                </a:solidFill>
                <a:latin typeface="Arial MT"/>
                <a:cs typeface="Arial MT"/>
              </a:rPr>
              <a:t>smoothing</a:t>
            </a:r>
            <a:r>
              <a:rPr dirty="0" sz="600" spc="-1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600" spc="5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0F0F0F"/>
                </a:solidFill>
                <a:latin typeface="Arial MT"/>
                <a:cs typeface="Arial MT"/>
              </a:rPr>
              <a:t>dofo</a:t>
            </a:r>
            <a:r>
              <a:rPr dirty="0" sz="600" spc="-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35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dirty="0" sz="600" spc="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40">
                <a:solidFill>
                  <a:srgbClr val="0F0F0F"/>
                </a:solidFill>
                <a:latin typeface="Arial MT"/>
                <a:cs typeface="Arial MT"/>
              </a:rPr>
              <a:t>analyzing</a:t>
            </a:r>
            <a:r>
              <a:rPr dirty="0" sz="600" spc="6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111111"/>
                </a:solidFill>
                <a:latin typeface="Arial MT"/>
                <a:cs typeface="Arial MT"/>
              </a:rPr>
              <a:t>variability</a:t>
            </a:r>
            <a:r>
              <a:rPr dirty="0" sz="60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1A1A1A"/>
                </a:solidFill>
                <a:latin typeface="Arial MT"/>
                <a:cs typeface="Arial MT"/>
              </a:rPr>
              <a:t>in</a:t>
            </a:r>
            <a:r>
              <a:rPr dirty="0" sz="600" spc="-3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00" spc="-30">
                <a:solidFill>
                  <a:srgbClr val="0C0C0C"/>
                </a:solidFill>
                <a:latin typeface="Arial MT"/>
                <a:cs typeface="Arial MT"/>
              </a:rPr>
              <a:t>the</a:t>
            </a:r>
            <a:r>
              <a:rPr dirty="0" sz="600" spc="-3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00" spc="-35">
                <a:solidFill>
                  <a:srgbClr val="0F0F0F"/>
                </a:solidFill>
                <a:latin typeface="Arial MT"/>
                <a:cs typeface="Arial MT"/>
              </a:rPr>
              <a:t>observed</a:t>
            </a:r>
            <a:r>
              <a:rPr dirty="0" sz="600" spc="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0F0F0F"/>
                </a:solidFill>
                <a:latin typeface="Arial MT"/>
                <a:cs typeface="Arial MT"/>
              </a:rPr>
              <a:t>signals.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pc="-35">
                <a:solidFill>
                  <a:srgbClr val="0F0F0F"/>
                </a:solidFill>
              </a:rPr>
              <a:t>Physical</a:t>
            </a:r>
            <a:r>
              <a:rPr dirty="0" spc="20">
                <a:solidFill>
                  <a:srgbClr val="0F0F0F"/>
                </a:solidFill>
              </a:rPr>
              <a:t> </a:t>
            </a:r>
            <a:r>
              <a:rPr dirty="0" spc="-10"/>
              <a:t>Properties</a:t>
            </a:r>
          </a:p>
          <a:p>
            <a:pPr marL="16510" marR="5080" indent="-4445">
              <a:lnSpc>
                <a:spcPct val="106700"/>
              </a:lnSpc>
              <a:spcBef>
                <a:spcPts val="450"/>
              </a:spcBef>
            </a:pPr>
            <a:r>
              <a:rPr dirty="0" sz="600">
                <a:solidFill>
                  <a:srgbClr val="111111"/>
                </a:solidFill>
                <a:latin typeface="Arial MT"/>
                <a:cs typeface="Arial MT"/>
              </a:rPr>
              <a:t>In</a:t>
            </a:r>
            <a:r>
              <a:rPr dirty="0" sz="600" spc="114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111111"/>
                </a:solidFill>
                <a:latin typeface="Arial MT"/>
                <a:cs typeface="Arial MT"/>
              </a:rPr>
              <a:t>addition</a:t>
            </a:r>
            <a:r>
              <a:rPr dirty="0" sz="600" spc="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242424"/>
                </a:solidFill>
                <a:latin typeface="Arial MT"/>
                <a:cs typeface="Arial MT"/>
              </a:rPr>
              <a:t>to</a:t>
            </a:r>
            <a:r>
              <a:rPr dirty="0" sz="600" spc="-5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600" spc="-40">
                <a:solidFill>
                  <a:srgbClr val="0F0F0F"/>
                </a:solidFill>
                <a:latin typeface="Arial MT"/>
                <a:cs typeface="Arial MT"/>
              </a:rPr>
              <a:t>observed</a:t>
            </a:r>
            <a:r>
              <a:rPr dirty="0" sz="60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35">
                <a:solidFill>
                  <a:srgbClr val="0F0F0F"/>
                </a:solidFill>
                <a:latin typeface="Arial MT"/>
                <a:cs typeface="Arial MT"/>
              </a:rPr>
              <a:t>properties,</a:t>
            </a:r>
            <a:r>
              <a:rPr dirty="0" sz="600" spc="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3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600" spc="-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0C0C0C"/>
                </a:solidFill>
                <a:latin typeface="Arial MT"/>
                <a:cs typeface="Arial MT"/>
              </a:rPr>
              <a:t>dataset</a:t>
            </a:r>
            <a:r>
              <a:rPr dirty="0" sz="600" spc="4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600" spc="-40">
                <a:solidFill>
                  <a:srgbClr val="0F0F0F"/>
                </a:solidFill>
                <a:latin typeface="Arial MT"/>
                <a:cs typeface="Arial MT"/>
              </a:rPr>
              <a:t>also</a:t>
            </a:r>
            <a:r>
              <a:rPr dirty="0" sz="600" spc="-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30">
                <a:solidFill>
                  <a:srgbClr val="0F0F0F"/>
                </a:solidFill>
                <a:latin typeface="Arial MT"/>
                <a:cs typeface="Arial MT"/>
              </a:rPr>
              <a:t>contains</a:t>
            </a:r>
            <a:r>
              <a:rPr dirty="0" sz="600" spc="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0F0F0F"/>
                </a:solidFill>
                <a:latin typeface="Arial MT"/>
                <a:cs typeface="Arial MT"/>
              </a:rPr>
              <a:t>important</a:t>
            </a:r>
            <a:r>
              <a:rPr dirty="0" sz="600" spc="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40">
                <a:solidFill>
                  <a:srgbClr val="0F0F0F"/>
                </a:solidFill>
                <a:latin typeface="Arial MT"/>
                <a:cs typeface="Arial MT"/>
              </a:rPr>
              <a:t>physical</a:t>
            </a:r>
            <a:r>
              <a:rPr dirty="0" sz="600" spc="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111111"/>
                </a:solidFill>
                <a:latin typeface="Arial MT"/>
                <a:cs typeface="Arial MT"/>
              </a:rPr>
              <a:t>properties</a:t>
            </a:r>
            <a:r>
              <a:rPr dirty="0" sz="600" spc="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60">
                <a:solidFill>
                  <a:srgbClr val="0F0F0F"/>
                </a:solidFill>
                <a:latin typeface="Arial MT"/>
                <a:cs typeface="Arial MT"/>
              </a:rPr>
              <a:t>such</a:t>
            </a:r>
            <a:r>
              <a:rPr dirty="0" sz="600" spc="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45">
                <a:solidFill>
                  <a:srgbClr val="0F0F0F"/>
                </a:solidFill>
                <a:latin typeface="Arial MT"/>
                <a:cs typeface="Arial MT"/>
              </a:rPr>
              <a:t>as</a:t>
            </a:r>
            <a:r>
              <a:rPr dirty="0" sz="600" spc="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latin typeface="Arial MT"/>
                <a:cs typeface="Arial MT"/>
              </a:rPr>
              <a:t>Redshifi.</a:t>
            </a:r>
            <a:r>
              <a:rPr dirty="0" sz="600" spc="500">
                <a:latin typeface="Arial MT"/>
                <a:cs typeface="Arial MT"/>
              </a:rPr>
              <a:t> </a:t>
            </a:r>
            <a:r>
              <a:rPr dirty="0" sz="600" spc="-45">
                <a:solidFill>
                  <a:srgbClr val="0F0F0F"/>
                </a:solidFill>
                <a:latin typeface="Arial MT"/>
                <a:cs typeface="Arial MT"/>
              </a:rPr>
              <a:t>Rest-</a:t>
            </a:r>
            <a:r>
              <a:rPr dirty="0" sz="600" spc="-35">
                <a:solidFill>
                  <a:srgbClr val="0F0F0F"/>
                </a:solidFill>
                <a:latin typeface="Arial MT"/>
                <a:cs typeface="Arial MT"/>
              </a:rPr>
              <a:t>frome</a:t>
            </a:r>
            <a:r>
              <a:rPr dirty="0" sz="600" spc="5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45">
                <a:solidFill>
                  <a:srgbClr val="111111"/>
                </a:solidFill>
                <a:latin typeface="Arial MT"/>
                <a:cs typeface="Arial MT"/>
              </a:rPr>
              <a:t>Frequency</a:t>
            </a:r>
            <a:r>
              <a:rPr dirty="0" sz="600" spc="1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35">
                <a:solidFill>
                  <a:srgbClr val="111111"/>
                </a:solidFill>
                <a:latin typeface="Arial MT"/>
                <a:cs typeface="Arial MT"/>
              </a:rPr>
              <a:t>Width,</a:t>
            </a:r>
            <a:r>
              <a:rPr dirty="0" sz="6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50">
                <a:solidFill>
                  <a:srgbClr val="111111"/>
                </a:solidFill>
                <a:latin typeface="Arial MT"/>
                <a:cs typeface="Arial MT"/>
              </a:rPr>
              <a:t>Energy,</a:t>
            </a:r>
            <a:r>
              <a:rPr dirty="0" sz="6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40">
                <a:solidFill>
                  <a:srgbClr val="0F0F0F"/>
                </a:solidFill>
                <a:latin typeface="Arial MT"/>
                <a:cs typeface="Arial MT"/>
              </a:rPr>
              <a:t>Luminosity.</a:t>
            </a:r>
            <a:r>
              <a:rPr dirty="0" sz="600" spc="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35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dirty="0" sz="600" spc="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40">
                <a:solidFill>
                  <a:srgbClr val="0F0F0F"/>
                </a:solidFill>
                <a:latin typeface="Arial MT"/>
                <a:cs typeface="Arial MT"/>
              </a:rPr>
              <a:t>Brightness</a:t>
            </a:r>
            <a:r>
              <a:rPr dirty="0" sz="600" spc="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Temperature.</a:t>
            </a:r>
            <a:r>
              <a:rPr dirty="0" sz="600" spc="55">
                <a:latin typeface="Arial MT"/>
                <a:cs typeface="Arial MT"/>
              </a:rPr>
              <a:t> </a:t>
            </a:r>
            <a:r>
              <a:rPr dirty="0" sz="600" spc="-70">
                <a:solidFill>
                  <a:srgbClr val="0F0F0F"/>
                </a:solidFill>
                <a:latin typeface="Arial MT"/>
                <a:cs typeface="Arial MT"/>
              </a:rPr>
              <a:t>These</a:t>
            </a:r>
            <a:r>
              <a:rPr dirty="0" sz="600" spc="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30">
                <a:solidFill>
                  <a:srgbClr val="0F0F0F"/>
                </a:solidFill>
                <a:latin typeface="Arial MT"/>
                <a:cs typeface="Arial MT"/>
              </a:rPr>
              <a:t>properties</a:t>
            </a:r>
            <a:r>
              <a:rPr dirty="0" sz="600" spc="6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35">
                <a:solidFill>
                  <a:srgbClr val="0F0F0F"/>
                </a:solidFill>
                <a:latin typeface="Arial MT"/>
                <a:cs typeface="Arial MT"/>
              </a:rPr>
              <a:t>provide</a:t>
            </a:r>
            <a:r>
              <a:rPr dirty="0" sz="600" spc="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5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dirty="0" sz="600" spc="50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600" spc="-35">
                <a:solidFill>
                  <a:srgbClr val="111111"/>
                </a:solidFill>
                <a:latin typeface="Arial MT"/>
                <a:cs typeface="Arial MT"/>
              </a:rPr>
              <a:t>deeper</a:t>
            </a:r>
            <a:r>
              <a:rPr dirty="0" sz="600" spc="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35">
                <a:solidFill>
                  <a:srgbClr val="0F0F0F"/>
                </a:solidFill>
                <a:latin typeface="Arial MT"/>
                <a:cs typeface="Arial MT"/>
              </a:rPr>
              <a:t>understanding</a:t>
            </a:r>
            <a:r>
              <a:rPr dirty="0" sz="600" spc="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131313"/>
                </a:solidFill>
                <a:latin typeface="Arial MT"/>
                <a:cs typeface="Arial MT"/>
              </a:rPr>
              <a:t>of</a:t>
            </a:r>
            <a:r>
              <a:rPr dirty="0" sz="600" spc="-2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60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45">
                <a:solidFill>
                  <a:srgbClr val="0F0F0F"/>
                </a:solidFill>
                <a:latin typeface="Arial MT"/>
                <a:cs typeface="Arial MT"/>
              </a:rPr>
              <a:t>sources</a:t>
            </a:r>
            <a:r>
              <a:rPr dirty="0" sz="6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4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dirty="0" sz="6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0F0F0F"/>
                </a:solidFill>
                <a:latin typeface="Arial MT"/>
                <a:cs typeface="Arial MT"/>
              </a:rPr>
              <a:t>their</a:t>
            </a:r>
            <a:r>
              <a:rPr dirty="0" sz="60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111111"/>
                </a:solidFill>
                <a:latin typeface="Arial MT"/>
                <a:cs typeface="Arial MT"/>
              </a:rPr>
              <a:t>environments.</a:t>
            </a:r>
            <a:endParaRPr sz="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600">
              <a:latin typeface="Arial MT"/>
              <a:cs typeface="Arial MT"/>
            </a:endParaRPr>
          </a:p>
          <a:p>
            <a:pPr marL="17780">
              <a:lnSpc>
                <a:spcPct val="100000"/>
              </a:lnSpc>
              <a:spcBef>
                <a:spcPts val="5"/>
              </a:spcBef>
            </a:pPr>
            <a:r>
              <a:rPr dirty="0" spc="-25">
                <a:solidFill>
                  <a:srgbClr val="111111"/>
                </a:solidFill>
                <a:latin typeface="Times New Roman"/>
                <a:cs typeface="Times New Roman"/>
              </a:rPr>
              <a:t>Redshift</a:t>
            </a:r>
            <a:r>
              <a:rPr dirty="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pc="-25">
                <a:solidFill>
                  <a:srgbClr val="0F0F0F"/>
                </a:solidFill>
                <a:latin typeface="Times New Roman"/>
                <a:cs typeface="Times New Roman"/>
              </a:rPr>
              <a:t>(z)</a:t>
            </a:r>
          </a:p>
          <a:p>
            <a:pPr marL="16510" marR="15875" indent="1270">
              <a:lnSpc>
                <a:spcPct val="116399"/>
              </a:lnSpc>
              <a:spcBef>
                <a:spcPts val="439"/>
              </a:spcBef>
            </a:pPr>
            <a:r>
              <a:rPr dirty="0" sz="550">
                <a:solidFill>
                  <a:srgbClr val="131313"/>
                </a:solidFill>
              </a:rPr>
              <a:t>Redshift</a:t>
            </a:r>
            <a:r>
              <a:rPr dirty="0" sz="550" spc="85">
                <a:solidFill>
                  <a:srgbClr val="131313"/>
                </a:solidFill>
              </a:rPr>
              <a:t> </a:t>
            </a:r>
            <a:r>
              <a:rPr dirty="0" sz="550">
                <a:solidFill>
                  <a:srgbClr val="0F0F0F"/>
                </a:solidFill>
              </a:rPr>
              <a:t>indicates</a:t>
            </a:r>
            <a:r>
              <a:rPr dirty="0" sz="550" spc="90">
                <a:solidFill>
                  <a:srgbClr val="0F0F0F"/>
                </a:solidFill>
              </a:rPr>
              <a:t> </a:t>
            </a:r>
            <a:r>
              <a:rPr dirty="0" sz="550" spc="-10">
                <a:solidFill>
                  <a:srgbClr val="161616"/>
                </a:solidFill>
              </a:rPr>
              <a:t>how</a:t>
            </a:r>
            <a:r>
              <a:rPr dirty="0" sz="550" spc="55">
                <a:solidFill>
                  <a:srgbClr val="161616"/>
                </a:solidFill>
              </a:rPr>
              <a:t> </a:t>
            </a:r>
            <a:r>
              <a:rPr dirty="0" sz="550">
                <a:solidFill>
                  <a:srgbClr val="161616"/>
                </a:solidFill>
              </a:rPr>
              <a:t>much</a:t>
            </a:r>
            <a:r>
              <a:rPr dirty="0" sz="550" spc="55">
                <a:solidFill>
                  <a:srgbClr val="161616"/>
                </a:solidFill>
              </a:rPr>
              <a:t> </a:t>
            </a:r>
            <a:r>
              <a:rPr dirty="0" sz="550">
                <a:solidFill>
                  <a:srgbClr val="111111"/>
                </a:solidFill>
              </a:rPr>
              <a:t>the</a:t>
            </a:r>
            <a:r>
              <a:rPr dirty="0" sz="550" spc="-10">
                <a:solidFill>
                  <a:srgbClr val="111111"/>
                </a:solidFill>
              </a:rPr>
              <a:t> </a:t>
            </a:r>
            <a:r>
              <a:rPr dirty="0" sz="550" spc="-10">
                <a:solidFill>
                  <a:srgbClr val="0F0F0F"/>
                </a:solidFill>
              </a:rPr>
              <a:t>wovelengrh</a:t>
            </a:r>
            <a:r>
              <a:rPr dirty="0" sz="550" spc="45">
                <a:solidFill>
                  <a:srgbClr val="0F0F0F"/>
                </a:solidFill>
              </a:rPr>
              <a:t> </a:t>
            </a:r>
            <a:r>
              <a:rPr dirty="0" sz="550">
                <a:solidFill>
                  <a:srgbClr val="111111"/>
                </a:solidFill>
              </a:rPr>
              <a:t>of</a:t>
            </a:r>
            <a:r>
              <a:rPr dirty="0" sz="550" spc="130">
                <a:solidFill>
                  <a:srgbClr val="111111"/>
                </a:solidFill>
              </a:rPr>
              <a:t> </a:t>
            </a:r>
            <a:r>
              <a:rPr dirty="0" sz="550">
                <a:solidFill>
                  <a:srgbClr val="131313"/>
                </a:solidFill>
              </a:rPr>
              <a:t>light</a:t>
            </a:r>
            <a:r>
              <a:rPr dirty="0" sz="550" spc="40">
                <a:solidFill>
                  <a:srgbClr val="131313"/>
                </a:solidFill>
              </a:rPr>
              <a:t> </a:t>
            </a:r>
            <a:r>
              <a:rPr dirty="0" sz="550">
                <a:solidFill>
                  <a:srgbClr val="111111"/>
                </a:solidFill>
              </a:rPr>
              <a:t>has</a:t>
            </a:r>
            <a:r>
              <a:rPr dirty="0" sz="550" spc="-10">
                <a:solidFill>
                  <a:srgbClr val="111111"/>
                </a:solidFill>
              </a:rPr>
              <a:t> </a:t>
            </a:r>
            <a:r>
              <a:rPr dirty="0" sz="550">
                <a:solidFill>
                  <a:srgbClr val="111111"/>
                </a:solidFill>
              </a:rPr>
              <a:t>stretched</a:t>
            </a:r>
            <a:r>
              <a:rPr dirty="0" sz="550" spc="20">
                <a:solidFill>
                  <a:srgbClr val="111111"/>
                </a:solidFill>
              </a:rPr>
              <a:t> </a:t>
            </a:r>
            <a:r>
              <a:rPr dirty="0" sz="550">
                <a:solidFill>
                  <a:srgbClr val="111111"/>
                </a:solidFill>
              </a:rPr>
              <a:t>due</a:t>
            </a:r>
            <a:r>
              <a:rPr dirty="0" sz="550" spc="15">
                <a:solidFill>
                  <a:srgbClr val="111111"/>
                </a:solidFill>
              </a:rPr>
              <a:t> </a:t>
            </a:r>
            <a:r>
              <a:rPr dirty="0" sz="550">
                <a:solidFill>
                  <a:srgbClr val="0F0F0F"/>
                </a:solidFill>
              </a:rPr>
              <a:t>to</a:t>
            </a:r>
            <a:r>
              <a:rPr dirty="0" sz="550" spc="-5">
                <a:solidFill>
                  <a:srgbClr val="0F0F0F"/>
                </a:solidFill>
              </a:rPr>
              <a:t> </a:t>
            </a:r>
            <a:r>
              <a:rPr dirty="0" sz="550">
                <a:solidFill>
                  <a:srgbClr val="161616"/>
                </a:solidFill>
              </a:rPr>
              <a:t>the</a:t>
            </a:r>
            <a:r>
              <a:rPr dirty="0" sz="550" spc="-5">
                <a:solidFill>
                  <a:srgbClr val="161616"/>
                </a:solidFill>
              </a:rPr>
              <a:t> </a:t>
            </a:r>
            <a:r>
              <a:rPr dirty="0" sz="550">
                <a:solidFill>
                  <a:srgbClr val="0F0F0F"/>
                </a:solidFill>
              </a:rPr>
              <a:t>expansion</a:t>
            </a:r>
            <a:r>
              <a:rPr dirty="0" sz="550" spc="50">
                <a:solidFill>
                  <a:srgbClr val="0F0F0F"/>
                </a:solidFill>
              </a:rPr>
              <a:t> </a:t>
            </a:r>
            <a:r>
              <a:rPr dirty="0" sz="550">
                <a:solidFill>
                  <a:srgbClr val="1A1A1A"/>
                </a:solidFill>
              </a:rPr>
              <a:t>of</a:t>
            </a:r>
            <a:r>
              <a:rPr dirty="0" sz="550" spc="65">
                <a:solidFill>
                  <a:srgbClr val="1A1A1A"/>
                </a:solidFill>
              </a:rPr>
              <a:t> </a:t>
            </a:r>
            <a:r>
              <a:rPr dirty="0" sz="550">
                <a:solidFill>
                  <a:srgbClr val="0F0F0F"/>
                </a:solidFill>
              </a:rPr>
              <a:t>the</a:t>
            </a:r>
            <a:r>
              <a:rPr dirty="0" sz="550" spc="55">
                <a:solidFill>
                  <a:srgbClr val="0F0F0F"/>
                </a:solidFill>
              </a:rPr>
              <a:t> </a:t>
            </a:r>
            <a:r>
              <a:rPr dirty="0" sz="550" spc="-10">
                <a:solidFill>
                  <a:srgbClr val="0F0F0F"/>
                </a:solidFill>
              </a:rPr>
              <a:t>universe.</a:t>
            </a:r>
            <a:r>
              <a:rPr dirty="0" sz="550" spc="25">
                <a:solidFill>
                  <a:srgbClr val="0F0F0F"/>
                </a:solidFill>
              </a:rPr>
              <a:t> </a:t>
            </a:r>
            <a:r>
              <a:rPr dirty="0" sz="550">
                <a:solidFill>
                  <a:srgbClr val="111111"/>
                </a:solidFill>
              </a:rPr>
              <a:t>n</a:t>
            </a:r>
            <a:r>
              <a:rPr dirty="0" sz="550" spc="185">
                <a:solidFill>
                  <a:srgbClr val="111111"/>
                </a:solidFill>
              </a:rPr>
              <a:t> </a:t>
            </a:r>
            <a:r>
              <a:rPr dirty="0" sz="550" spc="-25">
                <a:solidFill>
                  <a:srgbClr val="111111"/>
                </a:solidFill>
              </a:rPr>
              <a:t>is</a:t>
            </a:r>
            <a:r>
              <a:rPr dirty="0" sz="550" spc="500">
                <a:solidFill>
                  <a:srgbClr val="111111"/>
                </a:solidFill>
              </a:rPr>
              <a:t> </a:t>
            </a:r>
            <a:r>
              <a:rPr dirty="0" sz="550">
                <a:solidFill>
                  <a:srgbClr val="111111"/>
                </a:solidFill>
              </a:rPr>
              <a:t>a</a:t>
            </a:r>
            <a:r>
              <a:rPr dirty="0" sz="550" spc="85">
                <a:solidFill>
                  <a:srgbClr val="111111"/>
                </a:solidFill>
              </a:rPr>
              <a:t> </a:t>
            </a:r>
            <a:r>
              <a:rPr dirty="0" sz="550">
                <a:solidFill>
                  <a:srgbClr val="0F0F0F"/>
                </a:solidFill>
              </a:rPr>
              <a:t>critical</a:t>
            </a:r>
            <a:r>
              <a:rPr dirty="0" sz="550" spc="105">
                <a:solidFill>
                  <a:srgbClr val="0F0F0F"/>
                </a:solidFill>
              </a:rPr>
              <a:t> </a:t>
            </a:r>
            <a:r>
              <a:rPr dirty="0" sz="550">
                <a:solidFill>
                  <a:srgbClr val="0A0A0A"/>
                </a:solidFill>
              </a:rPr>
              <a:t>measure</a:t>
            </a:r>
            <a:r>
              <a:rPr dirty="0" sz="550" spc="30">
                <a:solidFill>
                  <a:srgbClr val="0A0A0A"/>
                </a:solidFill>
              </a:rPr>
              <a:t> </a:t>
            </a:r>
            <a:r>
              <a:rPr dirty="0" sz="550">
                <a:solidFill>
                  <a:srgbClr val="111111"/>
                </a:solidFill>
              </a:rPr>
              <a:t>for</a:t>
            </a:r>
            <a:r>
              <a:rPr dirty="0" sz="550" spc="25">
                <a:solidFill>
                  <a:srgbClr val="111111"/>
                </a:solidFill>
              </a:rPr>
              <a:t> </a:t>
            </a:r>
            <a:r>
              <a:rPr dirty="0" sz="550" spc="-10"/>
              <a:t>determining</a:t>
            </a:r>
            <a:r>
              <a:rPr dirty="0" sz="550" spc="135"/>
              <a:t> </a:t>
            </a:r>
            <a:r>
              <a:rPr dirty="0" sz="550">
                <a:solidFill>
                  <a:srgbClr val="0C0C0C"/>
                </a:solidFill>
              </a:rPr>
              <a:t>rhe</a:t>
            </a:r>
            <a:r>
              <a:rPr dirty="0" sz="550" spc="-5">
                <a:solidFill>
                  <a:srgbClr val="0C0C0C"/>
                </a:solidFill>
              </a:rPr>
              <a:t> </a:t>
            </a:r>
            <a:r>
              <a:rPr dirty="0" sz="550">
                <a:solidFill>
                  <a:srgbClr val="0F0F0F"/>
                </a:solidFill>
              </a:rPr>
              <a:t>distance</a:t>
            </a:r>
            <a:r>
              <a:rPr dirty="0" sz="550" spc="40">
                <a:solidFill>
                  <a:srgbClr val="0F0F0F"/>
                </a:solidFill>
              </a:rPr>
              <a:t> </a:t>
            </a:r>
            <a:r>
              <a:rPr dirty="0" sz="550"/>
              <a:t>and</a:t>
            </a:r>
            <a:r>
              <a:rPr dirty="0" sz="550" spc="15"/>
              <a:t> </a:t>
            </a:r>
            <a:r>
              <a:rPr dirty="0" sz="550">
                <a:solidFill>
                  <a:srgbClr val="181818"/>
                </a:solidFill>
              </a:rPr>
              <a:t>velocity</a:t>
            </a:r>
            <a:r>
              <a:rPr dirty="0" sz="550" spc="45">
                <a:solidFill>
                  <a:srgbClr val="181818"/>
                </a:solidFill>
              </a:rPr>
              <a:t> </a:t>
            </a:r>
            <a:r>
              <a:rPr dirty="0" sz="550">
                <a:solidFill>
                  <a:srgbClr val="111111"/>
                </a:solidFill>
              </a:rPr>
              <a:t>of</a:t>
            </a:r>
            <a:r>
              <a:rPr dirty="0" sz="550" spc="20">
                <a:solidFill>
                  <a:srgbClr val="111111"/>
                </a:solidFill>
              </a:rPr>
              <a:t> </a:t>
            </a:r>
            <a:r>
              <a:rPr dirty="0" sz="550">
                <a:solidFill>
                  <a:srgbClr val="131313"/>
                </a:solidFill>
              </a:rPr>
              <a:t>cosmic</a:t>
            </a:r>
            <a:r>
              <a:rPr dirty="0" sz="550" spc="15">
                <a:solidFill>
                  <a:srgbClr val="131313"/>
                </a:solidFill>
              </a:rPr>
              <a:t> </a:t>
            </a:r>
            <a:r>
              <a:rPr dirty="0" sz="550" spc="-10">
                <a:solidFill>
                  <a:srgbClr val="0F0F0F"/>
                </a:solidFill>
              </a:rPr>
              <a:t>objects.</a:t>
            </a:r>
            <a:endParaRPr sz="550"/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550"/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dirty="0" sz="700">
                <a:solidFill>
                  <a:srgbClr val="0F0F0F"/>
                </a:solidFill>
              </a:rPr>
              <a:t>Rest-frame</a:t>
            </a:r>
            <a:r>
              <a:rPr dirty="0" sz="700" spc="45">
                <a:solidFill>
                  <a:srgbClr val="0F0F0F"/>
                </a:solidFill>
              </a:rPr>
              <a:t> </a:t>
            </a:r>
            <a:r>
              <a:rPr dirty="0" sz="700" spc="-25"/>
              <a:t>Frequency</a:t>
            </a:r>
            <a:r>
              <a:rPr dirty="0" sz="700" spc="45"/>
              <a:t> </a:t>
            </a:r>
            <a:r>
              <a:rPr dirty="0" sz="700" spc="-25">
                <a:solidFill>
                  <a:srgbClr val="111111"/>
                </a:solidFill>
              </a:rPr>
              <a:t>Width</a:t>
            </a:r>
            <a:r>
              <a:rPr dirty="0" sz="700" spc="-15">
                <a:solidFill>
                  <a:srgbClr val="111111"/>
                </a:solidFill>
              </a:rPr>
              <a:t> </a:t>
            </a:r>
            <a:r>
              <a:rPr dirty="0" sz="700" spc="-20">
                <a:solidFill>
                  <a:srgbClr val="131313"/>
                </a:solidFill>
              </a:rPr>
              <a:t>(cv)</a:t>
            </a:r>
            <a:endParaRPr sz="700"/>
          </a:p>
          <a:p>
            <a:pPr marL="17780" marR="243204" indent="-1270">
              <a:lnSpc>
                <a:spcPct val="116399"/>
              </a:lnSpc>
              <a:spcBef>
                <a:spcPts val="470"/>
              </a:spcBef>
            </a:pPr>
            <a:r>
              <a:rPr dirty="0" sz="550" spc="-20">
                <a:solidFill>
                  <a:srgbClr val="0F0F0F"/>
                </a:solidFill>
                <a:latin typeface="Arial MT"/>
                <a:cs typeface="Arial MT"/>
              </a:rPr>
              <a:t>Rest-</a:t>
            </a:r>
            <a:r>
              <a:rPr dirty="0" sz="550">
                <a:solidFill>
                  <a:srgbClr val="0F0F0F"/>
                </a:solidFill>
                <a:latin typeface="Arial MT"/>
                <a:cs typeface="Arial MT"/>
              </a:rPr>
              <a:t>frome</a:t>
            </a:r>
            <a:r>
              <a:rPr dirty="0" sz="550" spc="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111111"/>
                </a:solidFill>
                <a:latin typeface="Arial MT"/>
                <a:cs typeface="Arial MT"/>
              </a:rPr>
              <a:t>Frequency</a:t>
            </a:r>
            <a:r>
              <a:rPr dirty="0" sz="550" spc="8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11111"/>
                </a:solidFill>
                <a:latin typeface="Arial MT"/>
                <a:cs typeface="Arial MT"/>
              </a:rPr>
              <a:t>Width</a:t>
            </a:r>
            <a:r>
              <a:rPr dirty="0" sz="550" spc="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0F0F"/>
                </a:solidFill>
                <a:latin typeface="Arial MT"/>
                <a:cs typeface="Arial MT"/>
              </a:rPr>
              <a:t>measures</a:t>
            </a:r>
            <a:r>
              <a:rPr dirty="0" sz="550" spc="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55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31313"/>
                </a:solidFill>
                <a:latin typeface="Arial MT"/>
                <a:cs typeface="Arial MT"/>
              </a:rPr>
              <a:t>intrinsic</a:t>
            </a:r>
            <a:r>
              <a:rPr dirty="0" sz="550" spc="1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0F0F"/>
                </a:solidFill>
                <a:latin typeface="Arial MT"/>
                <a:cs typeface="Arial MT"/>
              </a:rPr>
              <a:t>widrh</a:t>
            </a:r>
            <a:r>
              <a:rPr dirty="0" sz="550" spc="-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81818"/>
                </a:solidFill>
                <a:latin typeface="Arial MT"/>
                <a:cs typeface="Arial MT"/>
              </a:rPr>
              <a:t>of</a:t>
            </a:r>
            <a:r>
              <a:rPr dirty="0" sz="550" spc="1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11111"/>
                </a:solidFill>
                <a:latin typeface="Arial MT"/>
                <a:cs typeface="Arial MT"/>
              </a:rPr>
              <a:t>emitted</a:t>
            </a:r>
            <a:r>
              <a:rPr dirty="0" sz="550" spc="-10">
                <a:solidFill>
                  <a:srgbClr val="111111"/>
                </a:solidFill>
                <a:latin typeface="Arial MT"/>
                <a:cs typeface="Arial MT"/>
              </a:rPr>
              <a:t> spectral</a:t>
            </a:r>
            <a:r>
              <a:rPr dirty="0" sz="550" spc="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 spc="-25">
                <a:solidFill>
                  <a:srgbClr val="111111"/>
                </a:solidFill>
                <a:latin typeface="Arial MT"/>
                <a:cs typeface="Arial MT"/>
              </a:rPr>
              <a:t>lines.</a:t>
            </a:r>
            <a:r>
              <a:rPr dirty="0" sz="55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81818"/>
                </a:solidFill>
                <a:latin typeface="Arial MT"/>
                <a:cs typeface="Arial MT"/>
              </a:rPr>
              <a:t>Ir</a:t>
            </a:r>
            <a:r>
              <a:rPr dirty="0" sz="550" spc="13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A1A1A"/>
                </a:solidFill>
                <a:latin typeface="Arial MT"/>
                <a:cs typeface="Arial MT"/>
              </a:rPr>
              <a:t>is</a:t>
            </a:r>
            <a:r>
              <a:rPr dirty="0" sz="550" spc="-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31313"/>
                </a:solidFill>
                <a:latin typeface="Arial MT"/>
                <a:cs typeface="Arial MT"/>
              </a:rPr>
              <a:t>imponani</a:t>
            </a:r>
            <a:r>
              <a:rPr dirty="0" sz="550" spc="1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550" spc="-25">
                <a:solidFill>
                  <a:srgbClr val="0F0F0F"/>
                </a:solidFill>
                <a:latin typeface="Arial MT"/>
                <a:cs typeface="Arial MT"/>
              </a:rPr>
              <a:t>for</a:t>
            </a:r>
            <a:r>
              <a:rPr dirty="0" sz="55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11111"/>
                </a:solidFill>
                <a:latin typeface="Arial MT"/>
                <a:cs typeface="Arial MT"/>
              </a:rPr>
              <a:t>understanding</a:t>
            </a:r>
            <a:r>
              <a:rPr dirty="0" sz="550" spc="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550" spc="-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131313"/>
                </a:solidFill>
                <a:latin typeface="Arial MT"/>
                <a:cs typeface="Arial MT"/>
              </a:rPr>
              <a:t>physical</a:t>
            </a:r>
            <a:r>
              <a:rPr dirty="0" sz="550" spc="1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550" spc="-20">
                <a:solidFill>
                  <a:srgbClr val="111111"/>
                </a:solidFill>
                <a:latin typeface="Arial MT"/>
                <a:cs typeface="Arial MT"/>
              </a:rPr>
              <a:t>processes</a:t>
            </a:r>
            <a:r>
              <a:rPr dirty="0" sz="550" spc="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31313"/>
                </a:solidFill>
                <a:latin typeface="Arial MT"/>
                <a:cs typeface="Arial MT"/>
              </a:rPr>
              <a:t>occurring</a:t>
            </a:r>
            <a:r>
              <a:rPr dirty="0" sz="550" spc="1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11111"/>
                </a:solidFill>
                <a:latin typeface="Arial MT"/>
                <a:cs typeface="Arial MT"/>
              </a:rPr>
              <a:t>in</a:t>
            </a:r>
            <a:r>
              <a:rPr dirty="0" sz="55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55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0F0F"/>
                </a:solidFill>
                <a:latin typeface="Arial MT"/>
                <a:cs typeface="Arial MT"/>
              </a:rPr>
              <a:t>source.</a:t>
            </a:r>
            <a:endParaRPr sz="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5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</a:pPr>
            <a:r>
              <a:rPr dirty="0" sz="700" spc="-20">
                <a:solidFill>
                  <a:srgbClr val="0F0F0F"/>
                </a:solidFill>
              </a:rPr>
              <a:t>Energy</a:t>
            </a:r>
            <a:r>
              <a:rPr dirty="0" sz="700" spc="5">
                <a:solidFill>
                  <a:srgbClr val="0F0F0F"/>
                </a:solidFill>
              </a:rPr>
              <a:t> </a:t>
            </a:r>
            <a:r>
              <a:rPr dirty="0" sz="700" spc="-25">
                <a:solidFill>
                  <a:srgbClr val="111111"/>
                </a:solidFill>
              </a:rPr>
              <a:t>(E)</a:t>
            </a:r>
            <a:endParaRPr sz="700"/>
          </a:p>
          <a:p>
            <a:pPr marL="16510" marR="154940">
              <a:lnSpc>
                <a:spcPct val="116399"/>
              </a:lnSpc>
              <a:spcBef>
                <a:spcPts val="450"/>
              </a:spcBef>
            </a:pPr>
            <a:r>
              <a:rPr dirty="0" sz="550" spc="-20">
                <a:solidFill>
                  <a:srgbClr val="0F0F0F"/>
                </a:solidFill>
                <a:latin typeface="Arial MT"/>
                <a:cs typeface="Arial MT"/>
              </a:rPr>
              <a:t>Energy</a:t>
            </a:r>
            <a:r>
              <a:rPr dirty="0" sz="55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0F0F"/>
                </a:solidFill>
                <a:latin typeface="Arial MT"/>
                <a:cs typeface="Arial MT"/>
              </a:rPr>
              <a:t>represents</a:t>
            </a:r>
            <a:r>
              <a:rPr dirty="0" sz="550" spc="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550" spc="-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550" spc="-55">
                <a:solidFill>
                  <a:srgbClr val="151515"/>
                </a:solidFill>
                <a:latin typeface="Arial MT"/>
                <a:cs typeface="Arial MT"/>
              </a:rPr>
              <a:t>moral</a:t>
            </a:r>
            <a:r>
              <a:rPr dirty="0" sz="550" spc="1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C0C0C"/>
                </a:solidFill>
                <a:latin typeface="Arial MT"/>
                <a:cs typeface="Arial MT"/>
              </a:rPr>
              <a:t>energy </a:t>
            </a:r>
            <a:r>
              <a:rPr dirty="0" sz="550">
                <a:solidFill>
                  <a:srgbClr val="0F0F0F"/>
                </a:solidFill>
                <a:latin typeface="Arial MT"/>
                <a:cs typeface="Arial MT"/>
              </a:rPr>
              <a:t>output</a:t>
            </a:r>
            <a:r>
              <a:rPr dirty="0" sz="550" spc="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0F0F"/>
                </a:solidFill>
                <a:latin typeface="Arial MT"/>
                <a:cs typeface="Arial MT"/>
              </a:rPr>
              <a:t>of</a:t>
            </a:r>
            <a:r>
              <a:rPr dirty="0" sz="550" spc="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550" spc="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11111"/>
                </a:solidFill>
                <a:latin typeface="Arial MT"/>
                <a:cs typeface="Arial MT"/>
              </a:rPr>
              <a:t>observed</a:t>
            </a:r>
            <a:r>
              <a:rPr dirty="0" sz="55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phenomena.</a:t>
            </a:r>
            <a:r>
              <a:rPr dirty="0" sz="550" spc="-15"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11111"/>
                </a:solidFill>
                <a:latin typeface="Arial MT"/>
                <a:cs typeface="Arial MT"/>
              </a:rPr>
              <a:t>li</a:t>
            </a:r>
            <a:r>
              <a:rPr dirty="0" sz="550" spc="2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C1C1C"/>
                </a:solidFill>
                <a:latin typeface="Arial MT"/>
                <a:cs typeface="Arial MT"/>
              </a:rPr>
              <a:t>is </a:t>
            </a:r>
            <a:r>
              <a:rPr dirty="0" sz="550">
                <a:solidFill>
                  <a:srgbClr val="111111"/>
                </a:solidFill>
                <a:latin typeface="Arial MT"/>
                <a:cs typeface="Arial MT"/>
              </a:rPr>
              <a:t>o</a:t>
            </a:r>
            <a:r>
              <a:rPr dirty="0" sz="55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11111"/>
                </a:solidFill>
                <a:latin typeface="Arial MT"/>
                <a:cs typeface="Arial MT"/>
              </a:rPr>
              <a:t>fundamental</a:t>
            </a:r>
            <a:r>
              <a:rPr dirty="0" sz="55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11111"/>
                </a:solidFill>
                <a:latin typeface="Arial MT"/>
                <a:cs typeface="Arial MT"/>
              </a:rPr>
              <a:t>property</a:t>
            </a:r>
            <a:r>
              <a:rPr dirty="0" sz="550" spc="5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 spc="-25">
                <a:solidFill>
                  <a:srgbClr val="111111"/>
                </a:solidFill>
                <a:latin typeface="Arial MT"/>
                <a:cs typeface="Arial MT"/>
              </a:rPr>
              <a:t>for</a:t>
            </a:r>
            <a:r>
              <a:rPr dirty="0" sz="550" spc="5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characterizing </a:t>
            </a:r>
            <a:r>
              <a:rPr dirty="0" sz="55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55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11111"/>
                </a:solidFill>
                <a:latin typeface="Arial MT"/>
                <a:cs typeface="Arial MT"/>
              </a:rPr>
              <a:t>nature</a:t>
            </a:r>
            <a:r>
              <a:rPr dirty="0" sz="550" spc="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dirty="0" sz="550" spc="-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11111"/>
                </a:solidFill>
                <a:latin typeface="Arial MT"/>
                <a:cs typeface="Arial MT"/>
              </a:rPr>
              <a:t>behavior</a:t>
            </a:r>
            <a:r>
              <a:rPr dirty="0" sz="550" spc="6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111111"/>
                </a:solidFill>
                <a:latin typeface="Arial MT"/>
                <a:cs typeface="Arial MT"/>
              </a:rPr>
              <a:t>of</a:t>
            </a:r>
            <a:r>
              <a:rPr dirty="0" sz="55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0F0F"/>
                </a:solidFill>
                <a:latin typeface="Arial MT"/>
                <a:cs typeface="Arial MT"/>
              </a:rPr>
              <a:t>astrophysicol</a:t>
            </a:r>
            <a:r>
              <a:rPr dirty="0" sz="550" spc="7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0F0F"/>
                </a:solidFill>
                <a:latin typeface="Arial MT"/>
                <a:cs typeface="Arial MT"/>
              </a:rPr>
              <a:t>sources.</a:t>
            </a:r>
            <a:endParaRPr sz="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5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</a:pPr>
            <a:r>
              <a:rPr dirty="0" sz="700" spc="-10">
                <a:solidFill>
                  <a:srgbClr val="0F0F0F"/>
                </a:solidFill>
              </a:rPr>
              <a:t>Luminosity </a:t>
            </a:r>
            <a:r>
              <a:rPr dirty="0" sz="700" spc="-25">
                <a:solidFill>
                  <a:srgbClr val="111111"/>
                </a:solidFill>
              </a:rPr>
              <a:t>(L)</a:t>
            </a:r>
            <a:endParaRPr sz="700"/>
          </a:p>
          <a:p>
            <a:pPr marL="15875" marR="253365" indent="1905">
              <a:lnSpc>
                <a:spcPct val="110000"/>
              </a:lnSpc>
              <a:spcBef>
                <a:spcPts val="459"/>
              </a:spcBef>
            </a:pPr>
            <a:r>
              <a:rPr dirty="0" sz="600" spc="-35"/>
              <a:t>Luminosity</a:t>
            </a:r>
            <a:r>
              <a:rPr dirty="0" sz="600" spc="95"/>
              <a:t> </a:t>
            </a:r>
            <a:r>
              <a:rPr dirty="0" sz="600" spc="-50">
                <a:solidFill>
                  <a:srgbClr val="131313"/>
                </a:solidFill>
              </a:rPr>
              <a:t>is</a:t>
            </a:r>
            <a:r>
              <a:rPr dirty="0" sz="600" spc="10">
                <a:solidFill>
                  <a:srgbClr val="131313"/>
                </a:solidFill>
              </a:rPr>
              <a:t> </a:t>
            </a:r>
            <a:r>
              <a:rPr dirty="0" sz="600" spc="-10">
                <a:solidFill>
                  <a:srgbClr val="0F0F0F"/>
                </a:solidFill>
              </a:rPr>
              <a:t>the</a:t>
            </a:r>
            <a:r>
              <a:rPr dirty="0" sz="600">
                <a:solidFill>
                  <a:srgbClr val="0F0F0F"/>
                </a:solidFill>
              </a:rPr>
              <a:t> </a:t>
            </a:r>
            <a:r>
              <a:rPr dirty="0" sz="600" spc="-40">
                <a:solidFill>
                  <a:srgbClr val="111111"/>
                </a:solidFill>
              </a:rPr>
              <a:t>intrinsic</a:t>
            </a:r>
            <a:r>
              <a:rPr dirty="0" sz="600" spc="50">
                <a:solidFill>
                  <a:srgbClr val="111111"/>
                </a:solidFill>
              </a:rPr>
              <a:t> </a:t>
            </a:r>
            <a:r>
              <a:rPr dirty="0" sz="600" spc="-30">
                <a:solidFill>
                  <a:srgbClr val="111111"/>
                </a:solidFill>
              </a:rPr>
              <a:t>brightness</a:t>
            </a:r>
            <a:r>
              <a:rPr dirty="0" sz="600" spc="15">
                <a:solidFill>
                  <a:srgbClr val="111111"/>
                </a:solidFill>
              </a:rPr>
              <a:t> </a:t>
            </a:r>
            <a:r>
              <a:rPr dirty="0" sz="600">
                <a:solidFill>
                  <a:srgbClr val="0C0C0C"/>
                </a:solidFill>
              </a:rPr>
              <a:t>of</a:t>
            </a:r>
            <a:r>
              <a:rPr dirty="0" sz="600" spc="25">
                <a:solidFill>
                  <a:srgbClr val="0C0C0C"/>
                </a:solidFill>
              </a:rPr>
              <a:t> </a:t>
            </a:r>
            <a:r>
              <a:rPr dirty="0" sz="600">
                <a:solidFill>
                  <a:srgbClr val="0F0F0F"/>
                </a:solidFill>
              </a:rPr>
              <a:t>a</a:t>
            </a:r>
            <a:r>
              <a:rPr dirty="0" sz="600" spc="55">
                <a:solidFill>
                  <a:srgbClr val="0F0F0F"/>
                </a:solidFill>
              </a:rPr>
              <a:t> </a:t>
            </a:r>
            <a:r>
              <a:rPr dirty="0" sz="600" spc="-20">
                <a:solidFill>
                  <a:srgbClr val="131313"/>
                </a:solidFill>
              </a:rPr>
              <a:t>source,</a:t>
            </a:r>
            <a:r>
              <a:rPr dirty="0" sz="600" spc="30">
                <a:solidFill>
                  <a:srgbClr val="131313"/>
                </a:solidFill>
              </a:rPr>
              <a:t> </a:t>
            </a:r>
            <a:r>
              <a:rPr dirty="0" sz="600" spc="-30">
                <a:solidFill>
                  <a:srgbClr val="0F0F0F"/>
                </a:solidFill>
              </a:rPr>
              <a:t>indicating</a:t>
            </a:r>
            <a:r>
              <a:rPr dirty="0" sz="600" spc="85">
                <a:solidFill>
                  <a:srgbClr val="0F0F0F"/>
                </a:solidFill>
              </a:rPr>
              <a:t> </a:t>
            </a:r>
            <a:r>
              <a:rPr dirty="0" sz="600" spc="-40">
                <a:solidFill>
                  <a:srgbClr val="151515"/>
                </a:solidFill>
              </a:rPr>
              <a:t>how</a:t>
            </a:r>
            <a:r>
              <a:rPr dirty="0" sz="600" spc="25">
                <a:solidFill>
                  <a:srgbClr val="151515"/>
                </a:solidFill>
              </a:rPr>
              <a:t> </a:t>
            </a:r>
            <a:r>
              <a:rPr dirty="0" sz="600" spc="-25">
                <a:solidFill>
                  <a:srgbClr val="131313"/>
                </a:solidFill>
              </a:rPr>
              <a:t>much</a:t>
            </a:r>
            <a:r>
              <a:rPr dirty="0" sz="600" spc="50">
                <a:solidFill>
                  <a:srgbClr val="131313"/>
                </a:solidFill>
              </a:rPr>
              <a:t> </a:t>
            </a:r>
            <a:r>
              <a:rPr dirty="0" sz="600" spc="-25">
                <a:solidFill>
                  <a:srgbClr val="181818"/>
                </a:solidFill>
              </a:rPr>
              <a:t>light</a:t>
            </a:r>
            <a:r>
              <a:rPr dirty="0" sz="600" spc="10">
                <a:solidFill>
                  <a:srgbClr val="181818"/>
                </a:solidFill>
              </a:rPr>
              <a:t> </a:t>
            </a:r>
            <a:r>
              <a:rPr dirty="0" sz="600" spc="-40">
                <a:solidFill>
                  <a:srgbClr val="4B4B4B"/>
                </a:solidFill>
              </a:rPr>
              <a:t>it</a:t>
            </a:r>
            <a:r>
              <a:rPr dirty="0" sz="600" spc="-10">
                <a:solidFill>
                  <a:srgbClr val="4B4B4B"/>
                </a:solidFill>
              </a:rPr>
              <a:t> </a:t>
            </a:r>
            <a:r>
              <a:rPr dirty="0" sz="600" spc="-10">
                <a:solidFill>
                  <a:srgbClr val="0F0F0F"/>
                </a:solidFill>
              </a:rPr>
              <a:t>emits.</a:t>
            </a:r>
            <a:r>
              <a:rPr dirty="0" sz="600">
                <a:solidFill>
                  <a:srgbClr val="0F0F0F"/>
                </a:solidFill>
              </a:rPr>
              <a:t> </a:t>
            </a:r>
            <a:r>
              <a:rPr dirty="0" sz="600">
                <a:solidFill>
                  <a:srgbClr val="111111"/>
                </a:solidFill>
              </a:rPr>
              <a:t>It</a:t>
            </a:r>
            <a:r>
              <a:rPr dirty="0" sz="600" spc="20">
                <a:solidFill>
                  <a:srgbClr val="111111"/>
                </a:solidFill>
              </a:rPr>
              <a:t> </a:t>
            </a:r>
            <a:r>
              <a:rPr dirty="0" sz="600" spc="-25">
                <a:solidFill>
                  <a:srgbClr val="1F1F1F"/>
                </a:solidFill>
              </a:rPr>
              <a:t>is</a:t>
            </a:r>
            <a:r>
              <a:rPr dirty="0" sz="600" spc="-40">
                <a:solidFill>
                  <a:srgbClr val="1F1F1F"/>
                </a:solidFill>
              </a:rPr>
              <a:t> </a:t>
            </a:r>
            <a:r>
              <a:rPr dirty="0" sz="600" spc="-20">
                <a:solidFill>
                  <a:srgbClr val="111111"/>
                </a:solidFill>
              </a:rPr>
              <a:t>essential</a:t>
            </a:r>
            <a:r>
              <a:rPr dirty="0" sz="600" spc="45">
                <a:solidFill>
                  <a:srgbClr val="111111"/>
                </a:solidFill>
              </a:rPr>
              <a:t> </a:t>
            </a:r>
            <a:r>
              <a:rPr dirty="0" sz="600" spc="-25">
                <a:solidFill>
                  <a:srgbClr val="111111"/>
                </a:solidFill>
              </a:rPr>
              <a:t>for</a:t>
            </a:r>
            <a:r>
              <a:rPr dirty="0" sz="600" spc="500">
                <a:solidFill>
                  <a:srgbClr val="111111"/>
                </a:solidFill>
              </a:rPr>
              <a:t> </a:t>
            </a:r>
            <a:r>
              <a:rPr dirty="0" sz="600" spc="-25">
                <a:solidFill>
                  <a:srgbClr val="111111"/>
                </a:solidFill>
              </a:rPr>
              <a:t>comparing</a:t>
            </a:r>
            <a:r>
              <a:rPr dirty="0" sz="600" spc="35">
                <a:solidFill>
                  <a:srgbClr val="111111"/>
                </a:solidFill>
              </a:rPr>
              <a:t> </a:t>
            </a:r>
            <a:r>
              <a:rPr dirty="0" sz="600" spc="-25"/>
              <a:t>different</a:t>
            </a:r>
            <a:r>
              <a:rPr dirty="0" sz="600" spc="35"/>
              <a:t> </a:t>
            </a:r>
            <a:r>
              <a:rPr dirty="0" sz="600" spc="-25">
                <a:solidFill>
                  <a:srgbClr val="0F0F0F"/>
                </a:solidFill>
              </a:rPr>
              <a:t>astronomical</a:t>
            </a:r>
            <a:r>
              <a:rPr dirty="0" sz="600" spc="30">
                <a:solidFill>
                  <a:srgbClr val="0F0F0F"/>
                </a:solidFill>
              </a:rPr>
              <a:t> </a:t>
            </a:r>
            <a:r>
              <a:rPr dirty="0" sz="600" spc="-10">
                <a:solidFill>
                  <a:srgbClr val="0F0F0F"/>
                </a:solidFill>
              </a:rPr>
              <a:t>objects</a:t>
            </a:r>
            <a:r>
              <a:rPr dirty="0" sz="600">
                <a:solidFill>
                  <a:srgbClr val="0F0F0F"/>
                </a:solidFill>
              </a:rPr>
              <a:t> and</a:t>
            </a:r>
            <a:r>
              <a:rPr dirty="0" sz="600" spc="45">
                <a:solidFill>
                  <a:srgbClr val="0F0F0F"/>
                </a:solidFill>
              </a:rPr>
              <a:t> </a:t>
            </a:r>
            <a:r>
              <a:rPr dirty="0" sz="600" spc="-35">
                <a:solidFill>
                  <a:srgbClr val="0F0F0F"/>
                </a:solidFill>
              </a:rPr>
              <a:t>understanding</a:t>
            </a:r>
            <a:r>
              <a:rPr dirty="0" sz="600" spc="110">
                <a:solidFill>
                  <a:srgbClr val="0F0F0F"/>
                </a:solidFill>
              </a:rPr>
              <a:t> </a:t>
            </a:r>
            <a:r>
              <a:rPr dirty="0" sz="600" spc="-35">
                <a:solidFill>
                  <a:srgbClr val="0C0C0C"/>
                </a:solidFill>
              </a:rPr>
              <a:t>their </a:t>
            </a:r>
            <a:r>
              <a:rPr dirty="0" sz="600" spc="-10">
                <a:solidFill>
                  <a:srgbClr val="0F0F0F"/>
                </a:solidFill>
              </a:rPr>
              <a:t>evolution.</a:t>
            </a:r>
            <a:endParaRPr sz="600"/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600"/>
          </a:p>
          <a:p>
            <a:pPr marL="17780">
              <a:lnSpc>
                <a:spcPct val="100000"/>
              </a:lnSpc>
            </a:pPr>
            <a:r>
              <a:rPr dirty="0" sz="600" spc="20" b="1">
                <a:solidFill>
                  <a:srgbClr val="0F0F0F"/>
                </a:solidFill>
                <a:latin typeface="Times New Roman"/>
                <a:cs typeface="Times New Roman"/>
              </a:rPr>
              <a:t>Brightness</a:t>
            </a:r>
            <a:r>
              <a:rPr dirty="0" sz="600" spc="14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600" spc="20" b="1">
                <a:latin typeface="Times New Roman"/>
                <a:cs typeface="Times New Roman"/>
              </a:rPr>
              <a:t>Temperature</a:t>
            </a:r>
            <a:r>
              <a:rPr dirty="0" sz="600" spc="140" b="1">
                <a:latin typeface="Times New Roman"/>
                <a:cs typeface="Times New Roman"/>
              </a:rPr>
              <a:t> </a:t>
            </a:r>
            <a:r>
              <a:rPr dirty="0" sz="600" spc="-25" b="1">
                <a:latin typeface="Times New Roman"/>
                <a:cs typeface="Times New Roman"/>
              </a:rPr>
              <a:t>(T}</a:t>
            </a:r>
            <a:endParaRPr sz="600">
              <a:latin typeface="Times New Roman"/>
              <a:cs typeface="Times New Roman"/>
            </a:endParaRPr>
          </a:p>
          <a:p>
            <a:pPr marL="19685" marR="103505" indent="-1905">
              <a:lnSpc>
                <a:spcPct val="110000"/>
              </a:lnSpc>
              <a:spcBef>
                <a:spcPts val="455"/>
              </a:spcBef>
            </a:pPr>
            <a:r>
              <a:rPr dirty="0" sz="600" spc="-30">
                <a:solidFill>
                  <a:srgbClr val="0F0F0F"/>
                </a:solidFill>
              </a:rPr>
              <a:t>Brightness</a:t>
            </a:r>
            <a:r>
              <a:rPr dirty="0" sz="600" spc="40">
                <a:solidFill>
                  <a:srgbClr val="0F0F0F"/>
                </a:solidFill>
              </a:rPr>
              <a:t> </a:t>
            </a:r>
            <a:r>
              <a:rPr dirty="0" sz="600" spc="-40">
                <a:solidFill>
                  <a:srgbClr val="0F0F0F"/>
                </a:solidFill>
              </a:rPr>
              <a:t>Temperature</a:t>
            </a:r>
            <a:r>
              <a:rPr dirty="0" sz="600" spc="100">
                <a:solidFill>
                  <a:srgbClr val="0F0F0F"/>
                </a:solidFill>
              </a:rPr>
              <a:t> </a:t>
            </a:r>
            <a:r>
              <a:rPr dirty="0" sz="600" spc="-35">
                <a:solidFill>
                  <a:srgbClr val="0A0A0A"/>
                </a:solidFill>
              </a:rPr>
              <a:t>provides</a:t>
            </a:r>
            <a:r>
              <a:rPr dirty="0" sz="600" spc="25">
                <a:solidFill>
                  <a:srgbClr val="0A0A0A"/>
                </a:solidFill>
              </a:rPr>
              <a:t> </a:t>
            </a:r>
            <a:r>
              <a:rPr dirty="0" sz="600">
                <a:solidFill>
                  <a:srgbClr val="131313"/>
                </a:solidFill>
              </a:rPr>
              <a:t>a</a:t>
            </a:r>
            <a:r>
              <a:rPr dirty="0" sz="600" spc="80">
                <a:solidFill>
                  <a:srgbClr val="131313"/>
                </a:solidFill>
              </a:rPr>
              <a:t> </a:t>
            </a:r>
            <a:r>
              <a:rPr dirty="0" sz="600" spc="-35">
                <a:solidFill>
                  <a:srgbClr val="131313"/>
                </a:solidFill>
              </a:rPr>
              <a:t>way</a:t>
            </a:r>
            <a:r>
              <a:rPr dirty="0" sz="600" spc="-20">
                <a:solidFill>
                  <a:srgbClr val="131313"/>
                </a:solidFill>
              </a:rPr>
              <a:t> </a:t>
            </a:r>
            <a:r>
              <a:rPr dirty="0" sz="600" spc="-30">
                <a:solidFill>
                  <a:srgbClr val="0F0F0F"/>
                </a:solidFill>
              </a:rPr>
              <a:t>zo</a:t>
            </a:r>
            <a:r>
              <a:rPr dirty="0" sz="600">
                <a:solidFill>
                  <a:srgbClr val="0F0F0F"/>
                </a:solidFill>
              </a:rPr>
              <a:t> </a:t>
            </a:r>
            <a:r>
              <a:rPr dirty="0" sz="600" spc="-35">
                <a:solidFill>
                  <a:srgbClr val="0F0F0F"/>
                </a:solidFill>
              </a:rPr>
              <a:t>relare</a:t>
            </a:r>
            <a:r>
              <a:rPr dirty="0" sz="600" spc="-15">
                <a:solidFill>
                  <a:srgbClr val="0F0F0F"/>
                </a:solidFill>
              </a:rPr>
              <a:t> </a:t>
            </a:r>
            <a:r>
              <a:rPr dirty="0" sz="600" spc="-10">
                <a:solidFill>
                  <a:srgbClr val="0F0F0F"/>
                </a:solidFill>
              </a:rPr>
              <a:t>the</a:t>
            </a:r>
            <a:r>
              <a:rPr dirty="0" sz="600" spc="-25">
                <a:solidFill>
                  <a:srgbClr val="0F0F0F"/>
                </a:solidFill>
              </a:rPr>
              <a:t> </a:t>
            </a:r>
            <a:r>
              <a:rPr dirty="0" sz="600" spc="-20">
                <a:solidFill>
                  <a:srgbClr val="0F0F0F"/>
                </a:solidFill>
              </a:rPr>
              <a:t>observed</a:t>
            </a:r>
            <a:r>
              <a:rPr dirty="0" sz="600" spc="70">
                <a:solidFill>
                  <a:srgbClr val="0F0F0F"/>
                </a:solidFill>
              </a:rPr>
              <a:t> </a:t>
            </a:r>
            <a:r>
              <a:rPr dirty="0" sz="600" spc="-35">
                <a:solidFill>
                  <a:srgbClr val="0F0F0F"/>
                </a:solidFill>
              </a:rPr>
              <a:t>intensity</a:t>
            </a:r>
            <a:r>
              <a:rPr dirty="0" sz="600" spc="55">
                <a:solidFill>
                  <a:srgbClr val="0F0F0F"/>
                </a:solidFill>
              </a:rPr>
              <a:t> </a:t>
            </a:r>
            <a:r>
              <a:rPr dirty="0" sz="600">
                <a:solidFill>
                  <a:srgbClr val="0F0F0F"/>
                </a:solidFill>
              </a:rPr>
              <a:t>to</a:t>
            </a:r>
            <a:r>
              <a:rPr dirty="0" sz="600" spc="-10">
                <a:solidFill>
                  <a:srgbClr val="0F0F0F"/>
                </a:solidFill>
              </a:rPr>
              <a:t> </a:t>
            </a:r>
            <a:r>
              <a:rPr dirty="0" sz="600">
                <a:solidFill>
                  <a:srgbClr val="131313"/>
                </a:solidFill>
              </a:rPr>
              <a:t>a</a:t>
            </a:r>
            <a:r>
              <a:rPr dirty="0" sz="600" spc="50">
                <a:solidFill>
                  <a:srgbClr val="131313"/>
                </a:solidFill>
              </a:rPr>
              <a:t> </a:t>
            </a:r>
            <a:r>
              <a:rPr dirty="0" sz="600" spc="-30">
                <a:solidFill>
                  <a:srgbClr val="111111"/>
                </a:solidFill>
              </a:rPr>
              <a:t>temperature</a:t>
            </a:r>
            <a:r>
              <a:rPr dirty="0" sz="600" spc="10">
                <a:solidFill>
                  <a:srgbClr val="111111"/>
                </a:solidFill>
              </a:rPr>
              <a:t> </a:t>
            </a:r>
            <a:r>
              <a:rPr dirty="0" sz="600">
                <a:solidFill>
                  <a:srgbClr val="111111"/>
                </a:solidFill>
              </a:rPr>
              <a:t>scale.</a:t>
            </a:r>
            <a:r>
              <a:rPr dirty="0" sz="600" spc="25">
                <a:solidFill>
                  <a:srgbClr val="111111"/>
                </a:solidFill>
              </a:rPr>
              <a:t> </a:t>
            </a:r>
            <a:r>
              <a:rPr dirty="0" sz="600">
                <a:solidFill>
                  <a:srgbClr val="111111"/>
                </a:solidFill>
              </a:rPr>
              <a:t>It</a:t>
            </a:r>
            <a:r>
              <a:rPr dirty="0" sz="600" spc="25">
                <a:solidFill>
                  <a:srgbClr val="111111"/>
                </a:solidFill>
              </a:rPr>
              <a:t> </a:t>
            </a:r>
            <a:r>
              <a:rPr dirty="0" sz="600" spc="-25">
                <a:solidFill>
                  <a:srgbClr val="111111"/>
                </a:solidFill>
              </a:rPr>
              <a:t>helps</a:t>
            </a:r>
            <a:r>
              <a:rPr dirty="0" sz="600" spc="40">
                <a:solidFill>
                  <a:srgbClr val="111111"/>
                </a:solidFill>
              </a:rPr>
              <a:t> </a:t>
            </a:r>
            <a:r>
              <a:rPr dirty="0" sz="600" spc="-25">
                <a:solidFill>
                  <a:srgbClr val="1A1A1A"/>
                </a:solidFill>
              </a:rPr>
              <a:t>in</a:t>
            </a:r>
            <a:r>
              <a:rPr dirty="0" sz="600" spc="500">
                <a:solidFill>
                  <a:srgbClr val="1A1A1A"/>
                </a:solidFill>
              </a:rPr>
              <a:t> </a:t>
            </a:r>
            <a:r>
              <a:rPr dirty="0" sz="600" spc="-35">
                <a:solidFill>
                  <a:srgbClr val="0F0F0F"/>
                </a:solidFill>
              </a:rPr>
              <a:t>understanding</a:t>
            </a:r>
            <a:r>
              <a:rPr dirty="0" sz="600" spc="80">
                <a:solidFill>
                  <a:srgbClr val="0F0F0F"/>
                </a:solidFill>
              </a:rPr>
              <a:t> </a:t>
            </a:r>
            <a:r>
              <a:rPr dirty="0" sz="600" spc="-10">
                <a:solidFill>
                  <a:srgbClr val="111111"/>
                </a:solidFill>
              </a:rPr>
              <a:t>the </a:t>
            </a:r>
            <a:r>
              <a:rPr dirty="0" sz="600" spc="-25">
                <a:solidFill>
                  <a:srgbClr val="111111"/>
                </a:solidFill>
              </a:rPr>
              <a:t>thermal</a:t>
            </a:r>
            <a:r>
              <a:rPr dirty="0" sz="600" spc="30">
                <a:solidFill>
                  <a:srgbClr val="111111"/>
                </a:solidFill>
              </a:rPr>
              <a:t> </a:t>
            </a:r>
            <a:r>
              <a:rPr dirty="0" sz="600" spc="-35">
                <a:solidFill>
                  <a:srgbClr val="0F0F0F"/>
                </a:solidFill>
              </a:rPr>
              <a:t>properties</a:t>
            </a:r>
            <a:r>
              <a:rPr dirty="0" sz="600">
                <a:solidFill>
                  <a:srgbClr val="0F0F0F"/>
                </a:solidFill>
              </a:rPr>
              <a:t> </a:t>
            </a:r>
            <a:r>
              <a:rPr dirty="0" sz="600">
                <a:solidFill>
                  <a:srgbClr val="111111"/>
                </a:solidFill>
              </a:rPr>
              <a:t>of</a:t>
            </a:r>
            <a:r>
              <a:rPr dirty="0" sz="600" spc="45">
                <a:solidFill>
                  <a:srgbClr val="111111"/>
                </a:solidFill>
              </a:rPr>
              <a:t> </a:t>
            </a:r>
            <a:r>
              <a:rPr dirty="0" sz="600" spc="-20">
                <a:solidFill>
                  <a:srgbClr val="111111"/>
                </a:solidFill>
              </a:rPr>
              <a:t>the</a:t>
            </a:r>
            <a:r>
              <a:rPr dirty="0" sz="600" spc="-25">
                <a:solidFill>
                  <a:srgbClr val="111111"/>
                </a:solidFill>
              </a:rPr>
              <a:t> </a:t>
            </a:r>
            <a:r>
              <a:rPr dirty="0" sz="600" spc="-10">
                <a:solidFill>
                  <a:srgbClr val="0F0F0F"/>
                </a:solidFill>
              </a:rPr>
              <a:t>emining</a:t>
            </a:r>
            <a:r>
              <a:rPr dirty="0" sz="600" spc="70">
                <a:solidFill>
                  <a:srgbClr val="0F0F0F"/>
                </a:solidFill>
              </a:rPr>
              <a:t> </a:t>
            </a:r>
            <a:r>
              <a:rPr dirty="0" sz="600" spc="-10">
                <a:solidFill>
                  <a:srgbClr val="0F0F0F"/>
                </a:solidFill>
              </a:rPr>
              <a:t>sou&lt;es.</a:t>
            </a:r>
            <a:endParaRPr sz="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380" y="1447800"/>
            <a:ext cx="487619" cy="48463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1333" y="1447800"/>
            <a:ext cx="484571" cy="48463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01143" y="1447800"/>
            <a:ext cx="487619" cy="484631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3486476" y="2336292"/>
            <a:ext cx="1188720" cy="0"/>
          </a:xfrm>
          <a:custGeom>
            <a:avLst/>
            <a:gdLst/>
            <a:ahLst/>
            <a:cxnLst/>
            <a:rect l="l" t="t" r="r" b="b"/>
            <a:pathLst>
              <a:path w="1188720" h="0">
                <a:moveTo>
                  <a:pt x="0" y="0"/>
                </a:moveTo>
                <a:lnTo>
                  <a:pt x="1188571" y="0"/>
                </a:lnTo>
              </a:path>
            </a:pathLst>
          </a:custGeom>
          <a:ln w="3175">
            <a:solidFill>
              <a:srgbClr val="676B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546286" y="2336292"/>
            <a:ext cx="1188720" cy="0"/>
          </a:xfrm>
          <a:custGeom>
            <a:avLst/>
            <a:gdLst/>
            <a:ahLst/>
            <a:cxnLst/>
            <a:rect l="l" t="t" r="r" b="b"/>
            <a:pathLst>
              <a:path w="1188720" h="0">
                <a:moveTo>
                  <a:pt x="0" y="0"/>
                </a:moveTo>
                <a:lnTo>
                  <a:pt x="1188571" y="0"/>
                </a:lnTo>
              </a:path>
            </a:pathLst>
          </a:custGeom>
          <a:ln w="3175">
            <a:solidFill>
              <a:srgbClr val="676B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613333" y="4194047"/>
            <a:ext cx="1350645" cy="21082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41910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330"/>
              </a:spcBef>
              <a:tabLst>
                <a:tab pos="671195" algn="l"/>
              </a:tabLst>
            </a:pPr>
            <a:r>
              <a:rPr dirty="0" sz="650" spc="-85">
                <a:solidFill>
                  <a:srgbClr val="FFFFFF"/>
                </a:solidFill>
                <a:latin typeface="Courier New"/>
                <a:cs typeface="Courier New"/>
                <a:hlinkClick r:id="rId5"/>
              </a:rPr>
              <a:t>^œn'ea</a:t>
            </a:r>
            <a:r>
              <a:rPr dirty="0" sz="650" spc="-65">
                <a:solidFill>
                  <a:srgbClr val="FFFFFF"/>
                </a:solidFill>
                <a:latin typeface="Courier New"/>
                <a:cs typeface="Courier New"/>
                <a:hlinkClick r:id="rId5"/>
              </a:rPr>
              <a:t> </a:t>
            </a:r>
            <a:r>
              <a:rPr dirty="0" sz="650" spc="-20">
                <a:solidFill>
                  <a:srgbClr val="FFFFFF"/>
                </a:solidFill>
                <a:latin typeface="Courier New"/>
                <a:cs typeface="Courier New"/>
                <a:hlinkClick r:id="rId5"/>
              </a:rPr>
              <a:t>1°nç</a:t>
            </a:r>
            <a:r>
              <a:rPr dirty="0" sz="650">
                <a:solidFill>
                  <a:srgbClr val="FFFFFF"/>
                </a:solidFill>
                <a:latin typeface="Courier New"/>
                <a:cs typeface="Courier New"/>
                <a:hlinkClick r:id="rId5"/>
              </a:rPr>
              <a:t>	</a:t>
            </a:r>
            <a:r>
              <a:rPr dirty="0" sz="650" spc="-25">
                <a:solidFill>
                  <a:srgbClr val="FFFFFF"/>
                </a:solidFill>
                <a:latin typeface="Courier New"/>
                <a:cs typeface="Courier New"/>
                <a:hlinkClick r:id="rId5"/>
              </a:rPr>
              <a:t>preseutotions</a:t>
            </a:r>
            <a:endParaRPr sz="650">
              <a:latin typeface="Courier New"/>
              <a:cs typeface="Courier New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67619" y="1447800"/>
            <a:ext cx="417523" cy="48463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71237" y="2615183"/>
            <a:ext cx="51809" cy="7010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99238" y="2618232"/>
            <a:ext cx="45714" cy="67056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501713" y="1447800"/>
            <a:ext cx="426666" cy="484631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397085" y="367284"/>
            <a:ext cx="251460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522DD8"/>
                </a:solidFill>
                <a:latin typeface="Arial MT"/>
                <a:cs typeface="Arial MT"/>
              </a:rPr>
              <a:t>N</a:t>
            </a:r>
            <a:r>
              <a:rPr dirty="0" sz="800" spc="240">
                <a:solidFill>
                  <a:srgbClr val="522DD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E57BC"/>
                </a:solidFill>
                <a:latin typeface="Arial MT"/>
                <a:cs typeface="Arial MT"/>
              </a:rPr>
              <a:t>A</a:t>
            </a:r>
            <a:r>
              <a:rPr dirty="0" sz="800" spc="90">
                <a:solidFill>
                  <a:srgbClr val="6E57BC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B28C3"/>
                </a:solidFill>
                <a:latin typeface="Arial MT"/>
                <a:cs typeface="Arial MT"/>
              </a:rPr>
              <a:t>C</a:t>
            </a:r>
            <a:r>
              <a:rPr dirty="0" sz="800" spc="95">
                <a:solidFill>
                  <a:srgbClr val="4B28C3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9079D1"/>
                </a:solidFill>
                <a:latin typeface="Arial MT"/>
                <a:cs typeface="Arial MT"/>
              </a:rPr>
              <a:t>H</a:t>
            </a:r>
            <a:r>
              <a:rPr dirty="0" sz="800" spc="80">
                <a:solidFill>
                  <a:srgbClr val="9079D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502FCC"/>
                </a:solidFill>
                <a:latin typeface="Arial MT"/>
                <a:cs typeface="Arial MT"/>
              </a:rPr>
              <a:t>I</a:t>
            </a:r>
            <a:r>
              <a:rPr dirty="0" sz="800" spc="250">
                <a:solidFill>
                  <a:srgbClr val="502FCC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D2BC8"/>
                </a:solidFill>
                <a:latin typeface="Arial MT"/>
                <a:cs typeface="Arial MT"/>
              </a:rPr>
              <a:t>N</a:t>
            </a:r>
            <a:r>
              <a:rPr dirty="0" sz="800" spc="100">
                <a:solidFill>
                  <a:srgbClr val="4D2BC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502AD3"/>
                </a:solidFill>
                <a:latin typeface="Arial MT"/>
                <a:cs typeface="Arial MT"/>
              </a:rPr>
              <a:t>E</a:t>
            </a:r>
            <a:r>
              <a:rPr dirty="0" sz="800" spc="170">
                <a:solidFill>
                  <a:srgbClr val="502AD3"/>
                </a:solidFill>
                <a:latin typeface="Arial MT"/>
                <a:cs typeface="Arial MT"/>
              </a:rPr>
              <a:t>  </a:t>
            </a:r>
            <a:r>
              <a:rPr dirty="0" sz="800">
                <a:solidFill>
                  <a:srgbClr val="502ACF"/>
                </a:solidFill>
                <a:latin typeface="Arial MT"/>
                <a:cs typeface="Arial MT"/>
              </a:rPr>
              <a:t>L</a:t>
            </a:r>
            <a:r>
              <a:rPr dirty="0" sz="800" spc="95">
                <a:solidFill>
                  <a:srgbClr val="502AC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F2AD8"/>
                </a:solidFill>
                <a:latin typeface="Arial MT"/>
                <a:cs typeface="Arial MT"/>
              </a:rPr>
              <a:t>E</a:t>
            </a:r>
            <a:r>
              <a:rPr dirty="0" sz="800" spc="130">
                <a:solidFill>
                  <a:srgbClr val="4F2AD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D2DBF"/>
                </a:solidFill>
                <a:latin typeface="Arial MT"/>
                <a:cs typeface="Arial MT"/>
              </a:rPr>
              <a:t>A</a:t>
            </a:r>
            <a:r>
              <a:rPr dirty="0" sz="800" spc="114">
                <a:solidFill>
                  <a:srgbClr val="4D2DB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8E7BD4"/>
                </a:solidFill>
                <a:latin typeface="Arial MT"/>
                <a:cs typeface="Arial MT"/>
              </a:rPr>
              <a:t>R</a:t>
            </a:r>
            <a:r>
              <a:rPr dirty="0" sz="800" spc="120">
                <a:solidFill>
                  <a:srgbClr val="8E7BD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D2BC8"/>
                </a:solidFill>
                <a:latin typeface="Arial MT"/>
                <a:cs typeface="Arial MT"/>
              </a:rPr>
              <a:t>N</a:t>
            </a:r>
            <a:r>
              <a:rPr dirty="0" sz="800" spc="65">
                <a:solidFill>
                  <a:srgbClr val="4D2BC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F2BCC"/>
                </a:solidFill>
                <a:latin typeface="Arial MT"/>
                <a:cs typeface="Arial MT"/>
              </a:rPr>
              <a:t>I</a:t>
            </a:r>
            <a:r>
              <a:rPr dirty="0" sz="800" spc="215">
                <a:solidFill>
                  <a:srgbClr val="4F2BCC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5431C4"/>
                </a:solidFill>
                <a:latin typeface="Arial MT"/>
                <a:cs typeface="Arial MT"/>
              </a:rPr>
              <a:t>N</a:t>
            </a:r>
            <a:r>
              <a:rPr dirty="0" sz="800" spc="65">
                <a:solidFill>
                  <a:srgbClr val="5431C4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D2AC6"/>
                </a:solidFill>
                <a:latin typeface="Arial MT"/>
                <a:cs typeface="Arial MT"/>
              </a:rPr>
              <a:t>G</a:t>
            </a:r>
            <a:r>
              <a:rPr dirty="0" sz="800" spc="160">
                <a:solidFill>
                  <a:srgbClr val="4D2AC6"/>
                </a:solidFill>
                <a:latin typeface="Arial MT"/>
                <a:cs typeface="Arial MT"/>
              </a:rPr>
              <a:t>  </a:t>
            </a:r>
            <a:r>
              <a:rPr dirty="0" sz="800">
                <a:solidFill>
                  <a:srgbClr val="4F2BD1"/>
                </a:solidFill>
                <a:latin typeface="Arial MT"/>
                <a:cs typeface="Arial MT"/>
              </a:rPr>
              <a:t>M</a:t>
            </a:r>
            <a:r>
              <a:rPr dirty="0" sz="800" spc="120">
                <a:solidFill>
                  <a:srgbClr val="4F2BD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522ACC"/>
                </a:solidFill>
                <a:latin typeface="Arial MT"/>
                <a:cs typeface="Arial MT"/>
              </a:rPr>
              <a:t>E</a:t>
            </a:r>
            <a:r>
              <a:rPr dirty="0" sz="800" spc="90">
                <a:solidFill>
                  <a:srgbClr val="522ACC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F2DBF"/>
                </a:solidFill>
                <a:latin typeface="Arial MT"/>
                <a:cs typeface="Arial MT"/>
              </a:rPr>
              <a:t>T</a:t>
            </a:r>
            <a:r>
              <a:rPr dirty="0" sz="800" spc="80">
                <a:solidFill>
                  <a:srgbClr val="4F2DB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5B3BC1"/>
                </a:solidFill>
                <a:latin typeface="Arial MT"/>
                <a:cs typeface="Arial MT"/>
              </a:rPr>
              <a:t>H</a:t>
            </a:r>
            <a:r>
              <a:rPr dirty="0" sz="800" spc="50">
                <a:solidFill>
                  <a:srgbClr val="5B3BC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522DCA"/>
                </a:solidFill>
                <a:latin typeface="Arial MT"/>
                <a:cs typeface="Arial MT"/>
              </a:rPr>
              <a:t>O</a:t>
            </a:r>
            <a:r>
              <a:rPr dirty="0" sz="800" spc="85">
                <a:solidFill>
                  <a:srgbClr val="522DCA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542AD1"/>
                </a:solidFill>
                <a:latin typeface="Arial MT"/>
                <a:cs typeface="Arial MT"/>
              </a:rPr>
              <a:t>D</a:t>
            </a:r>
            <a:r>
              <a:rPr dirty="0" sz="800" spc="60">
                <a:solidFill>
                  <a:srgbClr val="542AD1"/>
                </a:solidFill>
                <a:latin typeface="Arial MT"/>
                <a:cs typeface="Arial MT"/>
              </a:rPr>
              <a:t> </a:t>
            </a:r>
            <a:r>
              <a:rPr dirty="0" sz="800" spc="-50">
                <a:solidFill>
                  <a:srgbClr val="522DC1"/>
                </a:solidFill>
                <a:latin typeface="Arial MT"/>
                <a:cs typeface="Arial MT"/>
              </a:rPr>
              <a:t>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90619" y="364033"/>
            <a:ext cx="2915920" cy="692150"/>
          </a:xfrm>
          <a:prstGeom prst="rect"/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2400" spc="-85">
                <a:solidFill>
                  <a:srgbClr val="0F0F0F"/>
                </a:solidFill>
              </a:rPr>
              <a:t>Methods</a:t>
            </a:r>
            <a:r>
              <a:rPr dirty="0" sz="2400" spc="-45">
                <a:solidFill>
                  <a:srgbClr val="0F0F0F"/>
                </a:solidFill>
              </a:rPr>
              <a:t> </a:t>
            </a:r>
            <a:r>
              <a:rPr dirty="0" sz="2400" spc="-25">
                <a:solidFill>
                  <a:srgbClr val="0F0F0F"/>
                </a:solidFill>
              </a:rPr>
              <a:t>Overview</a:t>
            </a:r>
            <a:endParaRPr sz="2400"/>
          </a:p>
          <a:p>
            <a:pPr marL="19685">
              <a:lnSpc>
                <a:spcPct val="100000"/>
              </a:lnSpc>
              <a:spcBef>
                <a:spcPts val="345"/>
              </a:spcBef>
            </a:pPr>
            <a:r>
              <a:rPr dirty="0" sz="1000" spc="-30">
                <a:solidFill>
                  <a:srgbClr val="6E6E6E"/>
                </a:solidFill>
                <a:latin typeface="Arial MT"/>
                <a:cs typeface="Arial MT"/>
              </a:rPr>
              <a:t>Exploring</a:t>
            </a:r>
            <a:r>
              <a:rPr dirty="0" sz="1000" spc="10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dirty="0" sz="1000" spc="-35">
                <a:solidFill>
                  <a:srgbClr val="696969"/>
                </a:solidFill>
                <a:latin typeface="Arial MT"/>
                <a:cs typeface="Arial MT"/>
              </a:rPr>
              <a:t>Unsupervised</a:t>
            </a:r>
            <a:r>
              <a:rPr dirty="0" sz="1000" spc="45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solidFill>
                  <a:srgbClr val="6B6B6B"/>
                </a:solidFill>
                <a:latin typeface="Arial MT"/>
                <a:cs typeface="Arial MT"/>
              </a:rPr>
              <a:t>Machine</a:t>
            </a:r>
            <a:r>
              <a:rPr dirty="0" sz="100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solidFill>
                  <a:srgbClr val="6E6E6E"/>
                </a:solidFill>
                <a:latin typeface="Arial MT"/>
                <a:cs typeface="Arial MT"/>
              </a:rPr>
              <a:t>Learning</a:t>
            </a:r>
            <a:r>
              <a:rPr dirty="0" sz="1000" spc="10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dirty="0" sz="1000" spc="-35">
                <a:solidFill>
                  <a:srgbClr val="6E6E6E"/>
                </a:solidFill>
                <a:latin typeface="Arial MT"/>
                <a:cs typeface="Arial MT"/>
              </a:rPr>
              <a:t>Techniques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93255" y="2031237"/>
            <a:ext cx="1071880" cy="409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445">
              <a:lnSpc>
                <a:spcPct val="109600"/>
              </a:lnSpc>
              <a:spcBef>
                <a:spcPts val="100"/>
              </a:spcBef>
            </a:pPr>
            <a:r>
              <a:rPr dirty="0" sz="1150" spc="-10">
                <a:solidFill>
                  <a:srgbClr val="0C0C0C"/>
                </a:solidFill>
                <a:latin typeface="Times New Roman"/>
                <a:cs typeface="Times New Roman"/>
              </a:rPr>
              <a:t>Unsupervised </a:t>
            </a:r>
            <a:r>
              <a:rPr dirty="0" sz="1150" spc="-25">
                <a:solidFill>
                  <a:srgbClr val="0C0C0C"/>
                </a:solidFill>
                <a:latin typeface="Times New Roman"/>
                <a:cs typeface="Times New Roman"/>
              </a:rPr>
              <a:t>Machine</a:t>
            </a:r>
            <a:r>
              <a:rPr dirty="0" sz="1150" spc="-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A0A0A"/>
                </a:solidFill>
                <a:latin typeface="Times New Roman"/>
                <a:cs typeface="Times New Roman"/>
              </a:rPr>
              <a:t>Learning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95277" y="2616707"/>
            <a:ext cx="1184275" cy="65532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5080" indent="1270">
              <a:lnSpc>
                <a:spcPct val="105700"/>
              </a:lnSpc>
              <a:spcBef>
                <a:spcPts val="45"/>
              </a:spcBef>
            </a:pPr>
            <a:r>
              <a:rPr dirty="0" sz="800" spc="-30">
                <a:solidFill>
                  <a:srgbClr val="0C0C0C"/>
                </a:solidFill>
                <a:latin typeface="Arial MT"/>
                <a:cs typeface="Arial MT"/>
              </a:rPr>
              <a:t>Utilizes</a:t>
            </a:r>
            <a:r>
              <a:rPr dirty="0" sz="800" spc="-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0A0A0A"/>
                </a:solidFill>
                <a:latin typeface="Arial MT"/>
                <a:cs typeface="Arial MT"/>
              </a:rPr>
              <a:t>algorithms</a:t>
            </a:r>
            <a:r>
              <a:rPr dirty="0" sz="800" spc="1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0C0C0C"/>
                </a:solidFill>
                <a:latin typeface="Arial MT"/>
                <a:cs typeface="Arial MT"/>
              </a:rPr>
              <a:t>that </a:t>
            </a:r>
            <a:r>
              <a:rPr dirty="0" sz="800" spc="-25">
                <a:solidFill>
                  <a:srgbClr val="0F0F0F"/>
                </a:solidFill>
                <a:latin typeface="Arial MT"/>
                <a:cs typeface="Arial MT"/>
              </a:rPr>
              <a:t>learn </a:t>
            </a:r>
            <a:r>
              <a:rPr dirty="0" sz="800" spc="-20">
                <a:solidFill>
                  <a:srgbClr val="0F0F0F"/>
                </a:solidFill>
                <a:latin typeface="Arial MT"/>
                <a:cs typeface="Arial MT"/>
              </a:rPr>
              <a:t>from</a:t>
            </a:r>
            <a:r>
              <a:rPr dirty="0" sz="800" spc="-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C0C0C"/>
                </a:solidFill>
                <a:latin typeface="Arial MT"/>
                <a:cs typeface="Arial MT"/>
              </a:rPr>
              <a:t>data</a:t>
            </a:r>
            <a:r>
              <a:rPr dirty="0" sz="800" spc="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A0A0A"/>
                </a:solidFill>
                <a:latin typeface="Arial MT"/>
                <a:cs typeface="Arial MT"/>
              </a:rPr>
              <a:t>without </a:t>
            </a:r>
            <a:r>
              <a:rPr dirty="0" sz="800" spc="-35">
                <a:solidFill>
                  <a:srgbClr val="0E0E0E"/>
                </a:solidFill>
                <a:latin typeface="Arial MT"/>
                <a:cs typeface="Arial MT"/>
              </a:rPr>
              <a:t>labeled</a:t>
            </a:r>
            <a:r>
              <a:rPr dirty="0" sz="800" spc="2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 spc="-55">
                <a:solidFill>
                  <a:srgbClr val="0C0C0C"/>
                </a:solidFill>
                <a:latin typeface="Arial MT"/>
                <a:cs typeface="Arial MT"/>
              </a:rPr>
              <a:t>responses,</a:t>
            </a:r>
            <a:r>
              <a:rPr dirty="0" sz="800" spc="-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30">
                <a:solidFill>
                  <a:srgbClr val="0F0F0F"/>
                </a:solidFill>
                <a:latin typeface="Arial MT"/>
                <a:cs typeface="Arial MT"/>
              </a:rPr>
              <a:t>enabling</a:t>
            </a:r>
            <a:r>
              <a:rPr dirty="0" sz="80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80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00" spc="-30">
                <a:solidFill>
                  <a:srgbClr val="0E0E0E"/>
                </a:solidFill>
                <a:latin typeface="Arial MT"/>
                <a:cs typeface="Arial MT"/>
              </a:rPr>
              <a:t>discovery</a:t>
            </a:r>
            <a:r>
              <a:rPr dirty="0" sz="800" spc="-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C0C0C"/>
                </a:solidFill>
                <a:latin typeface="Arial MT"/>
                <a:cs typeface="Arial MT"/>
              </a:rPr>
              <a:t>of</a:t>
            </a:r>
            <a:r>
              <a:rPr dirty="0" sz="800" spc="-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C0C0C"/>
                </a:solidFill>
                <a:latin typeface="Arial MT"/>
                <a:cs typeface="Arial MT"/>
              </a:rPr>
              <a:t>hidden </a:t>
            </a:r>
            <a:r>
              <a:rPr dirty="0" sz="750" spc="-10">
                <a:solidFill>
                  <a:srgbClr val="0A0A0A"/>
                </a:solidFill>
                <a:latin typeface="Arial MT"/>
                <a:cs typeface="Arial MT"/>
              </a:rPr>
              <a:t>patterns.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932232" y="2031237"/>
            <a:ext cx="916940" cy="409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600"/>
              </a:lnSpc>
              <a:spcBef>
                <a:spcPts val="100"/>
              </a:spcBef>
            </a:pPr>
            <a:r>
              <a:rPr dirty="0" sz="1150" spc="-20">
                <a:solidFill>
                  <a:srgbClr val="0C0C0C"/>
                </a:solidFill>
                <a:latin typeface="Times New Roman"/>
                <a:cs typeface="Times New Roman"/>
              </a:rPr>
              <a:t>Dimensionality </a:t>
            </a:r>
            <a:r>
              <a:rPr dirty="0" sz="1150" spc="-10">
                <a:solidFill>
                  <a:srgbClr val="0A0A0A"/>
                </a:solidFill>
                <a:latin typeface="Times New Roman"/>
                <a:cs typeface="Times New Roman"/>
              </a:rPr>
              <a:t>Reduction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923572" y="2606683"/>
            <a:ext cx="1181735" cy="142621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4604" marR="5080" indent="3175">
              <a:lnSpc>
                <a:spcPct val="112200"/>
              </a:lnSpc>
              <a:spcBef>
                <a:spcPts val="60"/>
              </a:spcBef>
            </a:pPr>
            <a:r>
              <a:rPr dirty="0" sz="800" spc="-105">
                <a:solidFill>
                  <a:srgbClr val="0F0F0F"/>
                </a:solidFill>
                <a:latin typeface="Arial MT"/>
                <a:cs typeface="Arial MT"/>
              </a:rPr>
              <a:t>A</a:t>
            </a:r>
            <a:r>
              <a:rPr dirty="0" sz="8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0E0E0E"/>
                </a:solidFill>
                <a:latin typeface="Arial MT"/>
                <a:cs typeface="Arial MT"/>
              </a:rPr>
              <a:t>technique</a:t>
            </a:r>
            <a:r>
              <a:rPr dirty="0" sz="800" spc="3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 spc="-55">
                <a:solidFill>
                  <a:srgbClr val="0F0F0F"/>
                </a:solidFill>
                <a:latin typeface="Arial MT"/>
                <a:cs typeface="Arial MT"/>
              </a:rPr>
              <a:t>used</a:t>
            </a:r>
            <a:r>
              <a:rPr dirty="0" sz="80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F0F0F"/>
                </a:solidFill>
                <a:latin typeface="Arial MT"/>
                <a:cs typeface="Arial MT"/>
              </a:rPr>
              <a:t>to</a:t>
            </a:r>
            <a:r>
              <a:rPr dirty="0" sz="800" spc="-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30">
                <a:solidFill>
                  <a:srgbClr val="0E0E0E"/>
                </a:solidFill>
                <a:latin typeface="Arial MT"/>
                <a:cs typeface="Arial MT"/>
              </a:rPr>
              <a:t>reduce</a:t>
            </a:r>
            <a:r>
              <a:rPr dirty="0" sz="8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the</a:t>
            </a:r>
            <a:r>
              <a:rPr dirty="0" sz="750" spc="-4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number</a:t>
            </a:r>
            <a:r>
              <a:rPr dirty="0" sz="750" spc="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of</a:t>
            </a:r>
            <a:r>
              <a:rPr dirty="0" sz="750" spc="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E0E0E"/>
                </a:solidFill>
                <a:latin typeface="Arial MT"/>
                <a:cs typeface="Arial MT"/>
              </a:rPr>
              <a:t>features</a:t>
            </a:r>
            <a:r>
              <a:rPr dirty="0" sz="750" spc="6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61616"/>
                </a:solidFill>
                <a:latin typeface="Arial MT"/>
                <a:cs typeface="Arial MT"/>
              </a:rPr>
              <a:t>in</a:t>
            </a:r>
            <a:r>
              <a:rPr dirty="0" sz="750" spc="-2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750" spc="-50">
                <a:solidFill>
                  <a:srgbClr val="0C0C0C"/>
                </a:solidFill>
                <a:latin typeface="Arial MT"/>
                <a:cs typeface="Arial MT"/>
              </a:rPr>
              <a:t>a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C0C0C"/>
                </a:solidFill>
                <a:latin typeface="Arial MT"/>
                <a:cs typeface="Arial MT"/>
              </a:rPr>
              <a:t>dataset</a:t>
            </a:r>
            <a:r>
              <a:rPr dirty="0" sz="700" spc="2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C0C0C"/>
                </a:solidFill>
                <a:latin typeface="Arial MT"/>
                <a:cs typeface="Arial MT"/>
              </a:rPr>
              <a:t>while</a:t>
            </a:r>
            <a:r>
              <a:rPr dirty="0" sz="700" spc="10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E0E0E"/>
                </a:solidFill>
                <a:latin typeface="Arial MT"/>
                <a:cs typeface="Arial MT"/>
              </a:rPr>
              <a:t>preserving</a:t>
            </a:r>
            <a:r>
              <a:rPr dirty="0" sz="70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important</a:t>
            </a:r>
            <a:r>
              <a:rPr dirty="0" sz="750" spc="15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relationships.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800" spc="-40">
                <a:solidFill>
                  <a:srgbClr val="0E0E0E"/>
                </a:solidFill>
                <a:latin typeface="Arial MT"/>
                <a:cs typeface="Arial MT"/>
              </a:rPr>
              <a:t>Common</a:t>
            </a:r>
            <a:r>
              <a:rPr dirty="0" sz="800" spc="-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0E0E0E"/>
                </a:solidFill>
                <a:latin typeface="Arial MT"/>
                <a:cs typeface="Arial MT"/>
              </a:rPr>
              <a:t>methods</a:t>
            </a:r>
            <a:r>
              <a:rPr dirty="0" sz="800" spc="-10">
                <a:solidFill>
                  <a:srgbClr val="0E0E0E"/>
                </a:solidFill>
                <a:latin typeface="Arial MT"/>
                <a:cs typeface="Arial MT"/>
              </a:rPr>
              <a:t> include</a:t>
            </a:r>
            <a:endParaRPr sz="80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  <a:spcBef>
                <a:spcPts val="75"/>
              </a:spcBef>
            </a:pPr>
            <a:r>
              <a:rPr dirty="0" sz="750" spc="-85">
                <a:solidFill>
                  <a:srgbClr val="0F0F0F"/>
                </a:solidFill>
                <a:latin typeface="Arial MT"/>
                <a:cs typeface="Arial MT"/>
              </a:rPr>
              <a:t>PCA</a:t>
            </a:r>
            <a:r>
              <a:rPr dirty="0" sz="750" spc="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E0E0E"/>
                </a:solidFill>
                <a:latin typeface="Arial MT"/>
                <a:cs typeface="Arial MT"/>
              </a:rPr>
              <a:t>(Principal</a:t>
            </a:r>
            <a:r>
              <a:rPr dirty="0" sz="750" spc="-2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Component</a:t>
            </a:r>
            <a:endParaRPr sz="750">
              <a:latin typeface="Arial MT"/>
              <a:cs typeface="Arial MT"/>
            </a:endParaRPr>
          </a:p>
          <a:p>
            <a:pPr marL="14604" marR="6350" indent="3175">
              <a:lnSpc>
                <a:spcPct val="115199"/>
              </a:lnSpc>
              <a:spcBef>
                <a:spcPts val="30"/>
              </a:spcBef>
            </a:pPr>
            <a:r>
              <a:rPr dirty="0" sz="700">
                <a:solidFill>
                  <a:srgbClr val="0C0C0C"/>
                </a:solidFill>
                <a:latin typeface="Arial MT"/>
                <a:cs typeface="Arial MT"/>
              </a:rPr>
              <a:t>Analysis)</a:t>
            </a:r>
            <a:r>
              <a:rPr dirty="0" sz="700" spc="9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E0E0E"/>
                </a:solidFill>
                <a:latin typeface="Arial MT"/>
                <a:cs typeface="Arial MT"/>
              </a:rPr>
              <a:t>and</a:t>
            </a:r>
            <a:r>
              <a:rPr dirty="0" sz="700" spc="9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F0F0F"/>
                </a:solidFill>
                <a:latin typeface="Arial MT"/>
                <a:cs typeface="Arial MT"/>
              </a:rPr>
              <a:t>t-SNE</a:t>
            </a:r>
            <a:r>
              <a:rPr dirty="0" sz="700" spc="8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0E0E0E"/>
                </a:solidFill>
                <a:latin typeface="Arial MT"/>
                <a:cs typeface="Arial MT"/>
              </a:rPr>
              <a:t>(I-</a:t>
            </a:r>
            <a:r>
              <a:rPr dirty="0" sz="700" spc="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0C0C0C"/>
                </a:solidFill>
                <a:latin typeface="Arial MT"/>
                <a:cs typeface="Arial MT"/>
              </a:rPr>
              <a:t>distributed</a:t>
            </a:r>
            <a:r>
              <a:rPr dirty="0" sz="700" spc="2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C0C0C"/>
                </a:solidFill>
                <a:latin typeface="Arial MT"/>
                <a:cs typeface="Arial MT"/>
              </a:rPr>
              <a:t>Stochastic</a:t>
            </a:r>
            <a:r>
              <a:rPr dirty="0" sz="700" spc="5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Neighbor</a:t>
            </a:r>
            <a:r>
              <a:rPr dirty="0" sz="750" spc="6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Embedding).</a:t>
            </a:r>
            <a:r>
              <a:rPr dirty="0" sz="750" spc="5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0E0E0E"/>
                </a:solidFill>
                <a:latin typeface="Arial MT"/>
                <a:cs typeface="Arial MT"/>
              </a:rPr>
              <a:t>This</a:t>
            </a:r>
            <a:r>
              <a:rPr dirty="0" sz="750" spc="-10">
                <a:solidFill>
                  <a:srgbClr val="0E0E0E"/>
                </a:solidFill>
                <a:latin typeface="Arial MT"/>
                <a:cs typeface="Arial MT"/>
              </a:rPr>
              <a:t> helps</a:t>
            </a:r>
            <a:r>
              <a:rPr dirty="0" sz="750" spc="1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simplify</a:t>
            </a:r>
            <a:r>
              <a:rPr dirty="0" sz="750" spc="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0F0F0F"/>
                </a:solidFill>
                <a:latin typeface="Arial MT"/>
                <a:cs typeface="Arial MT"/>
              </a:rPr>
              <a:t>data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C0C0C"/>
                </a:solidFill>
                <a:latin typeface="Arial MT"/>
                <a:cs typeface="Arial MT"/>
              </a:rPr>
              <a:t>visualization</a:t>
            </a:r>
            <a:r>
              <a:rPr dirty="0" sz="700" spc="25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E0E0E"/>
                </a:solidFill>
                <a:latin typeface="Arial MT"/>
                <a:cs typeface="Arial MT"/>
              </a:rPr>
              <a:t>and</a:t>
            </a:r>
            <a:r>
              <a:rPr dirty="0" sz="700" spc="114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C0C0C"/>
                </a:solidFill>
                <a:latin typeface="Arial MT"/>
                <a:cs typeface="Arial MT"/>
              </a:rPr>
              <a:t>analysis.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456537" y="2054351"/>
            <a:ext cx="6191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0E0E0E"/>
                </a:solidFill>
                <a:latin typeface="Times New Roman"/>
                <a:cs typeface="Times New Roman"/>
              </a:rPr>
              <a:t>Clustering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456516" y="2415175"/>
            <a:ext cx="1186815" cy="11677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335" marR="5080" indent="-1270">
              <a:lnSpc>
                <a:spcPct val="108700"/>
              </a:lnSpc>
              <a:spcBef>
                <a:spcPts val="95"/>
              </a:spcBef>
            </a:pP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Groups</a:t>
            </a:r>
            <a:r>
              <a:rPr dirty="0" sz="750" spc="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similar</a:t>
            </a:r>
            <a:r>
              <a:rPr dirty="0" sz="750" spc="4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data</a:t>
            </a:r>
            <a:r>
              <a:rPr dirty="0" sz="75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points </a:t>
            </a:r>
            <a:r>
              <a:rPr dirty="0" sz="800" spc="-20">
                <a:solidFill>
                  <a:srgbClr val="0E0E0E"/>
                </a:solidFill>
                <a:latin typeface="Arial MT"/>
                <a:cs typeface="Arial MT"/>
              </a:rPr>
              <a:t>together</a:t>
            </a:r>
            <a:r>
              <a:rPr dirty="0" sz="800" spc="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 spc="-40">
                <a:solidFill>
                  <a:srgbClr val="0A0A0A"/>
                </a:solidFill>
                <a:latin typeface="Arial MT"/>
                <a:cs typeface="Arial MT"/>
              </a:rPr>
              <a:t>based</a:t>
            </a:r>
            <a:r>
              <a:rPr dirty="0" sz="800" spc="-2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111111"/>
                </a:solidFill>
                <a:latin typeface="Arial MT"/>
                <a:cs typeface="Arial MT"/>
              </a:rPr>
              <a:t>on</a:t>
            </a:r>
            <a:r>
              <a:rPr dirty="0" sz="8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C0C0C"/>
                </a:solidFill>
                <a:latin typeface="Arial MT"/>
                <a:cs typeface="Arial MT"/>
              </a:rPr>
              <a:t>their </a:t>
            </a:r>
            <a:r>
              <a:rPr dirty="0" sz="800" spc="-30">
                <a:solidFill>
                  <a:srgbClr val="0A0A0A"/>
                </a:solidFill>
                <a:latin typeface="Arial MT"/>
                <a:cs typeface="Arial MT"/>
              </a:rPr>
              <a:t>characteristics,</a:t>
            </a:r>
            <a:r>
              <a:rPr dirty="0" sz="800" spc="-1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800" spc="-30">
                <a:solidFill>
                  <a:srgbClr val="0C0C0C"/>
                </a:solidFill>
                <a:latin typeface="Arial MT"/>
                <a:cs typeface="Arial MT"/>
              </a:rPr>
              <a:t>allowing</a:t>
            </a:r>
            <a:r>
              <a:rPr dirty="0" sz="800" spc="6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0F0F0F"/>
                </a:solidFill>
                <a:latin typeface="Arial MT"/>
                <a:cs typeface="Arial MT"/>
              </a:rPr>
              <a:t>for</a:t>
            </a:r>
            <a:r>
              <a:rPr dirty="0" sz="80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0E0E0E"/>
                </a:solidFill>
                <a:latin typeface="Arial MT"/>
                <a:cs typeface="Arial MT"/>
              </a:rPr>
              <a:t>the</a:t>
            </a:r>
            <a:r>
              <a:rPr dirty="0" sz="800" spc="-5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E0E0E"/>
                </a:solidFill>
                <a:latin typeface="Arial MT"/>
                <a:cs typeface="Arial MT"/>
              </a:rPr>
              <a:t>identification</a:t>
            </a:r>
            <a:r>
              <a:rPr dirty="0" sz="800" spc="-3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0C0C0C"/>
                </a:solidFill>
                <a:latin typeface="Arial MT"/>
                <a:cs typeface="Arial MT"/>
              </a:rPr>
              <a:t>of</a:t>
            </a:r>
            <a:r>
              <a:rPr dirty="0" sz="800" spc="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E0E0E"/>
                </a:solidFill>
                <a:latin typeface="Arial MT"/>
                <a:cs typeface="Arial MT"/>
              </a:rPr>
              <a:t>distinct </a:t>
            </a:r>
            <a:r>
              <a:rPr dirty="0" sz="750">
                <a:solidFill>
                  <a:srgbClr val="0A0A0A"/>
                </a:solidFill>
                <a:latin typeface="Arial MT"/>
                <a:cs typeface="Arial MT"/>
              </a:rPr>
              <a:t>categories</a:t>
            </a:r>
            <a:r>
              <a:rPr dirty="0" sz="750" spc="5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within</a:t>
            </a:r>
            <a:r>
              <a:rPr dirty="0" sz="750" spc="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A0A0A"/>
                </a:solidFill>
                <a:latin typeface="Arial MT"/>
                <a:cs typeface="Arial MT"/>
              </a:rPr>
              <a:t>the</a:t>
            </a:r>
            <a:r>
              <a:rPr dirty="0" sz="750" spc="-2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E0E0E"/>
                </a:solidFill>
                <a:latin typeface="Arial MT"/>
                <a:cs typeface="Arial MT"/>
              </a:rPr>
              <a:t>data. </a:t>
            </a:r>
            <a:r>
              <a:rPr dirty="0" sz="700">
                <a:solidFill>
                  <a:srgbClr val="0C0C0C"/>
                </a:solidFill>
                <a:latin typeface="Arial MT"/>
                <a:cs typeface="Arial MT"/>
              </a:rPr>
              <a:t>Popula</a:t>
            </a:r>
            <a:r>
              <a:rPr dirty="0" sz="700" spc="-10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E0E0E"/>
                </a:solidFill>
                <a:latin typeface="Arial MT"/>
                <a:cs typeface="Arial MT"/>
              </a:rPr>
              <a:t>r</a:t>
            </a:r>
            <a:r>
              <a:rPr dirty="0" sz="700" spc="3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C0C0C"/>
                </a:solidFill>
                <a:latin typeface="Arial MT"/>
                <a:cs typeface="Arial MT"/>
              </a:rPr>
              <a:t>clustering</a:t>
            </a:r>
            <a:r>
              <a:rPr dirty="0" sz="700" spc="5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0A0A0A"/>
                </a:solidFill>
                <a:latin typeface="Arial MT"/>
                <a:cs typeface="Arial MT"/>
              </a:rPr>
              <a:t>algorithms</a:t>
            </a:r>
            <a:r>
              <a:rPr dirty="0" sz="800" spc="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0E0E0E"/>
                </a:solidFill>
                <a:latin typeface="Arial MT"/>
                <a:cs typeface="Arial MT"/>
              </a:rPr>
              <a:t>include</a:t>
            </a:r>
            <a:r>
              <a:rPr dirty="0" sz="800" spc="2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0F0F0F"/>
                </a:solidFill>
                <a:latin typeface="Arial MT"/>
                <a:cs typeface="Arial MT"/>
              </a:rPr>
              <a:t>K-</a:t>
            </a:r>
            <a:r>
              <a:rPr dirty="0" sz="800" spc="-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means,</a:t>
            </a:r>
            <a:r>
              <a:rPr dirty="0" sz="750" spc="-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hierarchical </a:t>
            </a:r>
            <a:r>
              <a:rPr dirty="0" sz="750" spc="-10">
                <a:solidFill>
                  <a:srgbClr val="0E0E0E"/>
                </a:solidFill>
                <a:latin typeface="Arial MT"/>
                <a:cs typeface="Arial MT"/>
              </a:rPr>
              <a:t>clustering,</a:t>
            </a:r>
            <a:r>
              <a:rPr dirty="0" sz="750" spc="6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and</a:t>
            </a:r>
            <a:r>
              <a:rPr dirty="0" sz="750" spc="-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A0A0A"/>
                </a:solidFill>
                <a:latin typeface="Arial MT"/>
                <a:cs typeface="Arial MT"/>
              </a:rPr>
              <a:t>DBSCAN.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995088" y="2031237"/>
            <a:ext cx="1110615" cy="409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600"/>
              </a:lnSpc>
              <a:spcBef>
                <a:spcPts val="100"/>
              </a:spcBef>
            </a:pPr>
            <a:r>
              <a:rPr dirty="0" sz="1150" spc="-20">
                <a:solidFill>
                  <a:srgbClr val="0C0C0C"/>
                </a:solidFill>
                <a:latin typeface="Times New Roman"/>
                <a:cs typeface="Times New Roman"/>
              </a:rPr>
              <a:t>High-</a:t>
            </a:r>
            <a:r>
              <a:rPr dirty="0" sz="1150" spc="-10">
                <a:solidFill>
                  <a:srgbClr val="0C0C0C"/>
                </a:solidFill>
                <a:latin typeface="Times New Roman"/>
                <a:cs typeface="Times New Roman"/>
              </a:rPr>
              <a:t>Dimensional </a:t>
            </a:r>
            <a:r>
              <a:rPr dirty="0" sz="1150" spc="-55">
                <a:solidFill>
                  <a:srgbClr val="0A0A0A"/>
                </a:solidFill>
                <a:latin typeface="Times New Roman"/>
                <a:cs typeface="Times New Roman"/>
              </a:rPr>
              <a:t>Data</a:t>
            </a:r>
            <a:r>
              <a:rPr dirty="0" sz="1150" spc="-15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C0C0C"/>
                </a:solidFill>
                <a:latin typeface="Times New Roman"/>
                <a:cs typeface="Times New Roman"/>
              </a:rPr>
              <a:t>Analysis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988048" y="2612389"/>
            <a:ext cx="1211580" cy="1037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635">
              <a:lnSpc>
                <a:spcPct val="109900"/>
              </a:lnSpc>
              <a:spcBef>
                <a:spcPts val="95"/>
              </a:spcBef>
            </a:pPr>
            <a:r>
              <a:rPr dirty="0" sz="750" spc="-25">
                <a:solidFill>
                  <a:srgbClr val="0E0E0E"/>
                </a:solidFill>
                <a:latin typeface="Arial MT"/>
                <a:cs typeface="Arial MT"/>
              </a:rPr>
              <a:t>I</a:t>
            </a:r>
            <a:r>
              <a:rPr dirty="0" sz="750" spc="-7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nvolves</a:t>
            </a:r>
            <a:r>
              <a:rPr dirty="0" sz="750" spc="-4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techniques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0A0A0A"/>
                </a:solidFill>
                <a:latin typeface="Arial MT"/>
                <a:cs typeface="Arial MT"/>
              </a:rPr>
              <a:t>that</a:t>
            </a:r>
            <a:r>
              <a:rPr dirty="0" sz="750" spc="50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A0A0A"/>
                </a:solidFill>
                <a:latin typeface="Arial MT"/>
                <a:cs typeface="Arial MT"/>
              </a:rPr>
              <a:t>help</a:t>
            </a:r>
            <a:r>
              <a:rPr dirty="0" sz="750" spc="-1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reveal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the</a:t>
            </a:r>
            <a:r>
              <a:rPr dirty="0" sz="750" spc="-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structure</a:t>
            </a:r>
            <a:r>
              <a:rPr dirty="0" sz="750" spc="5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E0E0E"/>
                </a:solidFill>
                <a:latin typeface="Arial MT"/>
                <a:cs typeface="Arial MT"/>
              </a:rPr>
              <a:t>and</a:t>
            </a:r>
            <a:r>
              <a:rPr dirty="0" sz="750" spc="-1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relationships</a:t>
            </a:r>
            <a:r>
              <a:rPr dirty="0" sz="750" spc="5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31313"/>
                </a:solidFill>
                <a:latin typeface="Arial MT"/>
                <a:cs typeface="Arial MT"/>
              </a:rPr>
              <a:t>in</a:t>
            </a:r>
            <a:r>
              <a:rPr dirty="0" sz="750" spc="-4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0E0E0E"/>
                </a:solidFill>
                <a:latin typeface="Arial MT"/>
                <a:cs typeface="Arial MT"/>
              </a:rPr>
              <a:t>data</a:t>
            </a:r>
            <a:r>
              <a:rPr dirty="0" sz="75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A0A0A"/>
                </a:solidFill>
                <a:latin typeface="Arial MT"/>
                <a:cs typeface="Arial MT"/>
              </a:rPr>
              <a:t>with</a:t>
            </a:r>
            <a:r>
              <a:rPr dirty="0" sz="700" spc="11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A0A0A"/>
                </a:solidFill>
                <a:latin typeface="Arial MT"/>
                <a:cs typeface="Arial MT"/>
              </a:rPr>
              <a:t>many</a:t>
            </a:r>
            <a:r>
              <a:rPr dirty="0" sz="700" spc="15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C0C0C"/>
                </a:solidFill>
                <a:latin typeface="Arial MT"/>
                <a:cs typeface="Arial MT"/>
              </a:rPr>
              <a:t>variables.</a:t>
            </a:r>
            <a:r>
              <a:rPr dirty="0" sz="700" spc="16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F0F0F"/>
                </a:solidFill>
                <a:latin typeface="Arial MT"/>
                <a:cs typeface="Arial MT"/>
              </a:rPr>
              <a:t>These</a:t>
            </a:r>
            <a:r>
              <a:rPr dirty="0" sz="70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methods</a:t>
            </a:r>
            <a:r>
              <a:rPr dirty="0" sz="750" spc="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are</a:t>
            </a:r>
            <a:r>
              <a:rPr dirty="0" sz="750" spc="-4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crucial</a:t>
            </a:r>
            <a:r>
              <a:rPr dirty="0" sz="750" spc="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in</a:t>
            </a:r>
            <a:r>
              <a:rPr dirty="0" sz="75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E0E0E"/>
                </a:solidFill>
                <a:latin typeface="Arial MT"/>
                <a:cs typeface="Arial MT"/>
              </a:rPr>
              <a:t>fields </a:t>
            </a:r>
            <a:r>
              <a:rPr dirty="0" sz="800" spc="-35">
                <a:solidFill>
                  <a:srgbClr val="0E0E0E"/>
                </a:solidFill>
                <a:latin typeface="Arial MT"/>
                <a:cs typeface="Arial MT"/>
              </a:rPr>
              <a:t>like</a:t>
            </a:r>
            <a:r>
              <a:rPr dirty="0" sz="800" spc="-1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 spc="-40">
                <a:solidFill>
                  <a:srgbClr val="0C0C0C"/>
                </a:solidFill>
                <a:latin typeface="Arial MT"/>
                <a:cs typeface="Arial MT"/>
              </a:rPr>
              <a:t>genomics,</a:t>
            </a:r>
            <a:r>
              <a:rPr dirty="0" sz="8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C0C0C"/>
                </a:solidFill>
                <a:latin typeface="Arial MT"/>
                <a:cs typeface="Arial MT"/>
              </a:rPr>
              <a:t>image </a:t>
            </a:r>
            <a:r>
              <a:rPr dirty="0" sz="800" spc="-45">
                <a:solidFill>
                  <a:srgbClr val="0C0C0C"/>
                </a:solidFill>
                <a:latin typeface="Arial MT"/>
                <a:cs typeface="Arial MT"/>
              </a:rPr>
              <a:t>processing,</a:t>
            </a:r>
            <a:r>
              <a:rPr dirty="0" sz="800" spc="5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40">
                <a:solidFill>
                  <a:srgbClr val="0A0A0A"/>
                </a:solidFill>
                <a:latin typeface="Arial MT"/>
                <a:cs typeface="Arial MT"/>
              </a:rPr>
              <a:t>and</a:t>
            </a:r>
            <a:r>
              <a:rPr dirty="0" sz="800" spc="-1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E0E0E"/>
                </a:solidFill>
                <a:latin typeface="Arial MT"/>
                <a:cs typeface="Arial MT"/>
              </a:rPr>
              <a:t>market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segmentation.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529416" y="2048001"/>
            <a:ext cx="107950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Natural</a:t>
            </a:r>
            <a:r>
              <a:rPr dirty="0" sz="1150" spc="-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E0E0E"/>
                </a:solidFill>
                <a:latin typeface="Times New Roman"/>
                <a:cs typeface="Times New Roman"/>
              </a:rPr>
              <a:t>Groupings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520745" y="2415175"/>
            <a:ext cx="1210310" cy="91630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75"/>
              </a:spcBef>
            </a:pPr>
            <a:r>
              <a:rPr dirty="0" sz="750" spc="-40">
                <a:solidFill>
                  <a:srgbClr val="0E0E0E"/>
                </a:solidFill>
                <a:latin typeface="Arial MT"/>
                <a:cs typeface="Arial MT"/>
              </a:rPr>
              <a:t>The</a:t>
            </a:r>
            <a:r>
              <a:rPr dirty="0" sz="750" spc="4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uitimate</a:t>
            </a:r>
            <a:r>
              <a:rPr dirty="0" sz="750" spc="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goal</a:t>
            </a:r>
            <a:r>
              <a:rPr dirty="0" sz="750" spc="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35">
                <a:solidFill>
                  <a:srgbClr val="0E0E0E"/>
                </a:solidFill>
                <a:latin typeface="Arial MT"/>
                <a:cs typeface="Arial MT"/>
              </a:rPr>
              <a:t>of</a:t>
            </a:r>
            <a:endParaRPr sz="750">
              <a:latin typeface="Arial MT"/>
              <a:cs typeface="Arial MT"/>
            </a:endParaRPr>
          </a:p>
          <a:p>
            <a:pPr marL="12700" marR="5080">
              <a:lnSpc>
                <a:spcPct val="104000"/>
              </a:lnSpc>
              <a:spcBef>
                <a:spcPts val="45"/>
              </a:spcBef>
            </a:pPr>
            <a:r>
              <a:rPr dirty="0" sz="750">
                <a:solidFill>
                  <a:srgbClr val="111111"/>
                </a:solidFill>
                <a:latin typeface="Arial MT"/>
                <a:cs typeface="Arial MT"/>
              </a:rPr>
              <a:t>em</a:t>
            </a:r>
            <a:r>
              <a:rPr dirty="0" sz="750" spc="2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lo</a:t>
            </a:r>
            <a:r>
              <a:rPr dirty="0" sz="750" spc="18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in</a:t>
            </a:r>
            <a:r>
              <a:rPr dirty="0" sz="800">
                <a:solidFill>
                  <a:srgbClr val="1C1C1C"/>
                </a:solidFill>
                <a:latin typeface="Arial MT"/>
                <a:cs typeface="Arial MT"/>
              </a:rPr>
              <a:t>g</a:t>
            </a:r>
            <a:r>
              <a:rPr dirty="0" sz="800" spc="-1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800" spc="-50">
                <a:solidFill>
                  <a:srgbClr val="111111"/>
                </a:solidFill>
                <a:latin typeface="Arial MT"/>
                <a:cs typeface="Arial MT"/>
              </a:rPr>
              <a:t>these</a:t>
            </a:r>
            <a:r>
              <a:rPr dirty="0" sz="8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00" spc="-30">
                <a:solidFill>
                  <a:srgbClr val="0F0F0F"/>
                </a:solidFill>
                <a:latin typeface="Arial MT"/>
                <a:cs typeface="Arial MT"/>
              </a:rPr>
              <a:t>methods</a:t>
            </a:r>
            <a:r>
              <a:rPr dirty="0" sz="800" spc="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0E0E0E"/>
                </a:solidFill>
                <a:latin typeface="Arial MT"/>
                <a:cs typeface="Arial MT"/>
              </a:rPr>
              <a:t>is</a:t>
            </a:r>
            <a:r>
              <a:rPr dirty="0" sz="8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800" spc="-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800" spc="-40">
                <a:solidFill>
                  <a:srgbClr val="0C0C0C"/>
                </a:solidFill>
                <a:latin typeface="Arial MT"/>
                <a:cs typeface="Arial MT"/>
              </a:rPr>
              <a:t>uncover</a:t>
            </a:r>
            <a:r>
              <a:rPr dirty="0" sz="800" spc="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0C0C0C"/>
                </a:solidFill>
                <a:latin typeface="Arial MT"/>
                <a:cs typeface="Arial MT"/>
              </a:rPr>
              <a:t>natural </a:t>
            </a:r>
            <a:r>
              <a:rPr dirty="0" sz="800" spc="-10">
                <a:solidFill>
                  <a:srgbClr val="0E0E0E"/>
                </a:solidFill>
                <a:latin typeface="Arial MT"/>
                <a:cs typeface="Arial MT"/>
              </a:rPr>
              <a:t>clusters </a:t>
            </a:r>
            <a:r>
              <a:rPr dirty="0" sz="800" spc="-20">
                <a:solidFill>
                  <a:srgbClr val="0C0C0C"/>
                </a:solidFill>
                <a:latin typeface="Arial MT"/>
                <a:cs typeface="Arial MT"/>
              </a:rPr>
              <a:t>within</a:t>
            </a:r>
            <a:r>
              <a:rPr dirty="0" sz="800" spc="-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45">
                <a:solidFill>
                  <a:srgbClr val="0C0C0C"/>
                </a:solidFill>
                <a:latin typeface="Arial MT"/>
                <a:cs typeface="Arial MT"/>
              </a:rPr>
              <a:t>the</a:t>
            </a:r>
            <a:r>
              <a:rPr dirty="0" sz="800" spc="-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Arial MT"/>
                <a:cs typeface="Arial MT"/>
              </a:rPr>
              <a:t>data,</a:t>
            </a:r>
            <a:r>
              <a:rPr dirty="0" sz="800" spc="-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A0A0A"/>
                </a:solidFill>
                <a:latin typeface="Arial MT"/>
                <a:cs typeface="Arial MT"/>
              </a:rPr>
              <a:t>providing </a:t>
            </a:r>
            <a:r>
              <a:rPr dirty="0" sz="800" spc="-20">
                <a:solidFill>
                  <a:srgbClr val="0E0E0E"/>
                </a:solidFill>
                <a:latin typeface="Arial MT"/>
                <a:cs typeface="Arial MT"/>
              </a:rPr>
              <a:t>insights</a:t>
            </a:r>
            <a:r>
              <a:rPr dirty="0" sz="800" spc="-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C0C0C"/>
                </a:solidFill>
                <a:latin typeface="Arial MT"/>
                <a:cs typeface="Arial MT"/>
              </a:rPr>
              <a:t>that</a:t>
            </a:r>
            <a:r>
              <a:rPr dirty="0" sz="800" spc="-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30">
                <a:solidFill>
                  <a:srgbClr val="0F0F0F"/>
                </a:solidFill>
                <a:latin typeface="Arial MT"/>
                <a:cs typeface="Arial MT"/>
              </a:rPr>
              <a:t>can</a:t>
            </a:r>
            <a:r>
              <a:rPr dirty="0" sz="800" spc="-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E0E0E"/>
                </a:solidFill>
                <a:latin typeface="Arial MT"/>
                <a:cs typeface="Arial MT"/>
              </a:rPr>
              <a:t>drive </a:t>
            </a:r>
            <a:r>
              <a:rPr dirty="0" sz="800" spc="-30">
                <a:solidFill>
                  <a:srgbClr val="0C0C0C"/>
                </a:solidFill>
                <a:latin typeface="Arial MT"/>
                <a:cs typeface="Arial MT"/>
              </a:rPr>
              <a:t>decision-making</a:t>
            </a:r>
            <a:r>
              <a:rPr dirty="0" sz="800" spc="5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0E0E0E"/>
                </a:solidFill>
                <a:latin typeface="Arial MT"/>
                <a:cs typeface="Arial MT"/>
              </a:rPr>
              <a:t>and</a:t>
            </a:r>
            <a:r>
              <a:rPr dirty="0" sz="800" spc="-2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0C0C0C"/>
                </a:solidFill>
                <a:latin typeface="Arial MT"/>
                <a:cs typeface="Arial MT"/>
              </a:rPr>
              <a:t>strategy</a:t>
            </a:r>
            <a:r>
              <a:rPr dirty="0" sz="800" spc="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C0C0C"/>
                </a:solidFill>
                <a:latin typeface="Arial MT"/>
                <a:cs typeface="Arial MT"/>
              </a:rPr>
              <a:t>development.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380" y="1773935"/>
            <a:ext cx="609523" cy="609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2285" y="1773935"/>
            <a:ext cx="609523" cy="6096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10095" y="1773935"/>
            <a:ext cx="609523" cy="60960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613333" y="4194047"/>
            <a:ext cx="1350645" cy="21082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41910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330"/>
              </a:spcBef>
              <a:tabLst>
                <a:tab pos="671195" algn="l"/>
              </a:tabLst>
            </a:pPr>
            <a:r>
              <a:rPr dirty="0" sz="650" spc="-85">
                <a:solidFill>
                  <a:srgbClr val="FFFFFF"/>
                </a:solidFill>
                <a:latin typeface="Courier New"/>
                <a:cs typeface="Courier New"/>
                <a:hlinkClick r:id="rId5"/>
              </a:rPr>
              <a:t>^œn'ea</a:t>
            </a:r>
            <a:r>
              <a:rPr dirty="0" sz="650" spc="-65">
                <a:solidFill>
                  <a:srgbClr val="FFFFFF"/>
                </a:solidFill>
                <a:latin typeface="Courier New"/>
                <a:cs typeface="Courier New"/>
                <a:hlinkClick r:id="rId5"/>
              </a:rPr>
              <a:t> </a:t>
            </a:r>
            <a:r>
              <a:rPr dirty="0" sz="650" spc="-20">
                <a:solidFill>
                  <a:srgbClr val="FFFFFF"/>
                </a:solidFill>
                <a:latin typeface="Courier New"/>
                <a:cs typeface="Courier New"/>
                <a:hlinkClick r:id="rId5"/>
              </a:rPr>
              <a:t>1°nç</a:t>
            </a:r>
            <a:r>
              <a:rPr dirty="0" sz="650">
                <a:solidFill>
                  <a:srgbClr val="FFFFFF"/>
                </a:solidFill>
                <a:latin typeface="Courier New"/>
                <a:cs typeface="Courier New"/>
                <a:hlinkClick r:id="rId5"/>
              </a:rPr>
              <a:t>	</a:t>
            </a:r>
            <a:r>
              <a:rPr dirty="0" sz="650" spc="-25">
                <a:solidFill>
                  <a:srgbClr val="FFFFFF"/>
                </a:solidFill>
                <a:latin typeface="Courier New"/>
                <a:cs typeface="Courier New"/>
                <a:hlinkClick r:id="rId5"/>
              </a:rPr>
              <a:t>preseutotions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2978" y="360934"/>
            <a:ext cx="178879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562ADA"/>
                </a:solidFill>
                <a:latin typeface="Times New Roman"/>
                <a:cs typeface="Times New Roman"/>
              </a:rPr>
              <a:t>D</a:t>
            </a:r>
            <a:r>
              <a:rPr dirty="0" sz="850" spc="55">
                <a:solidFill>
                  <a:srgbClr val="562ADA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4D2AB8"/>
                </a:solidFill>
                <a:latin typeface="Times New Roman"/>
                <a:cs typeface="Times New Roman"/>
              </a:rPr>
              <a:t>A</a:t>
            </a:r>
            <a:r>
              <a:rPr dirty="0" sz="850" spc="30">
                <a:solidFill>
                  <a:srgbClr val="4D2AB8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B3DBF"/>
                </a:solidFill>
                <a:latin typeface="Times New Roman"/>
                <a:cs typeface="Times New Roman"/>
              </a:rPr>
              <a:t>T</a:t>
            </a:r>
            <a:r>
              <a:rPr dirty="0" sz="850" spc="35">
                <a:solidFill>
                  <a:srgbClr val="5B3DB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02BD1"/>
                </a:solidFill>
                <a:latin typeface="Times New Roman"/>
                <a:cs typeface="Times New Roman"/>
              </a:rPr>
              <a:t>A</a:t>
            </a:r>
            <a:r>
              <a:rPr dirty="0" sz="850" spc="145">
                <a:solidFill>
                  <a:srgbClr val="502BD1"/>
                </a:solidFill>
                <a:latin typeface="Times New Roman"/>
                <a:cs typeface="Times New Roman"/>
              </a:rPr>
              <a:t>  </a:t>
            </a:r>
            <a:r>
              <a:rPr dirty="0" sz="850">
                <a:solidFill>
                  <a:srgbClr val="542FD4"/>
                </a:solidFill>
                <a:latin typeface="Times New Roman"/>
                <a:cs typeface="Times New Roman"/>
              </a:rPr>
              <a:t>V</a:t>
            </a:r>
            <a:r>
              <a:rPr dirty="0" sz="850" spc="85">
                <a:solidFill>
                  <a:srgbClr val="542FD4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4D2DC6"/>
                </a:solidFill>
                <a:latin typeface="Times New Roman"/>
                <a:cs typeface="Times New Roman"/>
              </a:rPr>
              <a:t>I</a:t>
            </a:r>
            <a:r>
              <a:rPr dirty="0" sz="850" spc="80">
                <a:solidFill>
                  <a:srgbClr val="4D2DC6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22FC6"/>
                </a:solidFill>
                <a:latin typeface="Times New Roman"/>
                <a:cs typeface="Times New Roman"/>
              </a:rPr>
              <a:t>S</a:t>
            </a:r>
            <a:r>
              <a:rPr dirty="0" sz="850" spc="125">
                <a:solidFill>
                  <a:srgbClr val="522FC6"/>
                </a:solidFill>
                <a:latin typeface="Times New Roman"/>
                <a:cs typeface="Times New Roman"/>
              </a:rPr>
              <a:t> </a:t>
            </a:r>
            <a:r>
              <a:rPr dirty="0" sz="850" spc="-50">
                <a:solidFill>
                  <a:srgbClr val="4F2BC8"/>
                </a:solidFill>
                <a:latin typeface="Times New Roman"/>
                <a:cs typeface="Times New Roman"/>
              </a:rPr>
              <a:t>U</a:t>
            </a:r>
            <a:r>
              <a:rPr dirty="0" sz="850" spc="120">
                <a:solidFill>
                  <a:srgbClr val="4F2BC8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4F2BCA"/>
                </a:solidFill>
                <a:latin typeface="Times New Roman"/>
                <a:cs typeface="Times New Roman"/>
              </a:rPr>
              <a:t>A</a:t>
            </a:r>
            <a:r>
              <a:rPr dirty="0" sz="850" spc="105">
                <a:solidFill>
                  <a:srgbClr val="4F2BCA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4F28D1"/>
                </a:solidFill>
                <a:latin typeface="Times New Roman"/>
                <a:cs typeface="Times New Roman"/>
              </a:rPr>
              <a:t>L</a:t>
            </a:r>
            <a:r>
              <a:rPr dirty="0" sz="850" spc="120">
                <a:solidFill>
                  <a:srgbClr val="4F28D1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02ACC"/>
                </a:solidFill>
                <a:latin typeface="Times New Roman"/>
                <a:cs typeface="Times New Roman"/>
              </a:rPr>
              <a:t>I</a:t>
            </a:r>
            <a:r>
              <a:rPr dirty="0" sz="850" spc="100">
                <a:solidFill>
                  <a:srgbClr val="502AC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4F2BD8"/>
                </a:solidFill>
                <a:latin typeface="Times New Roman"/>
                <a:cs typeface="Times New Roman"/>
              </a:rPr>
              <a:t>Z</a:t>
            </a:r>
            <a:r>
              <a:rPr dirty="0" sz="850" spc="80">
                <a:solidFill>
                  <a:srgbClr val="4F2BD8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4F2FBA"/>
                </a:solidFill>
                <a:latin typeface="Times New Roman"/>
                <a:cs typeface="Times New Roman"/>
              </a:rPr>
              <a:t>A</a:t>
            </a:r>
            <a:r>
              <a:rPr dirty="0" sz="850" spc="30">
                <a:solidFill>
                  <a:srgbClr val="4F2FBA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6749C8"/>
                </a:solidFill>
                <a:latin typeface="Times New Roman"/>
                <a:cs typeface="Times New Roman"/>
              </a:rPr>
              <a:t>T</a:t>
            </a:r>
            <a:r>
              <a:rPr dirty="0" sz="850" spc="35">
                <a:solidFill>
                  <a:srgbClr val="6749C8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4F2BCA"/>
                </a:solidFill>
                <a:latin typeface="Times New Roman"/>
                <a:cs typeface="Times New Roman"/>
              </a:rPr>
              <a:t>1</a:t>
            </a:r>
            <a:r>
              <a:rPr dirty="0" sz="850" spc="-20">
                <a:solidFill>
                  <a:srgbClr val="4F2BCA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22DC8"/>
                </a:solidFill>
                <a:latin typeface="Times New Roman"/>
                <a:cs typeface="Times New Roman"/>
              </a:rPr>
              <a:t>0</a:t>
            </a:r>
            <a:r>
              <a:rPr dirty="0" sz="850" spc="235">
                <a:solidFill>
                  <a:srgbClr val="522DC8"/>
                </a:solidFill>
                <a:latin typeface="Times New Roman"/>
                <a:cs typeface="Times New Roman"/>
              </a:rPr>
              <a:t> </a:t>
            </a:r>
            <a:r>
              <a:rPr dirty="0" sz="850" spc="-50">
                <a:solidFill>
                  <a:srgbClr val="4D2BD3"/>
                </a:solidFill>
                <a:latin typeface="Times New Roman"/>
                <a:cs typeface="Times New Roman"/>
              </a:rPr>
              <a:t>N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97736" y="369583"/>
            <a:ext cx="4412615" cy="687070"/>
          </a:xfrm>
          <a:prstGeom prst="rect"/>
        </p:spPr>
        <p:txBody>
          <a:bodyPr wrap="square" lIns="0" tIns="11811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930"/>
              </a:spcBef>
            </a:pPr>
            <a:r>
              <a:rPr dirty="0" sz="2350" spc="-40">
                <a:solidFill>
                  <a:srgbClr val="0F0F0F"/>
                </a:solidFill>
              </a:rPr>
              <a:t>Dimensionality</a:t>
            </a:r>
            <a:r>
              <a:rPr dirty="0" sz="2350" spc="-125">
                <a:solidFill>
                  <a:srgbClr val="0F0F0F"/>
                </a:solidFill>
              </a:rPr>
              <a:t> </a:t>
            </a:r>
            <a:r>
              <a:rPr dirty="0" sz="2350" spc="-60">
                <a:solidFill>
                  <a:srgbClr val="0F0F0F"/>
                </a:solidFill>
              </a:rPr>
              <a:t>Reduction</a:t>
            </a:r>
            <a:r>
              <a:rPr dirty="0" sz="2350" spc="25">
                <a:solidFill>
                  <a:srgbClr val="0F0F0F"/>
                </a:solidFill>
              </a:rPr>
              <a:t> </a:t>
            </a:r>
            <a:r>
              <a:rPr dirty="0" sz="2350" spc="-40"/>
              <a:t>Techniques</a:t>
            </a:r>
            <a:endParaRPr sz="2350"/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1000" spc="-55">
                <a:solidFill>
                  <a:srgbClr val="707070"/>
                </a:solidFill>
              </a:rPr>
              <a:t>An</a:t>
            </a:r>
            <a:r>
              <a:rPr dirty="0" sz="1000" spc="25">
                <a:solidFill>
                  <a:srgbClr val="707070"/>
                </a:solidFill>
              </a:rPr>
              <a:t> </a:t>
            </a:r>
            <a:r>
              <a:rPr dirty="0" sz="1000" spc="-10">
                <a:solidFill>
                  <a:srgbClr val="6E6E6E"/>
                </a:solidFill>
              </a:rPr>
              <a:t>Overview</a:t>
            </a:r>
            <a:r>
              <a:rPr dirty="0" sz="1000" spc="55">
                <a:solidFill>
                  <a:srgbClr val="6E6E6E"/>
                </a:solidFill>
              </a:rPr>
              <a:t> </a:t>
            </a:r>
            <a:r>
              <a:rPr dirty="0" sz="1000">
                <a:solidFill>
                  <a:srgbClr val="6B6E80"/>
                </a:solidFill>
              </a:rPr>
              <a:t>of</a:t>
            </a:r>
            <a:r>
              <a:rPr dirty="0" sz="1000" spc="105">
                <a:solidFill>
                  <a:srgbClr val="6B6E80"/>
                </a:solidFill>
              </a:rPr>
              <a:t> </a:t>
            </a:r>
            <a:r>
              <a:rPr dirty="0" sz="1000" spc="-30">
                <a:solidFill>
                  <a:srgbClr val="6B6B6B"/>
                </a:solidFill>
              </a:rPr>
              <a:t>Key</a:t>
            </a:r>
            <a:r>
              <a:rPr dirty="0" sz="1000" spc="45">
                <a:solidFill>
                  <a:srgbClr val="6B6B6B"/>
                </a:solidFill>
              </a:rPr>
              <a:t> </a:t>
            </a:r>
            <a:r>
              <a:rPr dirty="0" sz="1000" spc="-25">
                <a:solidFill>
                  <a:srgbClr val="757575"/>
                </a:solidFill>
              </a:rPr>
              <a:t>Me†hods</a:t>
            </a:r>
            <a:r>
              <a:rPr dirty="0" sz="1000" spc="25">
                <a:solidFill>
                  <a:srgbClr val="757575"/>
                </a:solidFill>
              </a:rPr>
              <a:t> </a:t>
            </a:r>
            <a:r>
              <a:rPr dirty="0" sz="1000">
                <a:solidFill>
                  <a:srgbClr val="6B6B6B"/>
                </a:solidFill>
              </a:rPr>
              <a:t>for</a:t>
            </a:r>
            <a:r>
              <a:rPr dirty="0" sz="1000" spc="60">
                <a:solidFill>
                  <a:srgbClr val="6B6B6B"/>
                </a:solidFill>
              </a:rPr>
              <a:t> </a:t>
            </a:r>
            <a:r>
              <a:rPr dirty="0" sz="1000" spc="-35">
                <a:solidFill>
                  <a:srgbClr val="6E6E6E"/>
                </a:solidFill>
              </a:rPr>
              <a:t>High-</a:t>
            </a:r>
            <a:r>
              <a:rPr dirty="0" sz="1000" spc="-95">
                <a:solidFill>
                  <a:srgbClr val="6E6E6E"/>
                </a:solidFill>
              </a:rPr>
              <a:t> </a:t>
            </a:r>
            <a:r>
              <a:rPr dirty="0" sz="1000" spc="-10">
                <a:solidFill>
                  <a:srgbClr val="6B6B6B"/>
                </a:solidFill>
              </a:rPr>
              <a:t>Dimensional</a:t>
            </a:r>
            <a:r>
              <a:rPr dirty="0" sz="1000" spc="165">
                <a:solidFill>
                  <a:srgbClr val="6B6B6B"/>
                </a:solidFill>
              </a:rPr>
              <a:t> </a:t>
            </a:r>
            <a:r>
              <a:rPr dirty="0" sz="1000">
                <a:solidFill>
                  <a:srgbClr val="707070"/>
                </a:solidFill>
              </a:rPr>
              <a:t>Data</a:t>
            </a:r>
            <a:r>
              <a:rPr dirty="0" sz="1000" spc="65">
                <a:solidFill>
                  <a:srgbClr val="707070"/>
                </a:solidFill>
              </a:rPr>
              <a:t> </a:t>
            </a:r>
            <a:r>
              <a:rPr dirty="0" sz="1000" spc="-10">
                <a:solidFill>
                  <a:srgbClr val="6E6E6E"/>
                </a:solidFill>
              </a:rPr>
              <a:t>Analysis</a:t>
            </a:r>
            <a:endParaRPr sz="1000"/>
          </a:p>
        </p:txBody>
      </p:sp>
      <p:sp>
        <p:nvSpPr>
          <p:cNvPr id="8" name="object 8" descr=""/>
          <p:cNvSpPr txBox="1"/>
          <p:nvPr/>
        </p:nvSpPr>
        <p:spPr>
          <a:xfrm>
            <a:off x="1101637" y="1837944"/>
            <a:ext cx="1242695" cy="415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795">
              <a:lnSpc>
                <a:spcPct val="116399"/>
              </a:lnSpc>
              <a:spcBef>
                <a:spcPts val="100"/>
              </a:spcBef>
            </a:pPr>
            <a:r>
              <a:rPr dirty="0" sz="1100">
                <a:solidFill>
                  <a:srgbClr val="0C0C0C"/>
                </a:solidFill>
                <a:latin typeface="Times New Roman"/>
                <a:cs typeface="Times New Roman"/>
              </a:rPr>
              <a:t>Principal</a:t>
            </a:r>
            <a:r>
              <a:rPr dirty="0" sz="1100" spc="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0A0A0A"/>
                </a:solidFill>
                <a:latin typeface="Times New Roman"/>
                <a:cs typeface="Times New Roman"/>
              </a:rPr>
              <a:t>Corriponent </a:t>
            </a:r>
            <a:r>
              <a:rPr dirty="0" sz="1100">
                <a:solidFill>
                  <a:srgbClr val="0A0A0A"/>
                </a:solidFill>
                <a:latin typeface="Times New Roman"/>
                <a:cs typeface="Times New Roman"/>
              </a:rPr>
              <a:t>Analysis</a:t>
            </a:r>
            <a:r>
              <a:rPr dirty="0" sz="1100" spc="-5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0C0C0C"/>
                </a:solidFill>
                <a:latin typeface="Times New Roman"/>
                <a:cs typeface="Times New Roman"/>
              </a:rPr>
              <a:t>(PCA)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4608" y="2496057"/>
            <a:ext cx="2221230" cy="120523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 indent="1270">
              <a:lnSpc>
                <a:spcPct val="114300"/>
              </a:lnSpc>
              <a:spcBef>
                <a:spcPts val="60"/>
              </a:spcBef>
            </a:pPr>
            <a:r>
              <a:rPr dirty="0" sz="850" spc="-105">
                <a:solidFill>
                  <a:srgbClr val="0E0E0E"/>
                </a:solidFill>
                <a:latin typeface="Arial MT"/>
                <a:cs typeface="Arial MT"/>
              </a:rPr>
              <a:t>PCA</a:t>
            </a:r>
            <a:r>
              <a:rPr dirty="0" sz="850" spc="3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is</a:t>
            </a:r>
            <a:r>
              <a:rPr dirty="0" sz="850" spc="-4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a</a:t>
            </a:r>
            <a:r>
              <a:rPr dirty="0" sz="850" spc="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linear</a:t>
            </a:r>
            <a:r>
              <a:rPr dirty="0" sz="850" spc="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dimensionality</a:t>
            </a:r>
            <a:r>
              <a:rPr dirty="0" sz="850" spc="-5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reduction </a:t>
            </a:r>
            <a:r>
              <a:rPr dirty="0" sz="850" spc="-25">
                <a:solidFill>
                  <a:srgbClr val="0C0C0C"/>
                </a:solidFill>
                <a:latin typeface="Arial MT"/>
                <a:cs typeface="Arial MT"/>
              </a:rPr>
              <a:t>technique</a:t>
            </a:r>
            <a:r>
              <a:rPr dirty="0" sz="850" spc="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that</a:t>
            </a:r>
            <a:r>
              <a:rPr dirty="0" sz="850" spc="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transforms</a:t>
            </a:r>
            <a:r>
              <a:rPr dirty="0" sz="850" spc="5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C0C0C"/>
                </a:solidFill>
                <a:latin typeface="Arial MT"/>
                <a:cs typeface="Arial MT"/>
              </a:rPr>
              <a:t>high-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dimensional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data</a:t>
            </a:r>
            <a:r>
              <a:rPr dirty="0" sz="850" spc="2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into</a:t>
            </a:r>
            <a:r>
              <a:rPr dirty="0" sz="85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81818"/>
                </a:solidFill>
                <a:latin typeface="Arial MT"/>
                <a:cs typeface="Arial MT"/>
              </a:rPr>
              <a:t>a</a:t>
            </a:r>
            <a:r>
              <a:rPr dirty="0" sz="850" spc="-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0C0C0C"/>
                </a:solidFill>
                <a:latin typeface="Arial MT"/>
                <a:cs typeface="Arial MT"/>
              </a:rPr>
              <a:t>lower-</a:t>
            </a:r>
            <a:r>
              <a:rPr dirty="0" sz="850" spc="-25">
                <a:solidFill>
                  <a:srgbClr val="0C0C0C"/>
                </a:solidFill>
                <a:latin typeface="Arial MT"/>
                <a:cs typeface="Arial MT"/>
              </a:rPr>
              <a:t>dimensional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form</a:t>
            </a:r>
            <a:r>
              <a:rPr dirty="0" sz="850" spc="6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while retaining</a:t>
            </a:r>
            <a:r>
              <a:rPr dirty="0" sz="850" spc="-3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as</a:t>
            </a:r>
            <a:r>
              <a:rPr dirty="0" sz="850" spc="-4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much</a:t>
            </a:r>
            <a:r>
              <a:rPr dirty="0" sz="85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C0C0C"/>
                </a:solidFill>
                <a:latin typeface="Arial MT"/>
                <a:cs typeface="Arial MT"/>
              </a:rPr>
              <a:t>variance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as</a:t>
            </a:r>
            <a:r>
              <a:rPr dirty="0" sz="850" spc="-4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35">
                <a:solidFill>
                  <a:srgbClr val="0C0C0C"/>
                </a:solidFill>
                <a:latin typeface="Arial MT"/>
                <a:cs typeface="Arial MT"/>
              </a:rPr>
              <a:t>possible.</a:t>
            </a:r>
            <a:r>
              <a:rPr dirty="0" sz="850" spc="-25">
                <a:solidFill>
                  <a:srgbClr val="0C0C0C"/>
                </a:solidFill>
                <a:latin typeface="Arial MT"/>
                <a:cs typeface="Arial MT"/>
              </a:rPr>
              <a:t> It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identifies</a:t>
            </a:r>
            <a:r>
              <a:rPr dirty="0" sz="850" spc="5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850" spc="-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C0C0C"/>
                </a:solidFill>
                <a:latin typeface="Arial MT"/>
                <a:cs typeface="Arial MT"/>
              </a:rPr>
              <a:t>directions</a:t>
            </a:r>
            <a:r>
              <a:rPr dirty="0" sz="850" spc="-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(principal</a:t>
            </a:r>
            <a:r>
              <a:rPr dirty="0" sz="850" spc="7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components)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along</a:t>
            </a:r>
            <a:r>
              <a:rPr dirty="0" sz="850" spc="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40">
                <a:solidFill>
                  <a:srgbClr val="0C0C0C"/>
                </a:solidFill>
                <a:latin typeface="Arial MT"/>
                <a:cs typeface="Arial MT"/>
              </a:rPr>
              <a:t>which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850" spc="-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data</a:t>
            </a:r>
            <a:r>
              <a:rPr dirty="0" sz="850" spc="-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C0C0C"/>
                </a:solidFill>
                <a:latin typeface="Arial MT"/>
                <a:cs typeface="Arial MT"/>
              </a:rPr>
              <a:t>varies</a:t>
            </a:r>
            <a:r>
              <a:rPr dirty="0" sz="850" spc="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the</a:t>
            </a:r>
            <a:r>
              <a:rPr dirty="0" sz="850" spc="-4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E0E0E"/>
                </a:solidFill>
                <a:latin typeface="Arial MT"/>
                <a:cs typeface="Arial MT"/>
              </a:rPr>
              <a:t>most,</a:t>
            </a:r>
            <a:r>
              <a:rPr dirty="0" sz="850" spc="-4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making</a:t>
            </a:r>
            <a:r>
              <a:rPr dirty="0" sz="850" spc="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E0E0E"/>
                </a:solidFill>
                <a:latin typeface="Arial MT"/>
                <a:cs typeface="Arial MT"/>
              </a:rPr>
              <a:t>it </a:t>
            </a:r>
            <a:r>
              <a:rPr dirty="0" sz="850" spc="-20">
                <a:solidFill>
                  <a:srgbClr val="0C0C0C"/>
                </a:solidFill>
                <a:latin typeface="Arial MT"/>
                <a:cs typeface="Arial MT"/>
              </a:rPr>
              <a:t>easier</a:t>
            </a:r>
            <a:r>
              <a:rPr dirty="0" sz="850" spc="3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to</a:t>
            </a:r>
            <a:r>
              <a:rPr dirty="0" sz="850" spc="-4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35">
                <a:solidFill>
                  <a:srgbClr val="0C0C0C"/>
                </a:solidFill>
                <a:latin typeface="Arial MT"/>
                <a:cs typeface="Arial MT"/>
              </a:rPr>
              <a:t>visualize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and</a:t>
            </a:r>
            <a:r>
              <a:rPr dirty="0" sz="850" spc="-4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35">
                <a:solidFill>
                  <a:srgbClr val="0C0C0C"/>
                </a:solidFill>
                <a:latin typeface="Arial MT"/>
                <a:cs typeface="Arial MT"/>
              </a:rPr>
              <a:t>analyze</a:t>
            </a:r>
            <a:r>
              <a:rPr dirty="0" sz="850" spc="-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complex </a:t>
            </a:r>
            <a:r>
              <a:rPr dirty="0" sz="850" spc="-10">
                <a:solidFill>
                  <a:srgbClr val="0A0A0A"/>
                </a:solidFill>
                <a:latin typeface="Arial MT"/>
                <a:cs typeface="Arial MT"/>
              </a:rPr>
              <a:t>datasets.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657442" y="1740407"/>
            <a:ext cx="1419860" cy="60960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 indent="3810">
              <a:lnSpc>
                <a:spcPct val="118300"/>
              </a:lnSpc>
              <a:spcBef>
                <a:spcPts val="75"/>
              </a:spcBef>
            </a:pPr>
            <a:r>
              <a:rPr dirty="0" sz="1100" spc="-35">
                <a:solidFill>
                  <a:srgbClr val="0C0C0C"/>
                </a:solidFill>
                <a:latin typeface="Times New Roman"/>
                <a:cs typeface="Times New Roman"/>
              </a:rPr>
              <a:t>t—</a:t>
            </a:r>
            <a:r>
              <a:rPr dirty="0" sz="1100" spc="-10">
                <a:solidFill>
                  <a:srgbClr val="0C0C0C"/>
                </a:solidFill>
                <a:latin typeface="Times New Roman"/>
                <a:cs typeface="Times New Roman"/>
              </a:rPr>
              <a:t>distributed</a:t>
            </a:r>
            <a:r>
              <a:rPr dirty="0" sz="1100" spc="-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0C0C0C"/>
                </a:solidFill>
                <a:latin typeface="Times New Roman"/>
                <a:cs typeface="Times New Roman"/>
              </a:rPr>
              <a:t>Stochastic </a:t>
            </a:r>
            <a:r>
              <a:rPr dirty="0" sz="1100">
                <a:solidFill>
                  <a:srgbClr val="0C0C0C"/>
                </a:solidFill>
                <a:latin typeface="Times New Roman"/>
                <a:cs typeface="Times New Roman"/>
              </a:rPr>
              <a:t>Neighbor</a:t>
            </a:r>
            <a:r>
              <a:rPr dirty="0" sz="1100" spc="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C0C0C"/>
                </a:solidFill>
                <a:latin typeface="Times New Roman"/>
                <a:cs typeface="Times New Roman"/>
              </a:rPr>
              <a:t>Embedding</a:t>
            </a:r>
            <a:r>
              <a:rPr dirty="0" sz="1100" spc="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00" spc="-25">
                <a:solidFill>
                  <a:srgbClr val="0F0F0F"/>
                </a:solidFill>
                <a:latin typeface="Times New Roman"/>
                <a:cs typeface="Times New Roman"/>
              </a:rPr>
              <a:t>(t- </a:t>
            </a:r>
            <a:r>
              <a:rPr dirty="0" sz="1050" spc="-20">
                <a:solidFill>
                  <a:srgbClr val="0C0C0C"/>
                </a:solidFill>
                <a:latin typeface="Times New Roman"/>
                <a:cs typeface="Times New Roman"/>
              </a:rPr>
              <a:t>SNE)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945422" y="2496057"/>
            <a:ext cx="2231390" cy="120523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 indent="1270">
              <a:lnSpc>
                <a:spcPct val="114300"/>
              </a:lnSpc>
              <a:spcBef>
                <a:spcPts val="60"/>
              </a:spcBef>
            </a:pPr>
            <a:r>
              <a:rPr dirty="0" sz="850" spc="-30">
                <a:solidFill>
                  <a:srgbClr val="0A0A0A"/>
                </a:solidFill>
                <a:latin typeface="Times New Roman"/>
                <a:cs typeface="Times New Roman"/>
              </a:rPr>
              <a:t>I-</a:t>
            </a:r>
            <a:r>
              <a:rPr dirty="0" sz="850">
                <a:solidFill>
                  <a:srgbClr val="0A0A0A"/>
                </a:solidFill>
                <a:latin typeface="Times New Roman"/>
                <a:cs typeface="Times New Roman"/>
              </a:rPr>
              <a:t>SNE</a:t>
            </a:r>
            <a:r>
              <a:rPr dirty="0" sz="850" spc="105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is</a:t>
            </a:r>
            <a:r>
              <a:rPr dirty="0" sz="850" spc="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a</a:t>
            </a:r>
            <a:r>
              <a:rPr dirty="0" sz="850" spc="19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nonlinear</a:t>
            </a:r>
            <a:r>
              <a:rPr dirty="0" sz="850" spc="9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technique</a:t>
            </a:r>
            <a:r>
              <a:rPr dirty="0" sz="850" spc="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Times New Roman"/>
                <a:cs typeface="Times New Roman"/>
              </a:rPr>
              <a:t>specifically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designed</a:t>
            </a:r>
            <a:r>
              <a:rPr dirty="0" sz="850" spc="28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dirty="0" sz="850" spc="16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embedding</a:t>
            </a:r>
            <a:r>
              <a:rPr dirty="0" sz="850" spc="37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high-dimensional</a:t>
            </a:r>
            <a:r>
              <a:rPr dirty="0" sz="850" spc="14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 spc="35">
                <a:solidFill>
                  <a:srgbClr val="0F0F0F"/>
                </a:solidFill>
                <a:latin typeface="Times New Roman"/>
                <a:cs typeface="Times New Roman"/>
              </a:rPr>
              <a:t>data </a:t>
            </a:r>
            <a:r>
              <a:rPr dirty="0" sz="850">
                <a:solidFill>
                  <a:srgbClr val="0A0A0A"/>
                </a:solidFill>
                <a:latin typeface="Times New Roman"/>
                <a:cs typeface="Times New Roman"/>
              </a:rPr>
              <a:t>for</a:t>
            </a:r>
            <a:r>
              <a:rPr dirty="0" sz="850" spc="5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visualization</a:t>
            </a:r>
            <a:r>
              <a:rPr dirty="0" sz="850" spc="14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8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8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low-dimensional </a:t>
            </a:r>
            <a:r>
              <a:rPr dirty="0" sz="850" spc="-10">
                <a:solidFill>
                  <a:srgbClr val="0E0E0E"/>
                </a:solidFill>
                <a:latin typeface="Times New Roman"/>
                <a:cs typeface="Times New Roman"/>
              </a:rPr>
              <a:t>space,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typically</a:t>
            </a:r>
            <a:r>
              <a:rPr dirty="0" sz="850" spc="15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two</a:t>
            </a:r>
            <a:r>
              <a:rPr dirty="0" sz="850" spc="4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111111"/>
                </a:solidFill>
                <a:latin typeface="Times New Roman"/>
                <a:cs typeface="Times New Roman"/>
              </a:rPr>
              <a:t>or</a:t>
            </a:r>
            <a:r>
              <a:rPr dirty="0" sz="8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three</a:t>
            </a:r>
            <a:r>
              <a:rPr dirty="0" sz="8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A0A0A"/>
                </a:solidFill>
                <a:latin typeface="Times New Roman"/>
                <a:cs typeface="Times New Roman"/>
              </a:rPr>
              <a:t>dimensions.</a:t>
            </a:r>
            <a:r>
              <a:rPr dirty="0" sz="850" spc="16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It</a:t>
            </a:r>
            <a:r>
              <a:rPr dirty="0" sz="8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focuses</a:t>
            </a:r>
            <a:r>
              <a:rPr dirty="0" sz="850" spc="1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 spc="-25">
                <a:solidFill>
                  <a:srgbClr val="0E0E0E"/>
                </a:solidFill>
                <a:latin typeface="Times New Roman"/>
                <a:cs typeface="Times New Roman"/>
              </a:rPr>
              <a:t>on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preserving</a:t>
            </a:r>
            <a:r>
              <a:rPr dirty="0" sz="850" spc="14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local</a:t>
            </a:r>
            <a:r>
              <a:rPr dirty="0" sz="850" spc="8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similarities,</a:t>
            </a:r>
            <a:r>
              <a:rPr dirty="0" sz="850" spc="12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making</a:t>
            </a:r>
            <a:r>
              <a:rPr dirty="0" sz="850" spc="10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 spc="-25">
                <a:solidFill>
                  <a:srgbClr val="0F0F0F"/>
                </a:solidFill>
                <a:latin typeface="Times New Roman"/>
                <a:cs typeface="Times New Roman"/>
              </a:rPr>
              <a:t>it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particularly</a:t>
            </a:r>
            <a:r>
              <a:rPr dirty="0" sz="850" spc="1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useful</a:t>
            </a:r>
            <a:r>
              <a:rPr dirty="0" sz="8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for</a:t>
            </a:r>
            <a:r>
              <a:rPr dirty="0" sz="850" spc="4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visualizing</a:t>
            </a:r>
            <a:r>
              <a:rPr dirty="0" sz="850" spc="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clusters</a:t>
            </a:r>
            <a:r>
              <a:rPr dirty="0" sz="850" spc="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 spc="-25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 complex</a:t>
            </a:r>
            <a:r>
              <a:rPr dirty="0" sz="850" spc="1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relationships</a:t>
            </a:r>
            <a:r>
              <a:rPr dirty="0" sz="850" spc="1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dirty="0" sz="850" spc="1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data,</a:t>
            </a:r>
            <a:r>
              <a:rPr dirty="0" sz="8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111111"/>
                </a:solidFill>
                <a:latin typeface="Times New Roman"/>
                <a:cs typeface="Times New Roman"/>
              </a:rPr>
              <a:t>such</a:t>
            </a:r>
            <a:r>
              <a:rPr dirty="0" sz="8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as</a:t>
            </a:r>
            <a:r>
              <a:rPr dirty="0" sz="85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8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Times New Roman"/>
                <a:cs typeface="Times New Roman"/>
              </a:rPr>
              <a:t>image 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or</a:t>
            </a:r>
            <a:r>
              <a:rPr dirty="0" sz="850" spc="1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 spc="-50">
                <a:solidFill>
                  <a:srgbClr val="0F0F0F"/>
                </a:solidFill>
                <a:latin typeface="Times New Roman"/>
                <a:cs typeface="Times New Roman"/>
              </a:rPr>
              <a:t>Text</a:t>
            </a:r>
            <a:r>
              <a:rPr dirty="0" sz="8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Times New Roman"/>
                <a:cs typeface="Times New Roman"/>
              </a:rPr>
              <a:t>datasets.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209396" y="1747674"/>
            <a:ext cx="1140460" cy="60261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 indent="6350">
              <a:lnSpc>
                <a:spcPct val="115599"/>
              </a:lnSpc>
              <a:spcBef>
                <a:spcPts val="50"/>
              </a:spcBef>
            </a:pPr>
            <a:r>
              <a:rPr dirty="0" sz="1100">
                <a:solidFill>
                  <a:srgbClr val="0C0C0C"/>
                </a:solidFill>
                <a:latin typeface="Times New Roman"/>
                <a:cs typeface="Times New Roman"/>
              </a:rPr>
              <a:t>Uniform</a:t>
            </a:r>
            <a:r>
              <a:rPr dirty="0" sz="1100" spc="-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0C0C0C"/>
                </a:solidFill>
                <a:latin typeface="Times New Roman"/>
                <a:cs typeface="Times New Roman"/>
              </a:rPr>
              <a:t>Manifold </a:t>
            </a:r>
            <a:r>
              <a:rPr dirty="0" sz="1150" spc="-20">
                <a:solidFill>
                  <a:srgbClr val="0C0C0C"/>
                </a:solidFill>
                <a:latin typeface="Times New Roman"/>
                <a:cs typeface="Times New Roman"/>
              </a:rPr>
              <a:t>Approximation</a:t>
            </a:r>
            <a:r>
              <a:rPr dirty="0" sz="1150" spc="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C0C0C"/>
                </a:solidFill>
                <a:latin typeface="Times New Roman"/>
                <a:cs typeface="Times New Roman"/>
              </a:rPr>
              <a:t>and </a:t>
            </a:r>
            <a:r>
              <a:rPr dirty="0" sz="1050">
                <a:solidFill>
                  <a:srgbClr val="0C0C0C"/>
                </a:solidFill>
                <a:latin typeface="Times New Roman"/>
                <a:cs typeface="Times New Roman"/>
              </a:rPr>
              <a:t>Projection</a:t>
            </a:r>
            <a:r>
              <a:rPr dirty="0" sz="1050" spc="2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0C0C0C"/>
                </a:solidFill>
                <a:latin typeface="Times New Roman"/>
                <a:cs typeface="Times New Roman"/>
              </a:rPr>
              <a:t>(UNIAP)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499274" y="2496057"/>
            <a:ext cx="2202815" cy="105600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4445">
              <a:lnSpc>
                <a:spcPct val="114100"/>
              </a:lnSpc>
              <a:spcBef>
                <a:spcPts val="65"/>
              </a:spcBef>
            </a:pPr>
            <a:r>
              <a:rPr dirty="0" sz="850" spc="-65">
                <a:solidFill>
                  <a:srgbClr val="0E0E0E"/>
                </a:solidFill>
                <a:latin typeface="Arial MT"/>
                <a:cs typeface="Arial MT"/>
              </a:rPr>
              <a:t>UMAP</a:t>
            </a:r>
            <a:r>
              <a:rPr dirty="0" sz="850" spc="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0F0F0F"/>
                </a:solidFill>
                <a:latin typeface="Arial MT"/>
                <a:cs typeface="Arial MT"/>
              </a:rPr>
              <a:t>is </a:t>
            </a:r>
            <a:r>
              <a:rPr dirty="0" sz="850" spc="-20">
                <a:solidFill>
                  <a:srgbClr val="0E0E0E"/>
                </a:solidFill>
                <a:latin typeface="Arial MT"/>
                <a:cs typeface="Arial MT"/>
              </a:rPr>
              <a:t>on</a:t>
            </a:r>
            <a:r>
              <a:rPr dirty="0" sz="850" spc="-4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C0C0C"/>
                </a:solidFill>
                <a:latin typeface="Arial MT"/>
                <a:cs typeface="Arial MT"/>
              </a:rPr>
              <a:t>advanced</a:t>
            </a:r>
            <a:r>
              <a:rPr dirty="0" sz="850" spc="5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dimensionality</a:t>
            </a:r>
            <a:r>
              <a:rPr dirty="0" sz="850" spc="-5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A0A0A"/>
                </a:solidFill>
                <a:latin typeface="Arial MT"/>
                <a:cs typeface="Arial MT"/>
              </a:rPr>
              <a:t>reduction </a:t>
            </a:r>
            <a:r>
              <a:rPr dirty="0" sz="850" spc="-25">
                <a:solidFill>
                  <a:srgbClr val="0C0C0C"/>
                </a:solidFill>
                <a:latin typeface="Arial MT"/>
                <a:cs typeface="Arial MT"/>
              </a:rPr>
              <a:t>technique</a:t>
            </a:r>
            <a:r>
              <a:rPr dirty="0" sz="850" spc="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that</a:t>
            </a:r>
            <a:r>
              <a:rPr dirty="0" sz="850" spc="-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offers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a</a:t>
            </a:r>
            <a:r>
              <a:rPr dirty="0" sz="850" spc="-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0C0C0C"/>
                </a:solidFill>
                <a:latin typeface="Arial MT"/>
                <a:cs typeface="Arial MT"/>
              </a:rPr>
              <a:t>scalable</a:t>
            </a:r>
            <a:r>
              <a:rPr dirty="0" sz="850" spc="-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A0A0A"/>
                </a:solidFill>
                <a:latin typeface="Arial MT"/>
                <a:cs typeface="Arial MT"/>
              </a:rPr>
              <a:t>and</a:t>
            </a:r>
            <a:r>
              <a:rPr dirty="0" sz="850" spc="-1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faster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alternative</a:t>
            </a:r>
            <a:r>
              <a:rPr dirty="0" sz="850" spc="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to</a:t>
            </a:r>
            <a:r>
              <a:rPr dirty="0" sz="850" spc="-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0C0C0C"/>
                </a:solidFill>
                <a:latin typeface="Arial MT"/>
                <a:cs typeface="Arial MT"/>
              </a:rPr>
              <a:t>I-</a:t>
            </a:r>
            <a:r>
              <a:rPr dirty="0" sz="850" spc="-45">
                <a:solidFill>
                  <a:srgbClr val="0C0C0C"/>
                </a:solidFill>
                <a:latin typeface="Arial MT"/>
                <a:cs typeface="Arial MT"/>
              </a:rPr>
              <a:t>SNE.</a:t>
            </a:r>
            <a:r>
              <a:rPr dirty="0" sz="850" spc="-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it</a:t>
            </a:r>
            <a:r>
              <a:rPr dirty="0" sz="850" spc="2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effectively</a:t>
            </a:r>
            <a:r>
              <a:rPr dirty="0" sz="850" spc="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preserves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both</a:t>
            </a:r>
            <a:r>
              <a:rPr dirty="0" sz="850" spc="-3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C0C0C"/>
                </a:solidFill>
                <a:latin typeface="Arial MT"/>
                <a:cs typeface="Arial MT"/>
              </a:rPr>
              <a:t>local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and</a:t>
            </a:r>
            <a:r>
              <a:rPr dirty="0" sz="850" spc="-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global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data</a:t>
            </a:r>
            <a:r>
              <a:rPr dirty="0" sz="850" spc="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E0E0E"/>
                </a:solidFill>
                <a:latin typeface="Arial MT"/>
                <a:cs typeface="Arial MT"/>
              </a:rPr>
              <a:t>structure,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 making</a:t>
            </a:r>
            <a:r>
              <a:rPr dirty="0" sz="850" spc="-2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it </a:t>
            </a:r>
            <a:r>
              <a:rPr dirty="0" sz="850" spc="-20">
                <a:solidFill>
                  <a:srgbClr val="0C0C0C"/>
                </a:solidFill>
                <a:latin typeface="Arial MT"/>
                <a:cs typeface="Arial MT"/>
              </a:rPr>
              <a:t>suitable</a:t>
            </a:r>
            <a:r>
              <a:rPr dirty="0" sz="850" spc="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for</a:t>
            </a:r>
            <a:r>
              <a:rPr dirty="0" sz="85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a</a:t>
            </a:r>
            <a:r>
              <a:rPr dirty="0" sz="850" spc="-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C0C0C"/>
                </a:solidFill>
                <a:latin typeface="Arial MT"/>
                <a:cs typeface="Arial MT"/>
              </a:rPr>
              <a:t>wide</a:t>
            </a:r>
            <a:r>
              <a:rPr dirty="0" sz="850" spc="-3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ranqe</a:t>
            </a:r>
            <a:r>
              <a:rPr dirty="0" sz="850" spc="-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of </a:t>
            </a:r>
            <a:r>
              <a:rPr dirty="0" sz="850" spc="-20">
                <a:solidFill>
                  <a:srgbClr val="0C0C0C"/>
                </a:solidFill>
                <a:latin typeface="Arial MT"/>
                <a:cs typeface="Arial MT"/>
              </a:rPr>
              <a:t>applications,</a:t>
            </a:r>
            <a:r>
              <a:rPr dirty="0" sz="850" spc="3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from </a:t>
            </a:r>
            <a:r>
              <a:rPr dirty="0" sz="850" spc="-25">
                <a:solidFill>
                  <a:srgbClr val="0C0C0C"/>
                </a:solidFill>
                <a:latin typeface="Arial MT"/>
                <a:cs typeface="Arial MT"/>
              </a:rPr>
              <a:t>clustering</a:t>
            </a:r>
            <a:r>
              <a:rPr dirty="0" sz="850" spc="7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to</a:t>
            </a:r>
            <a:r>
              <a:rPr dirty="0" sz="850" spc="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C0C0C"/>
                </a:solidFill>
                <a:latin typeface="Arial MT"/>
                <a:cs typeface="Arial MT"/>
              </a:rPr>
              <a:t>visualization.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65">
                <a:solidFill>
                  <a:srgbClr val="0C0C0C"/>
                </a:solidFill>
                <a:latin typeface="Arial MT"/>
                <a:cs typeface="Arial MT"/>
              </a:rPr>
              <a:t>UMAP</a:t>
            </a:r>
            <a:r>
              <a:rPr dirty="0" sz="850" spc="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0A0A0A"/>
                </a:solidFill>
                <a:latin typeface="Arial MT"/>
                <a:cs typeface="Arial MT"/>
              </a:rPr>
              <a:t>is</a:t>
            </a:r>
            <a:r>
              <a:rPr dirty="0" sz="850" spc="-1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particularly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beneficial</a:t>
            </a:r>
            <a:r>
              <a:rPr dirty="0" sz="85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45">
                <a:solidFill>
                  <a:srgbClr val="0C0C0C"/>
                </a:solidFill>
                <a:latin typeface="Arial MT"/>
                <a:cs typeface="Arial MT"/>
              </a:rPr>
              <a:t>when</a:t>
            </a:r>
            <a:r>
              <a:rPr dirty="0" sz="850" spc="-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E0E0E"/>
                </a:solidFill>
                <a:latin typeface="Arial MT"/>
                <a:cs typeface="Arial MT"/>
              </a:rPr>
              <a:t>handling</a:t>
            </a:r>
            <a:r>
              <a:rPr dirty="0" sz="850" spc="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large</a:t>
            </a:r>
            <a:r>
              <a:rPr dirty="0" sz="850" spc="-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datasets.</a:t>
            </a:r>
            <a:endParaRPr sz="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2475" y="4200144"/>
            <a:ext cx="1334857" cy="20116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8380" y="1097280"/>
            <a:ext cx="1191619" cy="111861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41333" y="1097280"/>
            <a:ext cx="1191619" cy="111861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71237" y="1097280"/>
            <a:ext cx="1191619" cy="105765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01143" y="1097280"/>
            <a:ext cx="1191619" cy="111861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65142" y="1097280"/>
            <a:ext cx="1060571" cy="1118616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420571" y="2592323"/>
            <a:ext cx="1195070" cy="0"/>
          </a:xfrm>
          <a:custGeom>
            <a:avLst/>
            <a:gdLst/>
            <a:ahLst/>
            <a:cxnLst/>
            <a:rect l="l" t="t" r="r" b="b"/>
            <a:pathLst>
              <a:path w="1195070" h="0">
                <a:moveTo>
                  <a:pt x="0" y="0"/>
                </a:moveTo>
                <a:lnTo>
                  <a:pt x="1194666" y="0"/>
                </a:lnTo>
              </a:path>
            </a:pathLst>
          </a:custGeom>
          <a:ln w="3175">
            <a:solidFill>
              <a:srgbClr val="676B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950476" y="2592323"/>
            <a:ext cx="1195070" cy="0"/>
          </a:xfrm>
          <a:custGeom>
            <a:avLst/>
            <a:gdLst/>
            <a:ahLst/>
            <a:cxnLst/>
            <a:rect l="l" t="t" r="r" b="b"/>
            <a:pathLst>
              <a:path w="1195070" h="0">
                <a:moveTo>
                  <a:pt x="0" y="0"/>
                </a:moveTo>
                <a:lnTo>
                  <a:pt x="1194666" y="0"/>
                </a:lnTo>
              </a:path>
            </a:pathLst>
          </a:custGeom>
          <a:ln w="3175">
            <a:solidFill>
              <a:srgbClr val="676B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016380" y="2592323"/>
            <a:ext cx="1188720" cy="0"/>
          </a:xfrm>
          <a:custGeom>
            <a:avLst/>
            <a:gdLst/>
            <a:ahLst/>
            <a:cxnLst/>
            <a:rect l="l" t="t" r="r" b="b"/>
            <a:pathLst>
              <a:path w="1188720" h="0">
                <a:moveTo>
                  <a:pt x="0" y="0"/>
                </a:moveTo>
                <a:lnTo>
                  <a:pt x="1188571" y="0"/>
                </a:lnTo>
              </a:path>
            </a:pathLst>
          </a:custGeom>
          <a:ln w="3175">
            <a:solidFill>
              <a:srgbClr val="676B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94827" y="360934"/>
            <a:ext cx="21418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502DCD"/>
                </a:solidFill>
                <a:latin typeface="Times New Roman"/>
                <a:cs typeface="Times New Roman"/>
              </a:rPr>
              <a:t>C</a:t>
            </a:r>
            <a:r>
              <a:rPr dirty="0" sz="850" spc="75">
                <a:solidFill>
                  <a:srgbClr val="502DCD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542DCC"/>
                </a:solidFill>
                <a:latin typeface="Times New Roman"/>
                <a:cs typeface="Times New Roman"/>
              </a:rPr>
              <a:t>L</a:t>
            </a:r>
            <a:r>
              <a:rPr dirty="0" sz="850" spc="110">
                <a:solidFill>
                  <a:srgbClr val="542DCC"/>
                </a:solidFill>
                <a:latin typeface="Times New Roman"/>
                <a:cs typeface="Times New Roman"/>
              </a:rPr>
              <a:t> </a:t>
            </a:r>
            <a:r>
              <a:rPr dirty="0" sz="850" spc="-40">
                <a:solidFill>
                  <a:srgbClr val="4F2DC1"/>
                </a:solidFill>
                <a:latin typeface="Times New Roman"/>
                <a:cs typeface="Times New Roman"/>
              </a:rPr>
              <a:t>U</a:t>
            </a:r>
            <a:r>
              <a:rPr dirty="0" sz="850" spc="70">
                <a:solidFill>
                  <a:srgbClr val="4F2DC1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4F2AC3"/>
                </a:solidFill>
                <a:latin typeface="Times New Roman"/>
                <a:cs typeface="Times New Roman"/>
              </a:rPr>
              <a:t>S</a:t>
            </a:r>
            <a:r>
              <a:rPr dirty="0" sz="850" spc="15">
                <a:solidFill>
                  <a:srgbClr val="4F2AC3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02DC4"/>
                </a:solidFill>
                <a:latin typeface="Times New Roman"/>
                <a:cs typeface="Times New Roman"/>
              </a:rPr>
              <a:t>T</a:t>
            </a:r>
            <a:r>
              <a:rPr dirty="0" sz="850" spc="70">
                <a:solidFill>
                  <a:srgbClr val="502DC4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4923C4"/>
                </a:solidFill>
                <a:latin typeface="Times New Roman"/>
                <a:cs typeface="Times New Roman"/>
              </a:rPr>
              <a:t>E</a:t>
            </a:r>
            <a:r>
              <a:rPr dirty="0" sz="850" spc="110">
                <a:solidFill>
                  <a:srgbClr val="4923C4"/>
                </a:solidFill>
                <a:latin typeface="Times New Roman"/>
                <a:cs typeface="Times New Roman"/>
              </a:rPr>
              <a:t> </a:t>
            </a:r>
            <a:r>
              <a:rPr dirty="0" sz="850" spc="-30">
                <a:solidFill>
                  <a:srgbClr val="4D2DC6"/>
                </a:solidFill>
                <a:latin typeface="Times New Roman"/>
                <a:cs typeface="Times New Roman"/>
              </a:rPr>
              <a:t>R</a:t>
            </a:r>
            <a:r>
              <a:rPr dirty="0" sz="850" spc="105">
                <a:solidFill>
                  <a:srgbClr val="4D2DC6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02AD3"/>
                </a:solidFill>
                <a:latin typeface="Times New Roman"/>
                <a:cs typeface="Times New Roman"/>
              </a:rPr>
              <a:t>I</a:t>
            </a:r>
            <a:r>
              <a:rPr dirty="0" sz="850" spc="204">
                <a:solidFill>
                  <a:srgbClr val="502AD3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42DD6"/>
                </a:solidFill>
                <a:latin typeface="Times New Roman"/>
                <a:cs typeface="Times New Roman"/>
              </a:rPr>
              <a:t>N</a:t>
            </a:r>
            <a:r>
              <a:rPr dirty="0" sz="850" spc="80">
                <a:solidFill>
                  <a:srgbClr val="542DD6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02DC8"/>
                </a:solidFill>
                <a:latin typeface="Times New Roman"/>
                <a:cs typeface="Times New Roman"/>
              </a:rPr>
              <a:t>G</a:t>
            </a:r>
            <a:r>
              <a:rPr dirty="0" sz="850" spc="470">
                <a:solidFill>
                  <a:srgbClr val="502DC8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B3FB5"/>
                </a:solidFill>
                <a:latin typeface="Times New Roman"/>
                <a:cs typeface="Times New Roman"/>
              </a:rPr>
              <a:t>T</a:t>
            </a:r>
            <a:r>
              <a:rPr dirty="0" sz="850" spc="50">
                <a:solidFill>
                  <a:srgbClr val="5B3FB5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4F2DC4"/>
                </a:solidFill>
                <a:latin typeface="Times New Roman"/>
                <a:cs typeface="Times New Roman"/>
              </a:rPr>
              <a:t>E</a:t>
            </a:r>
            <a:r>
              <a:rPr dirty="0" sz="850" spc="40">
                <a:solidFill>
                  <a:srgbClr val="4F2DC4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636C3"/>
                </a:solidFill>
                <a:latin typeface="Times New Roman"/>
                <a:cs typeface="Times New Roman"/>
              </a:rPr>
              <a:t>C</a:t>
            </a:r>
            <a:r>
              <a:rPr dirty="0" sz="850" spc="105">
                <a:solidFill>
                  <a:srgbClr val="5636C3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4F2DC4"/>
                </a:solidFill>
                <a:latin typeface="Times New Roman"/>
                <a:cs typeface="Times New Roman"/>
              </a:rPr>
              <a:t>H</a:t>
            </a:r>
            <a:r>
              <a:rPr dirty="0" sz="850" spc="160">
                <a:solidFill>
                  <a:srgbClr val="4F2DC4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02AD3"/>
                </a:solidFill>
                <a:latin typeface="Times New Roman"/>
                <a:cs typeface="Times New Roman"/>
              </a:rPr>
              <a:t>N</a:t>
            </a:r>
            <a:r>
              <a:rPr dirty="0" sz="850" spc="90">
                <a:solidFill>
                  <a:srgbClr val="502AD3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22BBF"/>
                </a:solidFill>
                <a:latin typeface="Times New Roman"/>
                <a:cs typeface="Times New Roman"/>
              </a:rPr>
              <a:t>I</a:t>
            </a:r>
            <a:r>
              <a:rPr dirty="0" sz="850" spc="110">
                <a:solidFill>
                  <a:srgbClr val="522BB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4D2ACF"/>
                </a:solidFill>
                <a:latin typeface="Times New Roman"/>
                <a:cs typeface="Times New Roman"/>
              </a:rPr>
              <a:t>Q</a:t>
            </a:r>
            <a:r>
              <a:rPr dirty="0" sz="850" spc="65">
                <a:solidFill>
                  <a:srgbClr val="4D2ACF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5636C1"/>
                </a:solidFill>
                <a:latin typeface="Times New Roman"/>
                <a:cs typeface="Times New Roman"/>
              </a:rPr>
              <a:t>U</a:t>
            </a:r>
            <a:r>
              <a:rPr dirty="0" sz="850" spc="120">
                <a:solidFill>
                  <a:srgbClr val="5636C1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4F2DCA"/>
                </a:solidFill>
                <a:latin typeface="Times New Roman"/>
                <a:cs typeface="Times New Roman"/>
              </a:rPr>
              <a:t>E</a:t>
            </a:r>
            <a:r>
              <a:rPr dirty="0" sz="850" spc="40">
                <a:solidFill>
                  <a:srgbClr val="4F2DCA"/>
                </a:solidFill>
                <a:latin typeface="Times New Roman"/>
                <a:cs typeface="Times New Roman"/>
              </a:rPr>
              <a:t> </a:t>
            </a:r>
            <a:r>
              <a:rPr dirty="0" sz="850" spc="-50">
                <a:solidFill>
                  <a:srgbClr val="4F31B3"/>
                </a:solidFill>
                <a:latin typeface="Times New Roman"/>
                <a:cs typeface="Times New Roman"/>
              </a:rPr>
              <a:t>S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90991" y="475234"/>
            <a:ext cx="2286635" cy="3835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-40">
                <a:solidFill>
                  <a:srgbClr val="0F0F0F"/>
                </a:solidFill>
              </a:rPr>
              <a:t>Clustering</a:t>
            </a:r>
            <a:r>
              <a:rPr dirty="0" sz="2350" spc="-75">
                <a:solidFill>
                  <a:srgbClr val="0F0F0F"/>
                </a:solidFill>
              </a:rPr>
              <a:t> </a:t>
            </a:r>
            <a:r>
              <a:rPr dirty="0" sz="2350" spc="-45">
                <a:solidFill>
                  <a:srgbClr val="111111"/>
                </a:solidFill>
              </a:rPr>
              <a:t>Methods</a:t>
            </a:r>
            <a:endParaRPr sz="2350"/>
          </a:p>
        </p:txBody>
      </p:sp>
      <p:sp>
        <p:nvSpPr>
          <p:cNvPr id="13" name="object 13" descr=""/>
          <p:cNvSpPr txBox="1"/>
          <p:nvPr/>
        </p:nvSpPr>
        <p:spPr>
          <a:xfrm>
            <a:off x="394732" y="2338832"/>
            <a:ext cx="9296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0C0C0C"/>
                </a:solidFill>
                <a:latin typeface="Times New Roman"/>
                <a:cs typeface="Times New Roman"/>
              </a:rPr>
              <a:t>k-means</a:t>
            </a:r>
            <a:r>
              <a:rPr dirty="0" sz="900" spc="7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C0C0C"/>
                </a:solidFill>
                <a:latin typeface="Times New Roman"/>
                <a:cs typeface="Times New Roman"/>
              </a:rPr>
              <a:t>Clustering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92642" y="2665983"/>
            <a:ext cx="1200785" cy="110490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5080">
              <a:lnSpc>
                <a:spcPct val="90500"/>
              </a:lnSpc>
              <a:spcBef>
                <a:spcPts val="180"/>
              </a:spcBef>
            </a:pPr>
            <a:r>
              <a:rPr dirty="0" sz="700" spc="-25">
                <a:solidFill>
                  <a:srgbClr val="0E0E0E"/>
                </a:solidFill>
                <a:latin typeface="Times New Roman"/>
                <a:cs typeface="Times New Roman"/>
              </a:rPr>
              <a:t>k-</a:t>
            </a:r>
            <a:r>
              <a:rPr dirty="0" sz="700" spc="-20">
                <a:solidFill>
                  <a:srgbClr val="0E0E0E"/>
                </a:solidFill>
                <a:latin typeface="Times New Roman"/>
                <a:cs typeface="Times New Roman"/>
              </a:rPr>
              <a:t>meons</a:t>
            </a:r>
            <a:r>
              <a:rPr dirty="0" sz="700" spc="1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00" spc="-20">
                <a:solidFill>
                  <a:srgbClr val="0E0E0E"/>
                </a:solidFill>
                <a:latin typeface="Times New Roman"/>
                <a:cs typeface="Times New Roman"/>
              </a:rPr>
              <a:t>clustering</a:t>
            </a:r>
            <a:r>
              <a:rPr dirty="0" sz="700" spc="7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00" spc="-4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700" spc="-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70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00" spc="-10">
                <a:solidFill>
                  <a:srgbClr val="0E0E0E"/>
                </a:solidFill>
                <a:latin typeface="Times New Roman"/>
                <a:cs typeface="Times New Roman"/>
              </a:rPr>
              <a:t>widely-</a:t>
            </a:r>
            <a:r>
              <a:rPr dirty="0" sz="700" spc="50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0C0C0C"/>
                </a:solidFill>
                <a:latin typeface="Times New Roman"/>
                <a:cs typeface="Times New Roman"/>
              </a:rPr>
              <a:t>used</a:t>
            </a:r>
            <a:r>
              <a:rPr dirty="0" sz="700" spc="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00" spc="-20">
                <a:solidFill>
                  <a:srgbClr val="0E0E0E"/>
                </a:solidFill>
                <a:latin typeface="Times New Roman"/>
                <a:cs typeface="Times New Roman"/>
              </a:rPr>
              <a:t>porlitioning</a:t>
            </a:r>
            <a:r>
              <a:rPr dirty="0" sz="700" spc="4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0F0F0F"/>
                </a:solidFill>
                <a:latin typeface="Times New Roman"/>
                <a:cs typeface="Times New Roman"/>
              </a:rPr>
              <a:t>method</a:t>
            </a:r>
            <a:r>
              <a:rPr dirty="0" sz="70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00" spc="-20">
                <a:solidFill>
                  <a:srgbClr val="0E0E0E"/>
                </a:solidFill>
                <a:latin typeface="Times New Roman"/>
                <a:cs typeface="Times New Roman"/>
              </a:rPr>
              <a:t>thot</a:t>
            </a:r>
            <a:r>
              <a:rPr dirty="0" sz="700" spc="50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00" spc="-20">
                <a:solidFill>
                  <a:srgbClr val="0E0E0E"/>
                </a:solidFill>
                <a:latin typeface="Times New Roman"/>
                <a:cs typeface="Times New Roman"/>
              </a:rPr>
              <a:t>divides</a:t>
            </a:r>
            <a:r>
              <a:rPr dirty="0" sz="700" spc="1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0C0C0C"/>
                </a:solidFill>
                <a:latin typeface="Times New Roman"/>
                <a:cs typeface="Times New Roman"/>
              </a:rPr>
              <a:t>data</a:t>
            </a:r>
            <a:r>
              <a:rPr dirty="0" sz="700" spc="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00" spc="-10">
                <a:solidFill>
                  <a:srgbClr val="111111"/>
                </a:solidFill>
                <a:latin typeface="Times New Roman"/>
                <a:cs typeface="Times New Roman"/>
              </a:rPr>
              <a:t>into</a:t>
            </a:r>
            <a:r>
              <a:rPr dirty="0" sz="70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700" spc="-70">
                <a:solidFill>
                  <a:srgbClr val="181818"/>
                </a:solidFill>
                <a:latin typeface="Times New Roman"/>
                <a:cs typeface="Times New Roman"/>
              </a:rPr>
              <a:t>k</a:t>
            </a:r>
            <a:r>
              <a:rPr dirty="0" sz="700" spc="-1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700" spc="-10">
                <a:solidFill>
                  <a:srgbClr val="0E0E0E"/>
                </a:solidFill>
                <a:latin typeface="Times New Roman"/>
                <a:cs typeface="Times New Roman"/>
              </a:rPr>
              <a:t>distinct</a:t>
            </a:r>
            <a:r>
              <a:rPr dirty="0" sz="700" spc="50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00" spc="-20">
                <a:solidFill>
                  <a:srgbClr val="0F0F0F"/>
                </a:solidFill>
                <a:latin typeface="Times New Roman"/>
                <a:cs typeface="Times New Roman"/>
              </a:rPr>
              <a:t>clusters.</a:t>
            </a:r>
            <a:r>
              <a:rPr dirty="0" sz="70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0F0F0F"/>
                </a:solidFill>
                <a:latin typeface="Times New Roman"/>
                <a:cs typeface="Times New Roman"/>
              </a:rPr>
              <a:t>It</a:t>
            </a:r>
            <a:r>
              <a:rPr dirty="0" sz="700" spc="-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0E0E0E"/>
                </a:solidFill>
                <a:latin typeface="Times New Roman"/>
                <a:cs typeface="Times New Roman"/>
              </a:rPr>
              <a:t>assigns</a:t>
            </a:r>
            <a:r>
              <a:rPr dirty="0" sz="700" spc="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0E0E0E"/>
                </a:solidFill>
                <a:latin typeface="Times New Roman"/>
                <a:cs typeface="Times New Roman"/>
              </a:rPr>
              <a:t>each</a:t>
            </a:r>
            <a:r>
              <a:rPr dirty="0" sz="700" spc="1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00" spc="-20">
                <a:solidFill>
                  <a:srgbClr val="0E0E0E"/>
                </a:solidFill>
                <a:latin typeface="Times New Roman"/>
                <a:cs typeface="Times New Roman"/>
              </a:rPr>
              <a:t>data</a:t>
            </a:r>
            <a:r>
              <a:rPr dirty="0" sz="700" spc="50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00" spc="-25">
                <a:solidFill>
                  <a:srgbClr val="0A0A0A"/>
                </a:solidFill>
                <a:latin typeface="Times New Roman"/>
                <a:cs typeface="Times New Roman"/>
              </a:rPr>
              <a:t>point</a:t>
            </a:r>
            <a:r>
              <a:rPr dirty="0" sz="700" spc="-1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700" spc="-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70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00" spc="-10">
                <a:solidFill>
                  <a:srgbClr val="0F0F0F"/>
                </a:solidFill>
                <a:latin typeface="Times New Roman"/>
                <a:cs typeface="Times New Roman"/>
              </a:rPr>
              <a:t>nearest</a:t>
            </a:r>
            <a:r>
              <a:rPr dirty="0" sz="70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00" spc="-10">
                <a:solidFill>
                  <a:srgbClr val="0E0E0E"/>
                </a:solidFill>
                <a:latin typeface="Times New Roman"/>
                <a:cs typeface="Times New Roman"/>
              </a:rPr>
              <a:t>centroid,</a:t>
            </a:r>
            <a:r>
              <a:rPr dirty="0" sz="700" spc="50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00" spc="-10">
                <a:solidFill>
                  <a:srgbClr val="0C0C0C"/>
                </a:solidFill>
                <a:latin typeface="Times New Roman"/>
                <a:cs typeface="Times New Roman"/>
              </a:rPr>
              <a:t>calculated</a:t>
            </a:r>
            <a:r>
              <a:rPr dirty="0" sz="700" spc="-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111111"/>
                </a:solidFill>
                <a:latin typeface="Times New Roman"/>
                <a:cs typeface="Times New Roman"/>
              </a:rPr>
              <a:t>as</a:t>
            </a:r>
            <a:r>
              <a:rPr dirty="0" sz="70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700" spc="-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00" spc="-20">
                <a:solidFill>
                  <a:srgbClr val="111111"/>
                </a:solidFill>
                <a:latin typeface="Times New Roman"/>
                <a:cs typeface="Times New Roman"/>
              </a:rPr>
              <a:t>meon</a:t>
            </a:r>
            <a:r>
              <a:rPr dirty="0" sz="70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700" spc="-10">
                <a:solidFill>
                  <a:srgbClr val="181818"/>
                </a:solidFill>
                <a:latin typeface="Times New Roman"/>
                <a:cs typeface="Times New Roman"/>
              </a:rPr>
              <a:t>of</a:t>
            </a:r>
            <a:r>
              <a:rPr dirty="0" sz="700" spc="1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700" spc="-25">
                <a:solidFill>
                  <a:srgbClr val="0E0E0E"/>
                </a:solidFill>
                <a:latin typeface="Times New Roman"/>
                <a:cs typeface="Times New Roman"/>
              </a:rPr>
              <a:t>all</a:t>
            </a:r>
            <a:r>
              <a:rPr dirty="0" sz="700" spc="50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00" spc="-10">
                <a:solidFill>
                  <a:srgbClr val="111111"/>
                </a:solidFill>
                <a:latin typeface="Times New Roman"/>
                <a:cs typeface="Times New Roman"/>
              </a:rPr>
              <a:t>points</a:t>
            </a:r>
            <a:r>
              <a:rPr dirty="0" sz="70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700" spc="-60">
                <a:solidFill>
                  <a:srgbClr val="0E0E0E"/>
                </a:solidFill>
                <a:latin typeface="Times New Roman"/>
                <a:cs typeface="Times New Roman"/>
              </a:rPr>
              <a:t>in</a:t>
            </a:r>
            <a:r>
              <a:rPr dirty="0" sz="70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700" spc="-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00" spc="-35">
                <a:solidFill>
                  <a:srgbClr val="0C0C0C"/>
                </a:solidFill>
                <a:latin typeface="Times New Roman"/>
                <a:cs typeface="Times New Roman"/>
              </a:rPr>
              <a:t>cluster.</a:t>
            </a:r>
            <a:r>
              <a:rPr dirty="0" sz="700" spc="-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00" spc="-45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700" spc="-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00" spc="-20">
                <a:solidFill>
                  <a:srgbClr val="0C0C0C"/>
                </a:solidFill>
                <a:latin typeface="Times New Roman"/>
                <a:cs typeface="Times New Roman"/>
              </a:rPr>
              <a:t>algorithm</a:t>
            </a:r>
            <a:r>
              <a:rPr dirty="0" sz="700" spc="5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 spc="-50">
                <a:solidFill>
                  <a:srgbClr val="0C0C0C"/>
                </a:solidFill>
                <a:latin typeface="Times New Roman"/>
                <a:cs typeface="Times New Roman"/>
              </a:rPr>
              <a:t>iterotively</a:t>
            </a:r>
            <a:r>
              <a:rPr dirty="0" sz="750" spc="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50" spc="-25">
                <a:solidFill>
                  <a:srgbClr val="0E0E0E"/>
                </a:solidFill>
                <a:latin typeface="Times New Roman"/>
                <a:cs typeface="Times New Roman"/>
              </a:rPr>
              <a:t>adjusts</a:t>
            </a:r>
            <a:r>
              <a:rPr dirty="0" sz="750" spc="-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E0E0E"/>
                </a:solidFill>
                <a:latin typeface="Times New Roman"/>
                <a:cs typeface="Times New Roman"/>
              </a:rPr>
              <a:t>cluster</a:t>
            </a:r>
            <a:r>
              <a:rPr dirty="0" sz="750" spc="50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00" spc="-10">
                <a:solidFill>
                  <a:srgbClr val="0E0E0E"/>
                </a:solidFill>
                <a:latin typeface="Times New Roman"/>
                <a:cs typeface="Times New Roman"/>
              </a:rPr>
              <a:t>ossiqnments</a:t>
            </a:r>
            <a:r>
              <a:rPr dirty="0" sz="70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700" spc="-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700" spc="-10">
                <a:solidFill>
                  <a:srgbClr val="0F0F0F"/>
                </a:solidFill>
                <a:latin typeface="Times New Roman"/>
                <a:cs typeface="Times New Roman"/>
              </a:rPr>
              <a:t>centroids</a:t>
            </a:r>
            <a:r>
              <a:rPr dirty="0" sz="70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00" spc="-10">
                <a:solidFill>
                  <a:srgbClr val="0C0C0C"/>
                </a:solidFill>
                <a:latin typeface="Times New Roman"/>
                <a:cs typeface="Times New Roman"/>
              </a:rPr>
              <a:t>until</a:t>
            </a:r>
            <a:r>
              <a:rPr dirty="0" sz="700" spc="5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700" spc="-10">
                <a:solidFill>
                  <a:srgbClr val="0F0F0F"/>
                </a:solidFill>
                <a:latin typeface="Times New Roman"/>
                <a:cs typeface="Times New Roman"/>
              </a:rPr>
              <a:t>convergence </a:t>
            </a:r>
            <a:r>
              <a:rPr dirty="0" sz="700" spc="-4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700" spc="-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00" spc="-10">
                <a:solidFill>
                  <a:srgbClr val="0E0E0E"/>
                </a:solidFill>
                <a:latin typeface="Times New Roman"/>
                <a:cs typeface="Times New Roman"/>
              </a:rPr>
              <a:t>achieved,</a:t>
            </a:r>
            <a:r>
              <a:rPr dirty="0" sz="700" spc="1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00" spc="-10">
                <a:solidFill>
                  <a:srgbClr val="0F0F0F"/>
                </a:solidFill>
                <a:latin typeface="Times New Roman"/>
                <a:cs typeface="Times New Roman"/>
              </a:rPr>
              <a:t>making</a:t>
            </a:r>
            <a:r>
              <a:rPr dirty="0" sz="70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00" spc="-40">
                <a:solidFill>
                  <a:srgbClr val="0F0F0F"/>
                </a:solidFill>
                <a:latin typeface="Times New Roman"/>
                <a:cs typeface="Times New Roman"/>
              </a:rPr>
              <a:t>it</a:t>
            </a:r>
            <a:r>
              <a:rPr dirty="0" sz="700" spc="-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00" spc="-25">
                <a:solidFill>
                  <a:srgbClr val="0E0E0E"/>
                </a:solidFill>
                <a:latin typeface="Times New Roman"/>
                <a:cs typeface="Times New Roman"/>
              </a:rPr>
              <a:t>efficient</a:t>
            </a:r>
            <a:r>
              <a:rPr dirty="0" sz="700" spc="-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70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700" spc="-20">
                <a:solidFill>
                  <a:srgbClr val="0F0F0F"/>
                </a:solidFill>
                <a:latin typeface="Times New Roman"/>
                <a:cs typeface="Times New Roman"/>
              </a:rPr>
              <a:t>large</a:t>
            </a:r>
            <a:r>
              <a:rPr dirty="0" sz="700" spc="-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00" spc="-10">
                <a:solidFill>
                  <a:srgbClr val="0F0F0F"/>
                </a:solidFill>
                <a:latin typeface="Times New Roman"/>
                <a:cs typeface="Times New Roman"/>
              </a:rPr>
              <a:t>datasets.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924731" y="2345182"/>
            <a:ext cx="104013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Centroid</a:t>
            </a:r>
            <a:r>
              <a:rPr dirty="0" sz="850" spc="7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Times New Roman"/>
                <a:cs typeface="Times New Roman"/>
              </a:rPr>
              <a:t>Initialization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924913" y="2665729"/>
            <a:ext cx="1201420" cy="131064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 indent="1270">
              <a:lnSpc>
                <a:spcPct val="86300"/>
              </a:lnSpc>
              <a:spcBef>
                <a:spcPts val="220"/>
              </a:spcBef>
            </a:pPr>
            <a:r>
              <a:rPr dirty="0" sz="750" spc="-35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75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performance</a:t>
            </a:r>
            <a:r>
              <a:rPr dirty="0" sz="750" spc="7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11111"/>
                </a:solidFill>
                <a:latin typeface="Arial MT"/>
                <a:cs typeface="Arial MT"/>
              </a:rPr>
              <a:t>of</a:t>
            </a:r>
            <a:r>
              <a:rPr dirty="0" sz="75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F0F0F"/>
                </a:solidFill>
                <a:latin typeface="Arial MT"/>
                <a:cs typeface="Arial MT"/>
              </a:rPr>
              <a:t>k-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80808"/>
                </a:solidFill>
                <a:latin typeface="Arial MT"/>
                <a:cs typeface="Arial MT"/>
              </a:rPr>
              <a:t>means</a:t>
            </a:r>
            <a:r>
              <a:rPr dirty="0" sz="750" spc="-35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heavily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relies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on</a:t>
            </a:r>
            <a:r>
              <a:rPr dirty="0" sz="750" spc="-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C0C0C"/>
                </a:solidFill>
                <a:latin typeface="Arial MT"/>
                <a:cs typeface="Arial MT"/>
              </a:rPr>
              <a:t>the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initial</a:t>
            </a:r>
            <a:r>
              <a:rPr dirty="0" sz="75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placement</a:t>
            </a:r>
            <a:r>
              <a:rPr dirty="0" sz="750" spc="6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35">
                <a:solidFill>
                  <a:srgbClr val="0E0E0E"/>
                </a:solidFill>
                <a:latin typeface="Arial MT"/>
                <a:cs typeface="Arial MT"/>
              </a:rPr>
              <a:t>of</a:t>
            </a:r>
            <a:r>
              <a:rPr dirty="0" sz="75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centroids.</a:t>
            </a:r>
            <a:r>
              <a:rPr dirty="0" sz="750" spc="-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E0E0E"/>
                </a:solidFill>
                <a:latin typeface="Arial MT"/>
                <a:cs typeface="Arial MT"/>
              </a:rPr>
              <a:t>Poor</a:t>
            </a:r>
            <a:r>
              <a:rPr dirty="0" sz="750" spc="-4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A0A0A"/>
                </a:solidFill>
                <a:latin typeface="Arial MT"/>
                <a:cs typeface="Arial MT"/>
              </a:rPr>
              <a:t>initialization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con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lead</a:t>
            </a:r>
            <a:r>
              <a:rPr dirty="0" sz="750" spc="-3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to</a:t>
            </a:r>
            <a:r>
              <a:rPr dirty="0" sz="750" spc="7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suboptimol </a:t>
            </a:r>
            <a:r>
              <a:rPr dirty="0" sz="700">
                <a:solidFill>
                  <a:srgbClr val="0C0C0C"/>
                </a:solidFill>
                <a:latin typeface="Arial MT"/>
                <a:cs typeface="Arial MT"/>
              </a:rPr>
              <a:t>clustering</a:t>
            </a:r>
            <a:r>
              <a:rPr dirty="0" sz="700" spc="19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C0C0C"/>
                </a:solidFill>
                <a:latin typeface="Arial MT"/>
                <a:cs typeface="Arial MT"/>
              </a:rPr>
              <a:t>results.</a:t>
            </a:r>
            <a:endParaRPr sz="700">
              <a:latin typeface="Arial MT"/>
              <a:cs typeface="Arial MT"/>
            </a:endParaRPr>
          </a:p>
          <a:p>
            <a:pPr marL="12700" marR="37465" indent="1270">
              <a:lnSpc>
                <a:spcPct val="84900"/>
              </a:lnSpc>
              <a:spcBef>
                <a:spcPts val="40"/>
              </a:spcBef>
            </a:pPr>
            <a:r>
              <a:rPr dirty="0" sz="750" spc="-25">
                <a:solidFill>
                  <a:srgbClr val="0E0E0E"/>
                </a:solidFill>
                <a:latin typeface="Arial MT"/>
                <a:cs typeface="Arial MT"/>
              </a:rPr>
              <a:t>Techniques</a:t>
            </a:r>
            <a:r>
              <a:rPr dirty="0" sz="750" spc="3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E0E0E"/>
                </a:solidFill>
                <a:latin typeface="Arial MT"/>
                <a:cs typeface="Arial MT"/>
              </a:rPr>
              <a:t>like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750" spc="-25">
                <a:solidFill>
                  <a:srgbClr val="0F0F0F"/>
                </a:solidFill>
                <a:latin typeface="Arial MT"/>
                <a:cs typeface="Arial MT"/>
              </a:rPr>
              <a:t> k-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E0E0E"/>
                </a:solidFill>
                <a:latin typeface="Arial MT"/>
                <a:cs typeface="Arial MT"/>
              </a:rPr>
              <a:t>means++</a:t>
            </a:r>
            <a:r>
              <a:rPr dirty="0" sz="750" spc="4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E0E0E"/>
                </a:solidFill>
                <a:latin typeface="Arial MT"/>
                <a:cs typeface="Arial MT"/>
              </a:rPr>
              <a:t>algorithm</a:t>
            </a:r>
            <a:r>
              <a:rPr dirty="0" sz="750" spc="3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A0A0A"/>
                </a:solidFill>
                <a:latin typeface="Arial MT"/>
                <a:cs typeface="Arial MT"/>
              </a:rPr>
              <a:t>can</a:t>
            </a:r>
            <a:r>
              <a:rPr dirty="0" sz="750" spc="1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E0E0E"/>
                </a:solidFill>
                <a:latin typeface="Arial MT"/>
                <a:cs typeface="Arial MT"/>
              </a:rPr>
              <a:t>be</a:t>
            </a:r>
            <a:r>
              <a:rPr dirty="0" sz="75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A0A0A"/>
                </a:solidFill>
                <a:latin typeface="Arial MT"/>
                <a:cs typeface="Arial MT"/>
              </a:rPr>
              <a:t>employed</a:t>
            </a:r>
            <a:r>
              <a:rPr dirty="0" sz="750" spc="1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E0E0E"/>
                </a:solidFill>
                <a:latin typeface="Arial MT"/>
                <a:cs typeface="Arial MT"/>
              </a:rPr>
              <a:t>to</a:t>
            </a:r>
            <a:r>
              <a:rPr dirty="0" sz="750" spc="2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improve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centroid</a:t>
            </a:r>
            <a:r>
              <a:rPr dirty="0" sz="750" spc="3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initialization,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enhancing </a:t>
            </a:r>
            <a:r>
              <a:rPr dirty="0" sz="750">
                <a:solidFill>
                  <a:srgbClr val="0E0E0E"/>
                </a:solidFill>
                <a:latin typeface="Arial MT"/>
                <a:cs typeface="Arial MT"/>
              </a:rPr>
              <a:t>rhe</a:t>
            </a:r>
            <a:r>
              <a:rPr dirty="0" sz="750" spc="-4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likelihood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C0C0C"/>
                </a:solidFill>
                <a:latin typeface="Arial MT"/>
                <a:cs typeface="Arial MT"/>
              </a:rPr>
              <a:t>of</a:t>
            </a:r>
            <a:r>
              <a:rPr dirty="0" sz="75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A0A0A"/>
                </a:solidFill>
                <a:latin typeface="Arial MT"/>
                <a:cs typeface="Arial MT"/>
              </a:rPr>
              <a:t>finding</a:t>
            </a:r>
            <a:r>
              <a:rPr dirty="0" sz="750" spc="3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11111"/>
                </a:solidFill>
                <a:latin typeface="Arial MT"/>
                <a:cs typeface="Arial MT"/>
              </a:rPr>
              <a:t>a</a:t>
            </a:r>
            <a:r>
              <a:rPr dirty="0" sz="750" spc="6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E0E0E"/>
                </a:solidFill>
                <a:latin typeface="Arial MT"/>
                <a:cs typeface="Arial MT"/>
              </a:rPr>
              <a:t>better</a:t>
            </a:r>
            <a:r>
              <a:rPr dirty="0" sz="750" spc="8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local </a:t>
            </a:r>
            <a:r>
              <a:rPr dirty="0" sz="750" spc="-10">
                <a:solidFill>
                  <a:srgbClr val="0E0E0E"/>
                </a:solidFill>
                <a:latin typeface="Arial MT"/>
                <a:cs typeface="Arial MT"/>
              </a:rPr>
              <a:t>minimum.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457679" y="2312317"/>
            <a:ext cx="1253490" cy="78930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48260" indent="1905">
              <a:lnSpc>
                <a:spcPct val="131800"/>
              </a:lnSpc>
              <a:spcBef>
                <a:spcPts val="35"/>
              </a:spcBef>
            </a:pP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Hierarchical</a:t>
            </a:r>
            <a:r>
              <a:rPr dirty="0" sz="850" spc="5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Times New Roman"/>
                <a:cs typeface="Times New Roman"/>
              </a:rPr>
              <a:t>Density- </a:t>
            </a:r>
            <a:r>
              <a:rPr dirty="0" sz="900" spc="-35">
                <a:solidFill>
                  <a:srgbClr val="0C0C0C"/>
                </a:solidFill>
                <a:latin typeface="Times New Roman"/>
                <a:cs typeface="Times New Roman"/>
              </a:rPr>
              <a:t>Based</a:t>
            </a:r>
            <a:r>
              <a:rPr dirty="0" sz="900" spc="-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0C0C0C"/>
                </a:solidFill>
                <a:latin typeface="Times New Roman"/>
                <a:cs typeface="Times New Roman"/>
              </a:rPr>
              <a:t>Spatial</a:t>
            </a:r>
            <a:r>
              <a:rPr dirty="0" sz="900" spc="-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A0A0A"/>
                </a:solidFill>
                <a:latin typeface="Times New Roman"/>
                <a:cs typeface="Times New Roman"/>
              </a:rPr>
              <a:t>Clustering</a:t>
            </a:r>
            <a:r>
              <a:rPr dirty="0" sz="900" spc="500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8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Applications</a:t>
            </a:r>
            <a:r>
              <a:rPr dirty="0" sz="850" spc="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with</a:t>
            </a:r>
            <a:r>
              <a:rPr dirty="0" sz="850" spc="3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A0A0A"/>
                </a:solidFill>
                <a:latin typeface="Times New Roman"/>
                <a:cs typeface="Times New Roman"/>
              </a:rPr>
              <a:t>Noise </a:t>
            </a:r>
            <a:r>
              <a:rPr dirty="0" sz="750" spc="-10">
                <a:solidFill>
                  <a:srgbClr val="0C0C0C"/>
                </a:solidFill>
                <a:latin typeface="Times New Roman"/>
                <a:cs typeface="Times New Roman"/>
              </a:rPr>
              <a:t>(HDBSCAN)</a:t>
            </a:r>
            <a:endParaRPr sz="750">
              <a:latin typeface="Times New Roman"/>
              <a:cs typeface="Times New Roman"/>
            </a:endParaRPr>
          </a:p>
          <a:p>
            <a:pPr marL="28575">
              <a:lnSpc>
                <a:spcPts val="745"/>
              </a:lnSpc>
              <a:tabLst>
                <a:tab pos="1240155" algn="l"/>
              </a:tabLst>
            </a:pPr>
            <a:r>
              <a:rPr dirty="0" u="sng" sz="750">
                <a:solidFill>
                  <a:srgbClr val="0A0A0A"/>
                </a:solidFill>
                <a:uFill>
                  <a:solidFill>
                    <a:srgbClr val="676B77"/>
                  </a:solidFill>
                </a:uFill>
                <a:latin typeface="Arial MT"/>
                <a:cs typeface="Arial MT"/>
              </a:rPr>
              <a:t>	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453546" y="3175000"/>
            <a:ext cx="1180465" cy="101028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3810">
              <a:lnSpc>
                <a:spcPct val="91400"/>
              </a:lnSpc>
              <a:spcBef>
                <a:spcPts val="170"/>
              </a:spcBef>
            </a:pPr>
            <a:r>
              <a:rPr dirty="0" sz="700" spc="-100">
                <a:solidFill>
                  <a:srgbClr val="0F0F0F"/>
                </a:solidFill>
                <a:latin typeface="Arial MT"/>
                <a:cs typeface="Arial MT"/>
              </a:rPr>
              <a:t>HDBSCAN</a:t>
            </a:r>
            <a:r>
              <a:rPr dirty="0" sz="700" spc="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55">
                <a:solidFill>
                  <a:srgbClr val="0E0E0E"/>
                </a:solidFill>
                <a:latin typeface="Arial MT"/>
                <a:cs typeface="Arial MT"/>
              </a:rPr>
              <a:t>is</a:t>
            </a:r>
            <a:r>
              <a:rPr dirty="0" sz="700" spc="-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 spc="-45">
                <a:solidFill>
                  <a:srgbClr val="0F0F0F"/>
                </a:solidFill>
                <a:latin typeface="Arial MT"/>
                <a:cs typeface="Arial MT"/>
              </a:rPr>
              <a:t>o</a:t>
            </a:r>
            <a:r>
              <a:rPr dirty="0" sz="70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50">
                <a:solidFill>
                  <a:srgbClr val="0E0E0E"/>
                </a:solidFill>
                <a:latin typeface="Arial MT"/>
                <a:cs typeface="Arial MT"/>
              </a:rPr>
              <a:t>robust</a:t>
            </a:r>
            <a:r>
              <a:rPr dirty="0" sz="700" spc="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E0E0E"/>
                </a:solidFill>
                <a:latin typeface="Arial MT"/>
                <a:cs typeface="Arial MT"/>
              </a:rPr>
              <a:t>density-</a:t>
            </a:r>
            <a:r>
              <a:rPr dirty="0" sz="70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 spc="-50">
                <a:solidFill>
                  <a:srgbClr val="0F0F0F"/>
                </a:solidFill>
                <a:latin typeface="Arial MT"/>
                <a:cs typeface="Arial MT"/>
              </a:rPr>
              <a:t>based</a:t>
            </a:r>
            <a:r>
              <a:rPr dirty="0" sz="700" spc="-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50">
                <a:solidFill>
                  <a:srgbClr val="0C0C0C"/>
                </a:solidFill>
                <a:latin typeface="Arial MT"/>
                <a:cs typeface="Arial MT"/>
              </a:rPr>
              <a:t>clustering</a:t>
            </a:r>
            <a:r>
              <a:rPr dirty="0" sz="700" spc="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30">
                <a:solidFill>
                  <a:srgbClr val="0C0C0C"/>
                </a:solidFill>
                <a:latin typeface="Arial MT"/>
                <a:cs typeface="Arial MT"/>
              </a:rPr>
              <a:t>olqorithm</a:t>
            </a:r>
            <a:r>
              <a:rPr dirty="0" sz="700" spc="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solidFill>
                  <a:srgbClr val="0E0E0E"/>
                </a:solidFill>
                <a:latin typeface="Arial MT"/>
                <a:cs typeface="Arial MT"/>
              </a:rPr>
              <a:t>that</a:t>
            </a:r>
            <a:r>
              <a:rPr dirty="0" sz="70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 spc="-55">
                <a:solidFill>
                  <a:srgbClr val="0E0E0E"/>
                </a:solidFill>
                <a:latin typeface="Arial MT"/>
                <a:cs typeface="Arial MT"/>
              </a:rPr>
              <a:t>exœls</a:t>
            </a:r>
            <a:r>
              <a:rPr dirty="0" sz="7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 spc="-35">
                <a:solidFill>
                  <a:srgbClr val="1A1A1A"/>
                </a:solidFill>
                <a:latin typeface="Arial MT"/>
                <a:cs typeface="Arial MT"/>
              </a:rPr>
              <a:t>in </a:t>
            </a:r>
            <a:r>
              <a:rPr dirty="0" sz="700" spc="-35">
                <a:solidFill>
                  <a:srgbClr val="0F0F0F"/>
                </a:solidFill>
                <a:latin typeface="Arial MT"/>
                <a:cs typeface="Arial MT"/>
              </a:rPr>
              <a:t>identifying</a:t>
            </a:r>
            <a:r>
              <a:rPr dirty="0" sz="700" spc="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50">
                <a:solidFill>
                  <a:srgbClr val="0E0E0E"/>
                </a:solidFill>
                <a:latin typeface="Arial MT"/>
                <a:cs typeface="Arial MT"/>
              </a:rPr>
              <a:t>clusters</a:t>
            </a:r>
            <a:r>
              <a:rPr dirty="0" sz="7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0F0F0F"/>
                </a:solidFill>
                <a:latin typeface="Arial MT"/>
                <a:cs typeface="Arial MT"/>
              </a:rPr>
              <a:t>of</a:t>
            </a:r>
            <a:r>
              <a:rPr dirty="0" sz="70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40">
                <a:solidFill>
                  <a:srgbClr val="0F0F0F"/>
                </a:solidFill>
                <a:latin typeface="Arial MT"/>
                <a:cs typeface="Arial MT"/>
              </a:rPr>
              <a:t>vorying</a:t>
            </a:r>
            <a:r>
              <a:rPr dirty="0" sz="70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45">
                <a:solidFill>
                  <a:srgbClr val="0C0C0C"/>
                </a:solidFill>
                <a:latin typeface="Arial MT"/>
                <a:cs typeface="Arial MT"/>
              </a:rPr>
              <a:t>densities</a:t>
            </a:r>
            <a:r>
              <a:rPr dirty="0" sz="700" spc="5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55">
                <a:solidFill>
                  <a:srgbClr val="0F0F0F"/>
                </a:solidFill>
                <a:latin typeface="Arial MT"/>
                <a:cs typeface="Arial MT"/>
              </a:rPr>
              <a:t>while</a:t>
            </a:r>
            <a:r>
              <a:rPr dirty="0" sz="70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35">
                <a:solidFill>
                  <a:srgbClr val="0C0C0C"/>
                </a:solidFill>
                <a:latin typeface="Arial MT"/>
                <a:cs typeface="Arial MT"/>
              </a:rPr>
              <a:t>effectively</a:t>
            </a:r>
            <a:r>
              <a:rPr dirty="0" sz="700" spc="5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45">
                <a:solidFill>
                  <a:srgbClr val="0C0C0C"/>
                </a:solidFill>
                <a:latin typeface="Arial MT"/>
                <a:cs typeface="Arial MT"/>
              </a:rPr>
              <a:t>handling</a:t>
            </a:r>
            <a:r>
              <a:rPr dirty="0" sz="700" spc="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60">
                <a:solidFill>
                  <a:srgbClr val="0F0F0F"/>
                </a:solidFill>
                <a:latin typeface="Arial MT"/>
                <a:cs typeface="Arial MT"/>
              </a:rPr>
              <a:t>noise.</a:t>
            </a:r>
            <a:r>
              <a:rPr dirty="0" sz="700" spc="-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55">
                <a:solidFill>
                  <a:srgbClr val="0F0F0F"/>
                </a:solidFill>
                <a:latin typeface="Arial MT"/>
                <a:cs typeface="Arial MT"/>
              </a:rPr>
              <a:t>Unlike</a:t>
            </a:r>
            <a:r>
              <a:rPr dirty="0" sz="70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C0C0C"/>
                </a:solidFill>
                <a:latin typeface="Arial MT"/>
                <a:cs typeface="Arial MT"/>
              </a:rPr>
              <a:t>troditional</a:t>
            </a:r>
            <a:r>
              <a:rPr dirty="0" sz="700" spc="5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45">
                <a:solidFill>
                  <a:srgbClr val="0C0C0C"/>
                </a:solidFill>
                <a:latin typeface="Arial MT"/>
                <a:cs typeface="Arial MT"/>
              </a:rPr>
              <a:t>clustering</a:t>
            </a:r>
            <a:r>
              <a:rPr dirty="0" sz="700" spc="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55">
                <a:solidFill>
                  <a:srgbClr val="0F0F0F"/>
                </a:solidFill>
                <a:latin typeface="Arial MT"/>
                <a:cs typeface="Arial MT"/>
              </a:rPr>
              <a:t>methods,</a:t>
            </a:r>
            <a:r>
              <a:rPr dirty="0" sz="700" spc="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E0E0E"/>
                </a:solidFill>
                <a:latin typeface="Arial MT"/>
                <a:cs typeface="Arial MT"/>
              </a:rPr>
              <a:t>HDBSCAN</a:t>
            </a:r>
            <a:r>
              <a:rPr dirty="0" sz="70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 spc="-60">
                <a:solidFill>
                  <a:srgbClr val="0C0C0C"/>
                </a:solidFill>
                <a:latin typeface="Arial MT"/>
                <a:cs typeface="Arial MT"/>
              </a:rPr>
              <a:t>does</a:t>
            </a:r>
            <a:r>
              <a:rPr dirty="0" sz="700" spc="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35">
                <a:solidFill>
                  <a:srgbClr val="0E0E0E"/>
                </a:solidFill>
                <a:latin typeface="Arial MT"/>
                <a:cs typeface="Arial MT"/>
              </a:rPr>
              <a:t>not</a:t>
            </a:r>
            <a:r>
              <a:rPr dirty="0" sz="700" spc="-3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 spc="-75">
                <a:solidFill>
                  <a:srgbClr val="0E0E0E"/>
                </a:solidFill>
                <a:latin typeface="Arial MT"/>
                <a:cs typeface="Arial MT"/>
              </a:rPr>
              <a:t>requise</a:t>
            </a:r>
            <a:r>
              <a:rPr dirty="0" sz="700" spc="6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 spc="-45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700" spc="-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65">
                <a:solidFill>
                  <a:srgbClr val="0A0A0A"/>
                </a:solidFill>
                <a:latin typeface="Arial MT"/>
                <a:cs typeface="Arial MT"/>
              </a:rPr>
              <a:t>number</a:t>
            </a:r>
            <a:r>
              <a:rPr dirty="0" sz="700" spc="6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111111"/>
                </a:solidFill>
                <a:latin typeface="Arial MT"/>
                <a:cs typeface="Arial MT"/>
              </a:rPr>
              <a:t>of</a:t>
            </a:r>
            <a:r>
              <a:rPr dirty="0" sz="700" spc="5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00" spc="-50">
                <a:solidFill>
                  <a:srgbClr val="0E0E0E"/>
                </a:solidFill>
                <a:latin typeface="Arial MT"/>
                <a:cs typeface="Arial MT"/>
              </a:rPr>
              <a:t>clusters</a:t>
            </a:r>
            <a:r>
              <a:rPr dirty="0" sz="700" spc="1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111111"/>
                </a:solidFill>
                <a:latin typeface="Arial MT"/>
                <a:cs typeface="Arial MT"/>
              </a:rPr>
              <a:t>to</a:t>
            </a:r>
            <a:r>
              <a:rPr dirty="0" sz="700" spc="-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00" spc="-50">
                <a:solidFill>
                  <a:srgbClr val="0F0F0F"/>
                </a:solidFill>
                <a:latin typeface="Arial MT"/>
                <a:cs typeface="Arial MT"/>
              </a:rPr>
              <a:t>be</a:t>
            </a:r>
            <a:r>
              <a:rPr dirty="0" sz="70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E0E0E"/>
                </a:solidFill>
                <a:latin typeface="Arial MT"/>
                <a:cs typeface="Arial MT"/>
              </a:rPr>
              <a:t>specified</a:t>
            </a:r>
            <a:r>
              <a:rPr dirty="0" sz="70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 spc="-55">
                <a:solidFill>
                  <a:srgbClr val="0C0C0C"/>
                </a:solidFill>
                <a:latin typeface="Arial MT"/>
                <a:cs typeface="Arial MT"/>
              </a:rPr>
              <a:t>beforehand,</a:t>
            </a:r>
            <a:r>
              <a:rPr dirty="0" sz="700" spc="-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40">
                <a:solidFill>
                  <a:srgbClr val="0F0F0F"/>
                </a:solidFill>
                <a:latin typeface="Arial MT"/>
                <a:cs typeface="Arial MT"/>
              </a:rPr>
              <a:t>makinq</a:t>
            </a:r>
            <a:r>
              <a:rPr dirty="0" sz="7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C0C0C"/>
                </a:solidFill>
                <a:latin typeface="Arial MT"/>
                <a:cs typeface="Arial MT"/>
              </a:rPr>
              <a:t>it</a:t>
            </a:r>
            <a:r>
              <a:rPr dirty="0" sz="700" spc="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C0C0C"/>
                </a:solidFill>
                <a:latin typeface="Arial MT"/>
                <a:cs typeface="Arial MT"/>
              </a:rPr>
              <a:t>adaptable</a:t>
            </a:r>
            <a:r>
              <a:rPr dirty="0" sz="700" spc="5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i="1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dirty="0" sz="700" spc="-3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700" spc="-45">
                <a:solidFill>
                  <a:srgbClr val="0C0C0C"/>
                </a:solidFill>
                <a:latin typeface="Arial MT"/>
                <a:cs typeface="Arial MT"/>
              </a:rPr>
              <a:t>real-</a:t>
            </a:r>
            <a:r>
              <a:rPr dirty="0" sz="700" spc="-50">
                <a:solidFill>
                  <a:srgbClr val="0C0C0C"/>
                </a:solidFill>
                <a:latin typeface="Arial MT"/>
                <a:cs typeface="Arial MT"/>
              </a:rPr>
              <a:t>world</a:t>
            </a:r>
            <a:r>
              <a:rPr dirty="0" sz="700" spc="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40">
                <a:solidFill>
                  <a:srgbClr val="0F0F0F"/>
                </a:solidFill>
                <a:latin typeface="Arial MT"/>
                <a:cs typeface="Arial MT"/>
              </a:rPr>
              <a:t>datosets</a:t>
            </a:r>
            <a:r>
              <a:rPr dirty="0" sz="700" spc="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C0C0C"/>
                </a:solidFill>
                <a:latin typeface="Arial MT"/>
                <a:cs typeface="Arial MT"/>
              </a:rPr>
              <a:t>where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992997" y="2338832"/>
            <a:ext cx="7239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35">
                <a:solidFill>
                  <a:srgbClr val="0C0C0C"/>
                </a:solidFill>
                <a:latin typeface="Times New Roman"/>
                <a:cs typeface="Times New Roman"/>
              </a:rPr>
              <a:t>Noise</a:t>
            </a:r>
            <a:r>
              <a:rPr dirty="0" sz="900" spc="-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E0E0E"/>
                </a:solidFill>
                <a:latin typeface="Times New Roman"/>
                <a:cs typeface="Times New Roman"/>
              </a:rPr>
              <a:t>Handling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985212" y="2662682"/>
            <a:ext cx="1173480" cy="101790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1270">
              <a:lnSpc>
                <a:spcPct val="85300"/>
              </a:lnSpc>
              <a:spcBef>
                <a:spcPts val="229"/>
              </a:spcBef>
            </a:pPr>
            <a:r>
              <a:rPr dirty="0" sz="750" spc="-60">
                <a:solidFill>
                  <a:srgbClr val="0F0F0F"/>
                </a:solidFill>
                <a:latin typeface="Arial MT"/>
                <a:cs typeface="Arial MT"/>
              </a:rPr>
              <a:t>One</a:t>
            </a:r>
            <a:r>
              <a:rPr dirty="0" sz="750" spc="-5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11111"/>
                </a:solidFill>
                <a:latin typeface="Arial MT"/>
                <a:cs typeface="Arial MT"/>
              </a:rPr>
              <a:t>of</a:t>
            </a:r>
            <a:r>
              <a:rPr dirty="0" sz="75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50" spc="-30">
                <a:solidFill>
                  <a:srgbClr val="0E0E0E"/>
                </a:solidFill>
                <a:latin typeface="Arial MT"/>
                <a:cs typeface="Arial MT"/>
              </a:rPr>
              <a:t>the</a:t>
            </a:r>
            <a:r>
              <a:rPr dirty="0" sz="750" spc="-40">
                <a:solidFill>
                  <a:srgbClr val="0E0E0E"/>
                </a:solidFill>
                <a:latin typeface="Arial MT"/>
                <a:cs typeface="Arial MT"/>
              </a:rPr>
              <a:t> key</a:t>
            </a:r>
            <a:r>
              <a:rPr dirty="0" sz="750" spc="-4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30">
                <a:solidFill>
                  <a:srgbClr val="0C0C0C"/>
                </a:solidFill>
                <a:latin typeface="Arial MT"/>
                <a:cs typeface="Arial MT"/>
              </a:rPr>
              <a:t>odvontoges</a:t>
            </a:r>
            <a:r>
              <a:rPr dirty="0" sz="750" spc="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E0E0E"/>
                </a:solidFill>
                <a:latin typeface="Arial MT"/>
                <a:cs typeface="Arial MT"/>
              </a:rPr>
              <a:t>of</a:t>
            </a:r>
            <a:r>
              <a:rPr dirty="0" sz="75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90">
                <a:solidFill>
                  <a:srgbClr val="0C0C0C"/>
                </a:solidFill>
                <a:latin typeface="Arial MT"/>
                <a:cs typeface="Arial MT"/>
              </a:rPr>
              <a:t>HDBSCAN</a:t>
            </a:r>
            <a:r>
              <a:rPr dirty="0" sz="750" spc="4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45">
                <a:solidFill>
                  <a:srgbClr val="0F0F0F"/>
                </a:solidFill>
                <a:latin typeface="Arial MT"/>
                <a:cs typeface="Arial MT"/>
              </a:rPr>
              <a:t>is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 its</a:t>
            </a:r>
            <a:r>
              <a:rPr dirty="0" sz="750" spc="-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obility</a:t>
            </a:r>
            <a:r>
              <a:rPr dirty="0" sz="750" spc="-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F0F0F"/>
                </a:solidFill>
                <a:latin typeface="Arial MT"/>
                <a:cs typeface="Arial MT"/>
              </a:rPr>
              <a:t>to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Cambria"/>
                <a:cs typeface="Cambria"/>
              </a:rPr>
              <a:t>mono9e</a:t>
            </a:r>
            <a:r>
              <a:rPr dirty="0" sz="750" spc="2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750" spc="-25">
                <a:solidFill>
                  <a:srgbClr val="0E0E0E"/>
                </a:solidFill>
                <a:latin typeface="Cambria"/>
                <a:cs typeface="Cambria"/>
              </a:rPr>
              <a:t>noise.</a:t>
            </a:r>
            <a:r>
              <a:rPr dirty="0" sz="750" spc="1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750">
                <a:solidFill>
                  <a:srgbClr val="151515"/>
                </a:solidFill>
                <a:latin typeface="Cambria"/>
                <a:cs typeface="Cambria"/>
              </a:rPr>
              <a:t>It</a:t>
            </a:r>
            <a:r>
              <a:rPr dirty="0" sz="750" spc="-30">
                <a:solidFill>
                  <a:srgbClr val="151515"/>
                </a:solidFill>
                <a:latin typeface="Cambria"/>
                <a:cs typeface="Cambria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Cambria"/>
                <a:cs typeface="Cambria"/>
              </a:rPr>
              <a:t>cote9orizes</a:t>
            </a:r>
            <a:r>
              <a:rPr dirty="0" sz="750" spc="50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dirty="0" sz="750" spc="-20">
                <a:solidFill>
                  <a:srgbClr val="0A0A0A"/>
                </a:solidFill>
                <a:latin typeface="Arial MT"/>
                <a:cs typeface="Arial MT"/>
              </a:rPr>
              <a:t>points</a:t>
            </a:r>
            <a:r>
              <a:rPr dirty="0" sz="750" spc="-1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that</a:t>
            </a:r>
            <a:r>
              <a:rPr dirty="0" sz="750" spc="-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111111"/>
                </a:solidFill>
                <a:latin typeface="Arial MT"/>
                <a:cs typeface="Arial MT"/>
              </a:rPr>
              <a:t>do</a:t>
            </a:r>
            <a:r>
              <a:rPr dirty="0" sz="750" spc="-5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not</a:t>
            </a:r>
            <a:r>
              <a:rPr dirty="0" sz="75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E0E0E"/>
                </a:solidFill>
                <a:latin typeface="Arial MT"/>
                <a:cs typeface="Arial MT"/>
              </a:rPr>
              <a:t>fit</a:t>
            </a:r>
            <a:r>
              <a:rPr dirty="0" sz="750" spc="1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45">
                <a:solidFill>
                  <a:srgbClr val="0E0E0E"/>
                </a:solidFill>
                <a:latin typeface="Arial MT"/>
                <a:cs typeface="Arial MT"/>
              </a:rPr>
              <a:t>well</a:t>
            </a:r>
            <a:r>
              <a:rPr dirty="0" sz="750" spc="-4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0F0F0F"/>
                </a:solidFill>
                <a:latin typeface="Arial MT"/>
                <a:cs typeface="Arial MT"/>
              </a:rPr>
              <a:t>into</a:t>
            </a:r>
            <a:r>
              <a:rPr dirty="0" sz="75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40">
                <a:solidFill>
                  <a:srgbClr val="0C0C0C"/>
                </a:solidFill>
                <a:latin typeface="Arial MT"/>
                <a:cs typeface="Arial MT"/>
              </a:rPr>
              <a:t>any</a:t>
            </a:r>
            <a:r>
              <a:rPr dirty="0" sz="750" spc="-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35">
                <a:solidFill>
                  <a:srgbClr val="0F0F0F"/>
                </a:solidFill>
                <a:latin typeface="Arial MT"/>
                <a:cs typeface="Arial MT"/>
              </a:rPr>
              <a:t>cluster</a:t>
            </a:r>
            <a:r>
              <a:rPr dirty="0" sz="750" spc="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50">
                <a:solidFill>
                  <a:srgbClr val="0C0C0C"/>
                </a:solidFill>
                <a:latin typeface="Arial MT"/>
                <a:cs typeface="Arial MT"/>
              </a:rPr>
              <a:t>as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50">
                <a:solidFill>
                  <a:srgbClr val="0C0C0C"/>
                </a:solidFill>
                <a:latin typeface="Arial MT"/>
                <a:cs typeface="Arial MT"/>
              </a:rPr>
              <a:t>noise,</a:t>
            </a:r>
            <a:r>
              <a:rPr dirty="0" sz="750" spc="-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ollowing </a:t>
            </a:r>
            <a:r>
              <a:rPr dirty="0" sz="750" spc="-20">
                <a:solidFill>
                  <a:srgbClr val="0E0E0E"/>
                </a:solidFill>
                <a:latin typeface="Arial MT"/>
                <a:cs typeface="Arial MT"/>
              </a:rPr>
              <a:t>for</a:t>
            </a:r>
            <a:r>
              <a:rPr dirty="0" sz="750" spc="-4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40">
                <a:solidFill>
                  <a:srgbClr val="0C0C0C"/>
                </a:solidFill>
                <a:latin typeface="Arial MT"/>
                <a:cs typeface="Arial MT"/>
              </a:rPr>
              <a:t>cleaner</a:t>
            </a:r>
            <a:r>
              <a:rPr dirty="0" sz="750" spc="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35">
                <a:solidFill>
                  <a:srgbClr val="0A0A0A"/>
                </a:solidFill>
                <a:latin typeface="Arial MT"/>
                <a:cs typeface="Arial MT"/>
              </a:rPr>
              <a:t>cluster</a:t>
            </a:r>
            <a:r>
              <a:rPr dirty="0" sz="750" spc="2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750" spc="-30">
                <a:solidFill>
                  <a:srgbClr val="0F0F0F"/>
                </a:solidFill>
                <a:latin typeface="Arial MT"/>
                <a:cs typeface="Arial MT"/>
              </a:rPr>
              <a:t>formations.</a:t>
            </a:r>
            <a:r>
              <a:rPr dirty="0" sz="75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70">
                <a:solidFill>
                  <a:srgbClr val="0F0F0F"/>
                </a:solidFill>
                <a:latin typeface="Arial MT"/>
                <a:cs typeface="Arial MT"/>
              </a:rPr>
              <a:t>This</a:t>
            </a:r>
            <a:r>
              <a:rPr dirty="0" sz="750" spc="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30">
                <a:solidFill>
                  <a:srgbClr val="0C0C0C"/>
                </a:solidFill>
                <a:latin typeface="Arial MT"/>
                <a:cs typeface="Arial MT"/>
              </a:rPr>
              <a:t>feature</a:t>
            </a:r>
            <a:r>
              <a:rPr dirty="0" sz="750" spc="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45">
                <a:solidFill>
                  <a:srgbClr val="111111"/>
                </a:solidFill>
                <a:latin typeface="Arial MT"/>
                <a:cs typeface="Arial MT"/>
              </a:rPr>
              <a:t>is</a:t>
            </a:r>
            <a:r>
              <a:rPr dirty="0" sz="75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particularly </a:t>
            </a:r>
            <a:r>
              <a:rPr dirty="0" sz="750" spc="-30">
                <a:solidFill>
                  <a:srgbClr val="0A0A0A"/>
                </a:solidFill>
                <a:latin typeface="Arial MT"/>
                <a:cs typeface="Arial MT"/>
              </a:rPr>
              <a:t>beneficial</a:t>
            </a:r>
            <a:r>
              <a:rPr dirty="0" sz="750" spc="4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161616"/>
                </a:solidFill>
                <a:latin typeface="Arial MT"/>
                <a:cs typeface="Arial MT"/>
              </a:rPr>
              <a:t>in</a:t>
            </a:r>
            <a:r>
              <a:rPr dirty="0" sz="750" spc="-7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E0E0E"/>
                </a:solidFill>
                <a:latin typeface="Arial MT"/>
                <a:cs typeface="Arial MT"/>
              </a:rPr>
              <a:t>datasets</a:t>
            </a:r>
            <a:r>
              <a:rPr dirty="0" sz="750" spc="1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0C0C0C"/>
                </a:solidFill>
                <a:latin typeface="Arial MT"/>
                <a:cs typeface="Arial MT"/>
              </a:rPr>
              <a:t>with</a:t>
            </a:r>
            <a:r>
              <a:rPr dirty="0" sz="750" spc="5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30">
                <a:solidFill>
                  <a:srgbClr val="0F0F0F"/>
                </a:solidFill>
                <a:latin typeface="Arial MT"/>
                <a:cs typeface="Arial MT"/>
              </a:rPr>
              <a:t>outliers</a:t>
            </a:r>
            <a:r>
              <a:rPr dirty="0" sz="750" spc="-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or</a:t>
            </a:r>
            <a:r>
              <a:rPr dirty="0" sz="750" spc="-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irregular 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distributions.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518181" y="2305304"/>
            <a:ext cx="1252855" cy="144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 marR="53975" indent="635">
              <a:lnSpc>
                <a:spcPct val="124400"/>
              </a:lnSpc>
              <a:spcBef>
                <a:spcPts val="100"/>
              </a:spcBef>
            </a:pPr>
            <a:r>
              <a:rPr dirty="0" sz="900" spc="-30">
                <a:solidFill>
                  <a:srgbClr val="0C0C0C"/>
                </a:solidFill>
                <a:latin typeface="Times New Roman"/>
                <a:cs typeface="Times New Roman"/>
              </a:rPr>
              <a:t>Applications</a:t>
            </a:r>
            <a:r>
              <a:rPr dirty="0" sz="900" spc="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900" spc="-2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90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0E0E0E"/>
                </a:solidFill>
                <a:latin typeface="Times New Roman"/>
                <a:cs typeface="Times New Roman"/>
              </a:rPr>
              <a:t>Clustering </a:t>
            </a:r>
            <a:r>
              <a:rPr dirty="0" sz="900" spc="-10">
                <a:solidFill>
                  <a:srgbClr val="0C0C0C"/>
                </a:solidFill>
                <a:latin typeface="Times New Roman"/>
                <a:cs typeface="Times New Roman"/>
              </a:rPr>
              <a:t>Methods</a:t>
            </a:r>
            <a:endParaRPr sz="900">
              <a:latin typeface="Times New Roman"/>
              <a:cs typeface="Times New Roman"/>
            </a:endParaRPr>
          </a:p>
          <a:p>
            <a:pPr marL="27940">
              <a:lnSpc>
                <a:spcPct val="100000"/>
              </a:lnSpc>
              <a:spcBef>
                <a:spcPts val="125"/>
              </a:spcBef>
              <a:tabLst>
                <a:tab pos="1239520" algn="l"/>
              </a:tabLst>
            </a:pPr>
            <a:r>
              <a:rPr dirty="0" u="sng" sz="750">
                <a:solidFill>
                  <a:srgbClr val="0E0E0E"/>
                </a:solidFill>
                <a:uFill>
                  <a:solidFill>
                    <a:srgbClr val="676B77"/>
                  </a:solidFill>
                </a:uFill>
                <a:latin typeface="Arial MT"/>
                <a:cs typeface="Arial MT"/>
              </a:rPr>
              <a:t>	</a:t>
            </a:r>
            <a:endParaRPr sz="750">
              <a:latin typeface="Arial MT"/>
              <a:cs typeface="Arial MT"/>
            </a:endParaRPr>
          </a:p>
          <a:p>
            <a:pPr marL="12700" marR="39370" indent="1270">
              <a:lnSpc>
                <a:spcPct val="91100"/>
              </a:lnSpc>
              <a:spcBef>
                <a:spcPts val="545"/>
              </a:spcBef>
            </a:pPr>
            <a:r>
              <a:rPr dirty="0" sz="700" spc="-50">
                <a:solidFill>
                  <a:srgbClr val="0C0C0C"/>
                </a:solidFill>
                <a:latin typeface="Arial MT"/>
                <a:cs typeface="Arial MT"/>
              </a:rPr>
              <a:t>Clustering</a:t>
            </a:r>
            <a:r>
              <a:rPr dirty="0" sz="700" spc="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50">
                <a:solidFill>
                  <a:srgbClr val="0F0F0F"/>
                </a:solidFill>
                <a:latin typeface="Arial MT"/>
                <a:cs typeface="Arial MT"/>
              </a:rPr>
              <a:t>methods</a:t>
            </a:r>
            <a:r>
              <a:rPr dirty="0" sz="70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45">
                <a:solidFill>
                  <a:srgbClr val="0F0F0F"/>
                </a:solidFill>
                <a:latin typeface="Arial MT"/>
                <a:cs typeface="Arial MT"/>
              </a:rPr>
              <a:t>like</a:t>
            </a:r>
            <a:r>
              <a:rPr dirty="0" sz="700" spc="-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50">
                <a:solidFill>
                  <a:srgbClr val="111111"/>
                </a:solidFill>
                <a:latin typeface="Arial MT"/>
                <a:cs typeface="Arial MT"/>
              </a:rPr>
              <a:t>k-</a:t>
            </a:r>
            <a:r>
              <a:rPr dirty="0" sz="700" spc="-10">
                <a:solidFill>
                  <a:srgbClr val="111111"/>
                </a:solidFill>
                <a:latin typeface="Arial MT"/>
                <a:cs typeface="Arial MT"/>
              </a:rPr>
              <a:t>means</a:t>
            </a:r>
            <a:r>
              <a:rPr dirty="0" sz="700" spc="50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00" spc="-40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dirty="0" sz="700" spc="-5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90">
                <a:solidFill>
                  <a:srgbClr val="0C0C0C"/>
                </a:solidFill>
                <a:latin typeface="Arial MT"/>
                <a:cs typeface="Arial MT"/>
              </a:rPr>
              <a:t>HDBSCAN</a:t>
            </a:r>
            <a:r>
              <a:rPr dirty="0" sz="700" spc="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50">
                <a:solidFill>
                  <a:srgbClr val="0F0F0F"/>
                </a:solidFill>
                <a:latin typeface="Arial MT"/>
                <a:cs typeface="Arial MT"/>
              </a:rPr>
              <a:t>ore</a:t>
            </a:r>
            <a:r>
              <a:rPr dirty="0" sz="700" spc="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45">
                <a:solidFill>
                  <a:srgbClr val="0F0F0F"/>
                </a:solidFill>
                <a:latin typeface="Arial MT"/>
                <a:cs typeface="Arial MT"/>
              </a:rPr>
              <a:t>widely</a:t>
            </a:r>
            <a:r>
              <a:rPr dirty="0" sz="7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60">
                <a:solidFill>
                  <a:srgbClr val="0C0C0C"/>
                </a:solidFill>
                <a:latin typeface="Arial MT"/>
                <a:cs typeface="Arial MT"/>
              </a:rPr>
              <a:t>used</a:t>
            </a:r>
            <a:r>
              <a:rPr dirty="0" sz="700" spc="-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181818"/>
                </a:solidFill>
                <a:latin typeface="Arial MT"/>
                <a:cs typeface="Arial MT"/>
              </a:rPr>
              <a:t>in</a:t>
            </a:r>
            <a:r>
              <a:rPr dirty="0" sz="700" spc="50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700" spc="-50">
                <a:solidFill>
                  <a:srgbClr val="0C0C0C"/>
                </a:solidFill>
                <a:latin typeface="Arial MT"/>
                <a:cs typeface="Arial MT"/>
              </a:rPr>
              <a:t>various</a:t>
            </a:r>
            <a:r>
              <a:rPr dirty="0" sz="700" spc="4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45">
                <a:solidFill>
                  <a:srgbClr val="0F0F0F"/>
                </a:solidFill>
                <a:latin typeface="Arial MT"/>
                <a:cs typeface="Arial MT"/>
              </a:rPr>
              <a:t>fields,</a:t>
            </a:r>
            <a:r>
              <a:rPr dirty="0" sz="70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45">
                <a:solidFill>
                  <a:srgbClr val="0F0F0F"/>
                </a:solidFill>
                <a:latin typeface="Arial MT"/>
                <a:cs typeface="Arial MT"/>
              </a:rPr>
              <a:t>including</a:t>
            </a:r>
            <a:r>
              <a:rPr dirty="0" sz="700" spc="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E0E0E"/>
                </a:solidFill>
                <a:latin typeface="Arial MT"/>
                <a:cs typeface="Arial MT"/>
              </a:rPr>
              <a:t>market</a:t>
            </a:r>
            <a:r>
              <a:rPr dirty="0" sz="70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 spc="-50">
                <a:solidFill>
                  <a:srgbClr val="0C0C0C"/>
                </a:solidFill>
                <a:latin typeface="Arial MT"/>
                <a:cs typeface="Arial MT"/>
              </a:rPr>
              <a:t>segmentation,</a:t>
            </a:r>
            <a:r>
              <a:rPr dirty="0" sz="700" spc="4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50">
                <a:solidFill>
                  <a:srgbClr val="0F0F0F"/>
                </a:solidFill>
                <a:latin typeface="Arial MT"/>
                <a:cs typeface="Arial MT"/>
              </a:rPr>
              <a:t>social</a:t>
            </a:r>
            <a:r>
              <a:rPr dirty="0" sz="70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E0E0E"/>
                </a:solidFill>
                <a:latin typeface="Arial MT"/>
                <a:cs typeface="Arial MT"/>
              </a:rPr>
              <a:t>neMork</a:t>
            </a:r>
            <a:r>
              <a:rPr dirty="0" sz="700" spc="5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 spc="-55">
                <a:solidFill>
                  <a:srgbClr val="0E0E0E"/>
                </a:solidFill>
                <a:latin typeface="Arial MT"/>
                <a:cs typeface="Arial MT"/>
              </a:rPr>
              <a:t>anolysis,</a:t>
            </a:r>
            <a:r>
              <a:rPr dirty="0" sz="700" spc="-2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 spc="-30">
                <a:solidFill>
                  <a:srgbClr val="0E0E0E"/>
                </a:solidFill>
                <a:latin typeface="Arial MT"/>
                <a:cs typeface="Arial MT"/>
              </a:rPr>
              <a:t>and</a:t>
            </a:r>
            <a:r>
              <a:rPr dirty="0" sz="700" spc="-4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 spc="-40">
                <a:solidFill>
                  <a:srgbClr val="0F0F0F"/>
                </a:solidFill>
                <a:latin typeface="Arial MT"/>
                <a:cs typeface="Arial MT"/>
              </a:rPr>
              <a:t>image</a:t>
            </a:r>
            <a:r>
              <a:rPr dirty="0" sz="70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C0C0C"/>
                </a:solidFill>
                <a:latin typeface="Arial MT"/>
                <a:cs typeface="Arial MT"/>
              </a:rPr>
              <a:t>processing.</a:t>
            </a:r>
            <a:r>
              <a:rPr dirty="0" sz="700" spc="5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70">
                <a:solidFill>
                  <a:srgbClr val="0C0C0C"/>
                </a:solidFill>
                <a:latin typeface="Arial MT"/>
                <a:cs typeface="Arial MT"/>
              </a:rPr>
              <a:t>Their</a:t>
            </a:r>
            <a:r>
              <a:rPr dirty="0" sz="700" spc="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solidFill>
                  <a:srgbClr val="0F0F0F"/>
                </a:solidFill>
                <a:latin typeface="Arial MT"/>
                <a:cs typeface="Arial MT"/>
              </a:rPr>
              <a:t>ability</a:t>
            </a:r>
            <a:r>
              <a:rPr dirty="0" sz="700" spc="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0F0F0F"/>
                </a:solidFill>
                <a:latin typeface="Arial MT"/>
                <a:cs typeface="Arial MT"/>
              </a:rPr>
              <a:t>to</a:t>
            </a:r>
            <a:r>
              <a:rPr dirty="0" sz="70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60">
                <a:solidFill>
                  <a:srgbClr val="0A0A0A"/>
                </a:solidFill>
                <a:latin typeface="Arial MT"/>
                <a:cs typeface="Arial MT"/>
              </a:rPr>
              <a:t>reveal</a:t>
            </a:r>
            <a:r>
              <a:rPr dirty="0" sz="70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700" spc="-35">
                <a:solidFill>
                  <a:srgbClr val="0F0F0F"/>
                </a:solidFill>
                <a:latin typeface="Arial MT"/>
                <a:cs typeface="Arial MT"/>
              </a:rPr>
              <a:t>patterns</a:t>
            </a:r>
            <a:r>
              <a:rPr dirty="0" sz="700" spc="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dirty="0" sz="70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40">
                <a:solidFill>
                  <a:srgbClr val="0F0F0F"/>
                </a:solidFill>
                <a:latin typeface="Arial MT"/>
                <a:cs typeface="Arial MT"/>
              </a:rPr>
              <a:t>group</a:t>
            </a:r>
            <a:r>
              <a:rPr dirty="0" sz="70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45">
                <a:solidFill>
                  <a:srgbClr val="0C0C0C"/>
                </a:solidFill>
                <a:latin typeface="Arial MT"/>
                <a:cs typeface="Arial MT"/>
              </a:rPr>
              <a:t>similar</a:t>
            </a:r>
            <a:r>
              <a:rPr dirty="0" sz="700" spc="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solidFill>
                  <a:srgbClr val="0F0F0F"/>
                </a:solidFill>
                <a:latin typeface="Arial MT"/>
                <a:cs typeface="Arial MT"/>
              </a:rPr>
              <a:t>data</a:t>
            </a:r>
            <a:r>
              <a:rPr dirty="0" sz="700" spc="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40">
                <a:solidFill>
                  <a:srgbClr val="0F0F0F"/>
                </a:solidFill>
                <a:latin typeface="Arial MT"/>
                <a:cs typeface="Arial MT"/>
              </a:rPr>
              <a:t>points</a:t>
            </a:r>
            <a:r>
              <a:rPr dirty="0" sz="700" spc="-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F0F0F"/>
                </a:solidFill>
                <a:latin typeface="Arial MT"/>
                <a:cs typeface="Arial MT"/>
              </a:rPr>
              <a:t>makes</a:t>
            </a:r>
            <a:r>
              <a:rPr dirty="0" sz="70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45">
                <a:solidFill>
                  <a:srgbClr val="0E0E0E"/>
                </a:solidFill>
                <a:latin typeface="Arial MT"/>
                <a:cs typeface="Arial MT"/>
              </a:rPr>
              <a:t>them</a:t>
            </a:r>
            <a:r>
              <a:rPr dirty="0" sz="700" spc="-5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 spc="-45">
                <a:solidFill>
                  <a:srgbClr val="0F0F0F"/>
                </a:solidFill>
                <a:latin typeface="Arial MT"/>
                <a:cs typeface="Arial MT"/>
              </a:rPr>
              <a:t>invaluable</a:t>
            </a:r>
            <a:r>
              <a:rPr dirty="0" sz="700" spc="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40">
                <a:solidFill>
                  <a:srgbClr val="0A0A0A"/>
                </a:solidFill>
                <a:latin typeface="Arial MT"/>
                <a:cs typeface="Arial MT"/>
              </a:rPr>
              <a:t>tools</a:t>
            </a:r>
            <a:r>
              <a:rPr dirty="0" sz="700" spc="-1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0F0F0F"/>
                </a:solidFill>
                <a:latin typeface="Arial MT"/>
                <a:cs typeface="Arial MT"/>
              </a:rPr>
              <a:t>for</a:t>
            </a:r>
            <a:r>
              <a:rPr dirty="0" sz="700" spc="-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solidFill>
                  <a:srgbClr val="0F0F0F"/>
                </a:solidFill>
                <a:latin typeface="Arial MT"/>
                <a:cs typeface="Arial MT"/>
              </a:rPr>
              <a:t>data</a:t>
            </a:r>
            <a:r>
              <a:rPr dirty="0" sz="70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45">
                <a:solidFill>
                  <a:srgbClr val="0C0C0C"/>
                </a:solidFill>
                <a:latin typeface="Arial MT"/>
                <a:cs typeface="Arial MT"/>
              </a:rPr>
              <a:t>scientists</a:t>
            </a:r>
            <a:r>
              <a:rPr dirty="0" sz="700" spc="4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-40">
                <a:solidFill>
                  <a:srgbClr val="0E0E0E"/>
                </a:solidFill>
                <a:latin typeface="Arial MT"/>
                <a:cs typeface="Arial MT"/>
              </a:rPr>
              <a:t>and</a:t>
            </a:r>
            <a:r>
              <a:rPr dirty="0" sz="700" spc="-7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E0E0E"/>
                </a:solidFill>
                <a:latin typeface="Arial MT"/>
                <a:cs typeface="Arial MT"/>
              </a:rPr>
              <a:t>analysts.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93714" y="3008376"/>
            <a:ext cx="609523" cy="609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93714" y="1978151"/>
            <a:ext cx="609523" cy="6096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3714" y="954024"/>
            <a:ext cx="609523" cy="60655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613333" y="4194047"/>
            <a:ext cx="1350645" cy="21082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41910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330"/>
              </a:spcBef>
              <a:tabLst>
                <a:tab pos="671195" algn="l"/>
              </a:tabLst>
            </a:pPr>
            <a:r>
              <a:rPr dirty="0" sz="650" spc="-85">
                <a:solidFill>
                  <a:srgbClr val="FFFFFF"/>
                </a:solidFill>
                <a:latin typeface="Courier New"/>
                <a:cs typeface="Courier New"/>
                <a:hlinkClick r:id="rId5"/>
              </a:rPr>
              <a:t>^œn'ea</a:t>
            </a:r>
            <a:r>
              <a:rPr dirty="0" sz="650" spc="-65">
                <a:solidFill>
                  <a:srgbClr val="FFFFFF"/>
                </a:solidFill>
                <a:latin typeface="Courier New"/>
                <a:cs typeface="Courier New"/>
                <a:hlinkClick r:id="rId5"/>
              </a:rPr>
              <a:t> </a:t>
            </a:r>
            <a:r>
              <a:rPr dirty="0" sz="650" spc="-20">
                <a:solidFill>
                  <a:srgbClr val="FFFFFF"/>
                </a:solidFill>
                <a:latin typeface="Courier New"/>
                <a:cs typeface="Courier New"/>
                <a:hlinkClick r:id="rId5"/>
              </a:rPr>
              <a:t>1°nç</a:t>
            </a:r>
            <a:r>
              <a:rPr dirty="0" sz="650">
                <a:solidFill>
                  <a:srgbClr val="FFFFFF"/>
                </a:solidFill>
                <a:latin typeface="Courier New"/>
                <a:cs typeface="Courier New"/>
                <a:hlinkClick r:id="rId5"/>
              </a:rPr>
              <a:t>	</a:t>
            </a:r>
            <a:r>
              <a:rPr dirty="0" sz="650" spc="-25">
                <a:solidFill>
                  <a:srgbClr val="FFFFFF"/>
                </a:solidFill>
                <a:latin typeface="Courier New"/>
                <a:cs typeface="Courier New"/>
                <a:hlinkClick r:id="rId5"/>
              </a:rPr>
              <a:t>preseutotions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94660" y="893064"/>
            <a:ext cx="3126740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0C0C0C"/>
                </a:solidFill>
                <a:latin typeface="Times New Roman"/>
                <a:cs typeface="Times New Roman"/>
              </a:rPr>
              <a:t>Distinct</a:t>
            </a:r>
            <a:r>
              <a:rPr dirty="0" sz="1100" spc="5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E0E0E"/>
                </a:solidFill>
                <a:latin typeface="Times New Roman"/>
                <a:cs typeface="Times New Roman"/>
              </a:rPr>
              <a:t>Distribution</a:t>
            </a:r>
            <a:r>
              <a:rPr dirty="0" sz="1100" spc="10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1100" spc="-3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0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0E0E0E"/>
                </a:solidFill>
                <a:latin typeface="Times New Roman"/>
                <a:cs typeface="Times New Roman"/>
              </a:rPr>
              <a:t>Clusters</a:t>
            </a:r>
            <a:endParaRPr sz="1100">
              <a:latin typeface="Times New Roman"/>
              <a:cs typeface="Times New Roman"/>
            </a:endParaRPr>
          </a:p>
          <a:p>
            <a:pPr marL="12700" marR="5080" indent="1270">
              <a:lnSpc>
                <a:spcPct val="114100"/>
              </a:lnSpc>
              <a:spcBef>
                <a:spcPts val="465"/>
              </a:spcBef>
            </a:pPr>
            <a:r>
              <a:rPr dirty="0" sz="850" spc="-75">
                <a:solidFill>
                  <a:srgbClr val="0E0E0E"/>
                </a:solidFill>
                <a:latin typeface="Arial MT"/>
                <a:cs typeface="Arial MT"/>
              </a:rPr>
              <a:t>The</a:t>
            </a:r>
            <a:r>
              <a:rPr dirty="0" sz="850" spc="1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105">
                <a:solidFill>
                  <a:srgbClr val="0F0F0F"/>
                </a:solidFill>
                <a:latin typeface="Arial MT"/>
                <a:cs typeface="Arial MT"/>
              </a:rPr>
              <a:t>PCA</a:t>
            </a:r>
            <a:r>
              <a:rPr dirty="0" sz="850" spc="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C0C0C"/>
                </a:solidFill>
                <a:latin typeface="Arial MT"/>
                <a:cs typeface="Arial MT"/>
              </a:rPr>
              <a:t>analysis</a:t>
            </a:r>
            <a:r>
              <a:rPr dirty="0" sz="850" spc="-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40">
                <a:solidFill>
                  <a:srgbClr val="0F0F0F"/>
                </a:solidFill>
                <a:latin typeface="Arial MT"/>
                <a:cs typeface="Arial MT"/>
              </a:rPr>
              <a:t>reveals</a:t>
            </a:r>
            <a:r>
              <a:rPr dirty="0" sz="850" spc="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a</a:t>
            </a:r>
            <a:r>
              <a:rPr dirty="0" sz="850" spc="-4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clear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separation</a:t>
            </a:r>
            <a:r>
              <a:rPr dirty="0" sz="85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between</a:t>
            </a:r>
            <a:r>
              <a:rPr dirty="0" sz="85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repeating</a:t>
            </a:r>
            <a:r>
              <a:rPr dirty="0" sz="850" spc="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and </a:t>
            </a:r>
            <a:r>
              <a:rPr dirty="0" sz="850" spc="-30">
                <a:solidFill>
                  <a:srgbClr val="0F0F0F"/>
                </a:solidFill>
                <a:latin typeface="Arial MT"/>
                <a:cs typeface="Arial MT"/>
              </a:rPr>
              <a:t>non-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repeating</a:t>
            </a:r>
            <a:r>
              <a:rPr dirty="0" sz="850" spc="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Fast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0F0F0F"/>
                </a:solidFill>
                <a:latin typeface="Arial MT"/>
                <a:cs typeface="Arial MT"/>
              </a:rPr>
              <a:t>Radio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35">
                <a:solidFill>
                  <a:srgbClr val="0C0C0C"/>
                </a:solidFill>
                <a:latin typeface="Arial MT"/>
                <a:cs typeface="Arial MT"/>
              </a:rPr>
              <a:t>Bursts</a:t>
            </a:r>
            <a:r>
              <a:rPr dirty="0" sz="850" spc="-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50">
                <a:solidFill>
                  <a:srgbClr val="0E0E0E"/>
                </a:solidFill>
                <a:latin typeface="Arial MT"/>
                <a:cs typeface="Arial MT"/>
              </a:rPr>
              <a:t>(FRBs),</a:t>
            </a:r>
            <a:r>
              <a:rPr dirty="0" sz="850" spc="-1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suggesting</a:t>
            </a:r>
            <a:r>
              <a:rPr dirty="0" sz="850" spc="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different 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underlying</a:t>
            </a:r>
            <a:r>
              <a:rPr dirty="0" sz="85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0E0E0E"/>
                </a:solidFill>
                <a:latin typeface="Arial MT"/>
                <a:cs typeface="Arial MT"/>
              </a:rPr>
              <a:t>mechanisms</a:t>
            </a:r>
            <a:r>
              <a:rPr dirty="0" sz="850" spc="4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or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origins</a:t>
            </a:r>
            <a:r>
              <a:rPr dirty="0" sz="850" spc="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11111"/>
                </a:solidFill>
                <a:latin typeface="Arial MT"/>
                <a:cs typeface="Arial MT"/>
              </a:rPr>
              <a:t>for</a:t>
            </a:r>
            <a:r>
              <a:rPr dirty="0" sz="85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0F0F0F"/>
                </a:solidFill>
                <a:latin typeface="Arial MT"/>
                <a:cs typeface="Arial MT"/>
              </a:rPr>
              <a:t>these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two</a:t>
            </a:r>
            <a:r>
              <a:rPr dirty="0" sz="850" spc="-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A0A0A"/>
                </a:solidFill>
                <a:latin typeface="Arial MT"/>
                <a:cs typeface="Arial MT"/>
              </a:rPr>
              <a:t>categories.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93458" y="1769797"/>
            <a:ext cx="3100070" cy="91948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805"/>
              </a:spcBef>
              <a:tabLst>
                <a:tab pos="266065" algn="l"/>
              </a:tabLst>
            </a:pPr>
            <a:r>
              <a:rPr dirty="0" sz="1050" spc="-50">
                <a:solidFill>
                  <a:srgbClr val="4F2ADA"/>
                </a:solidFill>
                <a:latin typeface="Times New Roman"/>
                <a:cs typeface="Times New Roman"/>
              </a:rPr>
              <a:t>2</a:t>
            </a:r>
            <a:r>
              <a:rPr dirty="0" sz="1050">
                <a:solidFill>
                  <a:srgbClr val="4F2ADA"/>
                </a:solidFill>
                <a:latin typeface="Times New Roman"/>
                <a:cs typeface="Times New Roman"/>
              </a:rPr>
              <a:t>	</a:t>
            </a:r>
            <a:r>
              <a:rPr dirty="0" sz="1050">
                <a:solidFill>
                  <a:srgbClr val="0F0F0F"/>
                </a:solidFill>
                <a:latin typeface="Times New Roman"/>
                <a:cs typeface="Times New Roman"/>
              </a:rPr>
              <a:t>Optimal</a:t>
            </a:r>
            <a:r>
              <a:rPr dirty="0" sz="10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E0E0E"/>
                </a:solidFill>
                <a:latin typeface="Times New Roman"/>
                <a:cs typeface="Times New Roman"/>
              </a:rPr>
              <a:t>Cluster</a:t>
            </a:r>
            <a:r>
              <a:rPr dirty="0" sz="1050" spc="16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F0F0F"/>
                </a:solidFill>
                <a:latin typeface="Times New Roman"/>
                <a:cs typeface="Times New Roman"/>
              </a:rPr>
              <a:t>Count</a:t>
            </a:r>
            <a:r>
              <a:rPr dirty="0" sz="10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0E0E0E"/>
                </a:solidFill>
                <a:latin typeface="Times New Roman"/>
                <a:cs typeface="Times New Roman"/>
              </a:rPr>
              <a:t>Detected</a:t>
            </a:r>
            <a:endParaRPr sz="1050">
              <a:latin typeface="Times New Roman"/>
              <a:cs typeface="Times New Roman"/>
            </a:endParaRPr>
          </a:p>
          <a:p>
            <a:pPr marL="12700" marR="5080" indent="1905">
              <a:lnSpc>
                <a:spcPct val="113700"/>
              </a:lnSpc>
              <a:spcBef>
                <a:spcPts val="430"/>
              </a:spcBef>
            </a:pPr>
            <a:r>
              <a:rPr dirty="0" sz="8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8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maximum</a:t>
            </a:r>
            <a:r>
              <a:rPr dirty="0" sz="8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silhouette</a:t>
            </a:r>
            <a:r>
              <a:rPr dirty="0" sz="850" spc="12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coefficient</a:t>
            </a:r>
            <a:r>
              <a:rPr dirty="0" sz="850" spc="16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obtained</a:t>
            </a:r>
            <a:r>
              <a:rPr dirty="0" sz="850" spc="1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from</a:t>
            </a:r>
            <a:r>
              <a:rPr dirty="0" sz="8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8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k-</a:t>
            </a:r>
            <a:r>
              <a:rPr dirty="0" sz="850" spc="-10">
                <a:solidFill>
                  <a:srgbClr val="0E0E0E"/>
                </a:solidFill>
                <a:latin typeface="Times New Roman"/>
                <a:cs typeface="Times New Roman"/>
              </a:rPr>
              <a:t>means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clustering</a:t>
            </a:r>
            <a:r>
              <a:rPr dirty="0" sz="8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indicates</a:t>
            </a:r>
            <a:r>
              <a:rPr dirty="0" sz="850" spc="1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8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†he</a:t>
            </a:r>
            <a:r>
              <a:rPr dirty="0" sz="8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optimal</a:t>
            </a:r>
            <a:r>
              <a:rPr dirty="0" sz="850" spc="19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number</a:t>
            </a:r>
            <a:r>
              <a:rPr dirty="0" sz="8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131313"/>
                </a:solidFill>
                <a:latin typeface="Times New Roman"/>
                <a:cs typeface="Times New Roman"/>
              </a:rPr>
              <a:t>of</a:t>
            </a:r>
            <a:r>
              <a:rPr dirty="0" sz="850" spc="155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111111"/>
                </a:solidFill>
                <a:latin typeface="Times New Roman"/>
                <a:cs typeface="Times New Roman"/>
              </a:rPr>
              <a:t>clusters</a:t>
            </a:r>
            <a:r>
              <a:rPr dirty="0" sz="8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8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two.</a:t>
            </a:r>
            <a:r>
              <a:rPr dirty="0" sz="8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Times New Roman"/>
                <a:cs typeface="Times New Roman"/>
              </a:rPr>
              <a:t>This</a:t>
            </a:r>
            <a:r>
              <a:rPr dirty="0" sz="8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10">
                <a:solidFill>
                  <a:srgbClr val="0C0C0C"/>
                </a:solidFill>
                <a:latin typeface="Times New Roman"/>
                <a:cs typeface="Times New Roman"/>
              </a:rPr>
              <a:t>suggests</a:t>
            </a:r>
            <a:r>
              <a:rPr dirty="0" sz="850" spc="114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 spc="10">
                <a:solidFill>
                  <a:srgbClr val="0E0E0E"/>
                </a:solidFill>
                <a:latin typeface="Times New Roman"/>
                <a:cs typeface="Times New Roman"/>
              </a:rPr>
              <a:t>that</a:t>
            </a:r>
            <a:r>
              <a:rPr dirty="0" sz="850" spc="9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 spc="1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8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55">
                <a:solidFill>
                  <a:srgbClr val="0E0E0E"/>
                </a:solidFill>
                <a:latin typeface="Times New Roman"/>
                <a:cs typeface="Times New Roman"/>
              </a:rPr>
              <a:t>data</a:t>
            </a:r>
            <a:r>
              <a:rPr dirty="0" sz="850" spc="13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 spc="1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8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 spc="10">
                <a:solidFill>
                  <a:srgbClr val="0F0F0F"/>
                </a:solidFill>
                <a:latin typeface="Times New Roman"/>
                <a:cs typeface="Times New Roman"/>
              </a:rPr>
              <a:t>best</a:t>
            </a:r>
            <a:r>
              <a:rPr dirty="0" sz="8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10">
                <a:solidFill>
                  <a:srgbClr val="0F0F0F"/>
                </a:solidFill>
                <a:latin typeface="Times New Roman"/>
                <a:cs typeface="Times New Roman"/>
              </a:rPr>
              <a:t>represen†ed</a:t>
            </a:r>
            <a:r>
              <a:rPr dirty="0" sz="8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with</a:t>
            </a:r>
            <a:r>
              <a:rPr dirty="0" sz="8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10">
                <a:solidFill>
                  <a:srgbClr val="111111"/>
                </a:solidFill>
                <a:latin typeface="Times New Roman"/>
                <a:cs typeface="Times New Roman"/>
              </a:rPr>
              <a:t>two</a:t>
            </a:r>
            <a:r>
              <a:rPr dirty="0" sz="8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Times New Roman"/>
                <a:cs typeface="Times New Roman"/>
              </a:rPr>
              <a:t>distinct </a:t>
            </a:r>
            <a:r>
              <a:rPr dirty="0" sz="850" spc="-10">
                <a:solidFill>
                  <a:srgbClr val="0E0E0E"/>
                </a:solidFill>
                <a:latin typeface="Times New Roman"/>
                <a:cs typeface="Times New Roman"/>
              </a:rPr>
              <a:t>groupings.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99162" y="2983991"/>
            <a:ext cx="990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4D2BC1"/>
                </a:solidFill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4356" y="2956560"/>
            <a:ext cx="16395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0F0F0F"/>
                </a:solidFill>
                <a:latin typeface="Times New Roman"/>
                <a:cs typeface="Times New Roman"/>
              </a:rPr>
              <a:t>Visualization</a:t>
            </a:r>
            <a:r>
              <a:rPr dirty="0" sz="110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0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-125">
                <a:solidFill>
                  <a:srgbClr val="0F0F0F"/>
                </a:solidFill>
                <a:latin typeface="Times New Roman"/>
                <a:cs typeface="Times New Roman"/>
              </a:rPr>
              <a:t>PCA</a:t>
            </a:r>
            <a:r>
              <a:rPr dirty="0" sz="1100" spc="-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0F0F0F"/>
                </a:solidFill>
                <a:latin typeface="Times New Roman"/>
                <a:cs typeface="Times New Roman"/>
              </a:rPr>
              <a:t>Results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94827" y="3172713"/>
            <a:ext cx="3099435" cy="4737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70">
              <a:lnSpc>
                <a:spcPct val="115300"/>
              </a:lnSpc>
              <a:spcBef>
                <a:spcPts val="100"/>
              </a:spcBef>
            </a:pPr>
            <a:r>
              <a:rPr dirty="0" sz="850" spc="-8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85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provided</a:t>
            </a:r>
            <a:r>
              <a:rPr dirty="0" sz="850" spc="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C0C0C"/>
                </a:solidFill>
                <a:latin typeface="Arial MT"/>
                <a:cs typeface="Arial MT"/>
              </a:rPr>
              <a:t>visualizations</a:t>
            </a:r>
            <a:r>
              <a:rPr dirty="0" sz="850" spc="-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illustrate</a:t>
            </a:r>
            <a:r>
              <a:rPr dirty="0" sz="850" spc="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85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E0E0E"/>
                </a:solidFill>
                <a:latin typeface="Arial MT"/>
                <a:cs typeface="Arial MT"/>
              </a:rPr>
              <a:t>clustering</a:t>
            </a:r>
            <a:r>
              <a:rPr dirty="0" sz="850" spc="2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0F0F0F"/>
                </a:solidFill>
                <a:latin typeface="Arial MT"/>
                <a:cs typeface="Arial MT"/>
              </a:rPr>
              <a:t>results</a:t>
            </a:r>
            <a:r>
              <a:rPr dirty="0" sz="850" spc="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and 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silhouette</a:t>
            </a:r>
            <a:r>
              <a:rPr dirty="0" sz="850" spc="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A0A0A"/>
                </a:solidFill>
                <a:latin typeface="Arial MT"/>
                <a:cs typeface="Arial MT"/>
              </a:rPr>
              <a:t>coefficients,</a:t>
            </a:r>
            <a:r>
              <a:rPr dirty="0" sz="850" spc="4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A0A0A"/>
                </a:solidFill>
                <a:latin typeface="Arial MT"/>
                <a:cs typeface="Arial MT"/>
              </a:rPr>
              <a:t>aiding</a:t>
            </a:r>
            <a:r>
              <a:rPr dirty="0" sz="850" spc="2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111111"/>
                </a:solidFill>
                <a:latin typeface="Arial MT"/>
                <a:cs typeface="Arial MT"/>
              </a:rPr>
              <a:t>in</a:t>
            </a:r>
            <a:r>
              <a:rPr dirty="0" sz="850" spc="-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11111"/>
                </a:solidFill>
                <a:latin typeface="Arial MT"/>
                <a:cs typeface="Arial MT"/>
              </a:rPr>
              <a:t>interpretation</a:t>
            </a:r>
            <a:r>
              <a:rPr dirty="0" sz="850" spc="-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of</a:t>
            </a:r>
            <a:r>
              <a:rPr dirty="0" sz="850" spc="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how</a:t>
            </a:r>
            <a:r>
              <a:rPr dirty="0" sz="850" spc="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850" spc="-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FRBs are</a:t>
            </a:r>
            <a:r>
              <a:rPr dirty="0" sz="850" spc="-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grouped</a:t>
            </a:r>
            <a:r>
              <a:rPr dirty="0" sz="850" spc="-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within</a:t>
            </a:r>
            <a:r>
              <a:rPr dirty="0" sz="850" spc="-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0">
                <a:solidFill>
                  <a:srgbClr val="111111"/>
                </a:solidFill>
                <a:latin typeface="Arial MT"/>
                <a:cs typeface="Arial MT"/>
              </a:rPr>
              <a:t>PCA</a:t>
            </a:r>
            <a:r>
              <a:rPr dirty="0" sz="85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space.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329260" y="1657222"/>
            <a:ext cx="2399665" cy="116014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499109">
              <a:lnSpc>
                <a:spcPct val="100000"/>
              </a:lnSpc>
              <a:spcBef>
                <a:spcPts val="385"/>
              </a:spcBef>
              <a:tabLst>
                <a:tab pos="882650" algn="l"/>
              </a:tabLst>
            </a:pPr>
            <a:r>
              <a:rPr dirty="0" sz="750" spc="-25">
                <a:solidFill>
                  <a:srgbClr val="593BB1"/>
                </a:solidFill>
                <a:latin typeface="Times New Roman"/>
                <a:cs typeface="Times New Roman"/>
              </a:rPr>
              <a:t>PCA</a:t>
            </a:r>
            <a:r>
              <a:rPr dirty="0" sz="750">
                <a:solidFill>
                  <a:srgbClr val="593BB1"/>
                </a:solidFill>
                <a:latin typeface="Times New Roman"/>
                <a:cs typeface="Times New Roman"/>
              </a:rPr>
              <a:t>	</a:t>
            </a:r>
            <a:r>
              <a:rPr dirty="0" sz="750" spc="225">
                <a:solidFill>
                  <a:srgbClr val="4D31BA"/>
                </a:solidFill>
                <a:latin typeface="Times New Roman"/>
                <a:cs typeface="Times New Roman"/>
              </a:rPr>
              <a:t>K-</a:t>
            </a:r>
            <a:r>
              <a:rPr dirty="0" sz="750" spc="300">
                <a:solidFill>
                  <a:srgbClr val="4D31BA"/>
                </a:solidFill>
                <a:latin typeface="Times New Roman"/>
                <a:cs typeface="Times New Roman"/>
              </a:rPr>
              <a:t>MEANS</a:t>
            </a:r>
            <a:r>
              <a:rPr dirty="0" sz="750" spc="285">
                <a:solidFill>
                  <a:srgbClr val="4D31BA"/>
                </a:solidFill>
                <a:latin typeface="Times New Roman"/>
                <a:cs typeface="Times New Roman"/>
              </a:rPr>
              <a:t>  </a:t>
            </a:r>
            <a:r>
              <a:rPr dirty="0" sz="750" spc="265">
                <a:solidFill>
                  <a:srgbClr val="593BB1"/>
                </a:solidFill>
                <a:latin typeface="Times New Roman"/>
                <a:cs typeface="Times New Roman"/>
              </a:rPr>
              <a:t>RESULTS</a:t>
            </a:r>
            <a:endParaRPr sz="750">
              <a:latin typeface="Times New Roman"/>
              <a:cs typeface="Times New Roman"/>
            </a:endParaRPr>
          </a:p>
          <a:p>
            <a:pPr algn="r" marR="22225">
              <a:lnSpc>
                <a:spcPts val="2470"/>
              </a:lnSpc>
              <a:spcBef>
                <a:spcPts val="795"/>
              </a:spcBef>
            </a:pPr>
            <a:r>
              <a:rPr dirty="0" sz="2100">
                <a:solidFill>
                  <a:srgbClr val="111111"/>
                </a:solidFill>
                <a:latin typeface="Cambria"/>
                <a:cs typeface="Cambria"/>
              </a:rPr>
              <a:t>Results:</a:t>
            </a:r>
            <a:r>
              <a:rPr dirty="0" sz="2100" spc="12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2100" spc="-10">
                <a:solidFill>
                  <a:srgbClr val="111111"/>
                </a:solidFill>
                <a:latin typeface="Cambria"/>
                <a:cs typeface="Cambria"/>
              </a:rPr>
              <a:t>PCA</a:t>
            </a:r>
            <a:r>
              <a:rPr dirty="0" sz="2100" spc="-4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2100">
                <a:solidFill>
                  <a:srgbClr val="0F0F0F"/>
                </a:solidFill>
                <a:latin typeface="Cambria"/>
                <a:cs typeface="Cambria"/>
              </a:rPr>
              <a:t>with</a:t>
            </a:r>
            <a:r>
              <a:rPr dirty="0" sz="2100" spc="15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dirty="0" sz="2100" spc="-585">
                <a:solidFill>
                  <a:srgbClr val="111111"/>
                </a:solidFill>
                <a:latin typeface="Cambria"/>
                <a:cs typeface="Cambria"/>
              </a:rPr>
              <a:t>k—</a:t>
            </a:r>
            <a:endParaRPr sz="2100">
              <a:latin typeface="Cambria"/>
              <a:cs typeface="Cambria"/>
            </a:endParaRPr>
          </a:p>
          <a:p>
            <a:pPr algn="r" marR="7620">
              <a:lnSpc>
                <a:spcPts val="2650"/>
              </a:lnSpc>
            </a:pPr>
            <a:r>
              <a:rPr dirty="0" sz="2250" spc="-10">
                <a:solidFill>
                  <a:srgbClr val="111111"/>
                </a:solidFill>
                <a:latin typeface="Cambria"/>
                <a:cs typeface="Cambria"/>
              </a:rPr>
              <a:t>means</a:t>
            </a:r>
            <a:endParaRPr sz="2250">
              <a:latin typeface="Cambria"/>
              <a:cs typeface="Cambria"/>
            </a:endParaRPr>
          </a:p>
          <a:p>
            <a:pPr marL="81915">
              <a:lnSpc>
                <a:spcPct val="100000"/>
              </a:lnSpc>
              <a:spcBef>
                <a:spcPts val="815"/>
              </a:spcBef>
            </a:pPr>
            <a:r>
              <a:rPr dirty="0" sz="850" spc="10">
                <a:solidFill>
                  <a:srgbClr val="6E6E6E"/>
                </a:solidFill>
                <a:latin typeface="Times New Roman"/>
                <a:cs typeface="Times New Roman"/>
              </a:rPr>
              <a:t>Analysis</a:t>
            </a:r>
            <a:r>
              <a:rPr dirty="0" sz="850" spc="140">
                <a:solidFill>
                  <a:srgbClr val="6E6E6E"/>
                </a:solidFill>
                <a:latin typeface="Times New Roman"/>
                <a:cs typeface="Times New Roman"/>
              </a:rPr>
              <a:t> </a:t>
            </a:r>
            <a:r>
              <a:rPr dirty="0" sz="850" spc="10">
                <a:solidFill>
                  <a:srgbClr val="6E6E6E"/>
                </a:solidFill>
                <a:latin typeface="Times New Roman"/>
                <a:cs typeface="Times New Roman"/>
              </a:rPr>
              <a:t>of</a:t>
            </a:r>
            <a:r>
              <a:rPr dirty="0" sz="850" spc="195">
                <a:solidFill>
                  <a:srgbClr val="6E6E6E"/>
                </a:solidFill>
                <a:latin typeface="Times New Roman"/>
                <a:cs typeface="Times New Roman"/>
              </a:rPr>
              <a:t> </a:t>
            </a:r>
            <a:r>
              <a:rPr dirty="0" sz="850" spc="55">
                <a:solidFill>
                  <a:srgbClr val="6B6B6B"/>
                </a:solidFill>
                <a:latin typeface="Times New Roman"/>
                <a:cs typeface="Times New Roman"/>
              </a:rPr>
              <a:t>Clustering</a:t>
            </a:r>
            <a:r>
              <a:rPr dirty="0" sz="850" spc="310">
                <a:solidFill>
                  <a:srgbClr val="6B6B6B"/>
                </a:solidFill>
                <a:latin typeface="Times New Roman"/>
                <a:cs typeface="Times New Roman"/>
              </a:rPr>
              <a:t> </a:t>
            </a:r>
            <a:r>
              <a:rPr dirty="0" sz="850" spc="80">
                <a:solidFill>
                  <a:srgbClr val="6B6B6B"/>
                </a:solidFill>
                <a:latin typeface="Times New Roman"/>
                <a:cs typeface="Times New Roman"/>
              </a:rPr>
              <a:t>Patterns</a:t>
            </a:r>
            <a:r>
              <a:rPr dirty="0" sz="850" spc="160">
                <a:solidFill>
                  <a:srgbClr val="6B6B6B"/>
                </a:solidFill>
                <a:latin typeface="Times New Roman"/>
                <a:cs typeface="Times New Roman"/>
              </a:rPr>
              <a:t> </a:t>
            </a:r>
            <a:r>
              <a:rPr dirty="0" sz="850" spc="10">
                <a:solidFill>
                  <a:srgbClr val="727272"/>
                </a:solidFill>
                <a:latin typeface="Times New Roman"/>
                <a:cs typeface="Times New Roman"/>
              </a:rPr>
              <a:t>in</a:t>
            </a:r>
            <a:r>
              <a:rPr dirty="0" sz="850" spc="210">
                <a:solidFill>
                  <a:srgbClr val="727272"/>
                </a:solidFill>
                <a:latin typeface="Times New Roman"/>
                <a:cs typeface="Times New Roman"/>
              </a:rPr>
              <a:t> </a:t>
            </a:r>
            <a:r>
              <a:rPr dirty="0" sz="850" spc="10">
                <a:solidFill>
                  <a:srgbClr val="6B6B6B"/>
                </a:solidFill>
                <a:latin typeface="Times New Roman"/>
                <a:cs typeface="Times New Roman"/>
              </a:rPr>
              <a:t>FRB</a:t>
            </a:r>
            <a:r>
              <a:rPr dirty="0" sz="850" spc="210">
                <a:solidFill>
                  <a:srgbClr val="6B6B6B"/>
                </a:solidFill>
                <a:latin typeface="Times New Roman"/>
                <a:cs typeface="Times New Roman"/>
              </a:rPr>
              <a:t> </a:t>
            </a:r>
            <a:r>
              <a:rPr dirty="0" sz="850" spc="60">
                <a:solidFill>
                  <a:srgbClr val="696969"/>
                </a:solidFill>
                <a:latin typeface="Times New Roman"/>
                <a:cs typeface="Times New Roman"/>
              </a:rPr>
              <a:t>Data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380" y="1386839"/>
            <a:ext cx="609523" cy="61264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1333" y="1386839"/>
            <a:ext cx="606476" cy="61264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71237" y="1386839"/>
            <a:ext cx="609523" cy="61264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34095" y="1386839"/>
            <a:ext cx="606476" cy="612648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420571" y="2595372"/>
            <a:ext cx="1188720" cy="0"/>
          </a:xfrm>
          <a:custGeom>
            <a:avLst/>
            <a:gdLst/>
            <a:ahLst/>
            <a:cxnLst/>
            <a:rect l="l" t="t" r="r" b="b"/>
            <a:pathLst>
              <a:path w="1188720" h="0">
                <a:moveTo>
                  <a:pt x="0" y="0"/>
                </a:moveTo>
                <a:lnTo>
                  <a:pt x="1188571" y="0"/>
                </a:lnTo>
              </a:path>
            </a:pathLst>
          </a:custGeom>
          <a:ln w="3175">
            <a:solidFill>
              <a:srgbClr val="646B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613333" y="4194047"/>
            <a:ext cx="1350645" cy="21082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41910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330"/>
              </a:spcBef>
              <a:tabLst>
                <a:tab pos="671195" algn="l"/>
              </a:tabLst>
            </a:pPr>
            <a:r>
              <a:rPr dirty="0" sz="650" spc="-85">
                <a:solidFill>
                  <a:srgbClr val="FFFFFF"/>
                </a:solidFill>
                <a:latin typeface="Courier New"/>
                <a:cs typeface="Courier New"/>
                <a:hlinkClick r:id="rId6"/>
              </a:rPr>
              <a:t>^œn'ea</a:t>
            </a:r>
            <a:r>
              <a:rPr dirty="0" sz="650" spc="-65">
                <a:solidFill>
                  <a:srgbClr val="FFFFFF"/>
                </a:solidFill>
                <a:latin typeface="Courier New"/>
                <a:cs typeface="Courier New"/>
                <a:hlinkClick r:id="rId6"/>
              </a:rPr>
              <a:t> </a:t>
            </a:r>
            <a:r>
              <a:rPr dirty="0" sz="650" spc="-20">
                <a:solidFill>
                  <a:srgbClr val="FFFFFF"/>
                </a:solidFill>
                <a:latin typeface="Courier New"/>
                <a:cs typeface="Courier New"/>
                <a:hlinkClick r:id="rId6"/>
              </a:rPr>
              <a:t>1°nç</a:t>
            </a:r>
            <a:r>
              <a:rPr dirty="0" sz="650">
                <a:solidFill>
                  <a:srgbClr val="FFFFFF"/>
                </a:solidFill>
                <a:latin typeface="Courier New"/>
                <a:cs typeface="Courier New"/>
                <a:hlinkClick r:id="rId6"/>
              </a:rPr>
              <a:t>	</a:t>
            </a:r>
            <a:r>
              <a:rPr dirty="0" sz="650" spc="-25">
                <a:solidFill>
                  <a:srgbClr val="FFFFFF"/>
                </a:solidFill>
                <a:latin typeface="Courier New"/>
                <a:cs typeface="Courier New"/>
                <a:hlinkClick r:id="rId6"/>
              </a:rPr>
              <a:t>preseutotions</a:t>
            </a:r>
            <a:endParaRPr sz="650">
              <a:latin typeface="Courier New"/>
              <a:cs typeface="Courier New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001143" y="1386839"/>
            <a:ext cx="609600" cy="612775"/>
            <a:chOff x="5001143" y="1386839"/>
            <a:chExt cx="609600" cy="612775"/>
          </a:xfrm>
        </p:grpSpPr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01143" y="1386839"/>
              <a:ext cx="609523" cy="61264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96191" y="1639823"/>
              <a:ext cx="225523" cy="149351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397937" y="360934"/>
            <a:ext cx="236918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235">
                <a:solidFill>
                  <a:srgbClr val="5B3DBF"/>
                </a:solidFill>
                <a:latin typeface="Calibri"/>
                <a:cs typeface="Calibri"/>
              </a:rPr>
              <a:t>T-</a:t>
            </a:r>
            <a:r>
              <a:rPr dirty="0" sz="850" spc="320">
                <a:solidFill>
                  <a:srgbClr val="5B3DBF"/>
                </a:solidFill>
                <a:latin typeface="Calibri"/>
                <a:cs typeface="Calibri"/>
              </a:rPr>
              <a:t>SNE</a:t>
            </a:r>
            <a:r>
              <a:rPr dirty="0" sz="850" spc="225">
                <a:solidFill>
                  <a:srgbClr val="5B3DBF"/>
                </a:solidFill>
                <a:latin typeface="Calibri"/>
                <a:cs typeface="Calibri"/>
              </a:rPr>
              <a:t>  </a:t>
            </a:r>
            <a:r>
              <a:rPr dirty="0" sz="850" spc="355">
                <a:solidFill>
                  <a:srgbClr val="4F2ACA"/>
                </a:solidFill>
                <a:latin typeface="Calibri"/>
                <a:cs typeface="Calibri"/>
              </a:rPr>
              <a:t>CLUSTERING</a:t>
            </a:r>
            <a:r>
              <a:rPr dirty="0" sz="850" spc="220">
                <a:solidFill>
                  <a:srgbClr val="4F2ACA"/>
                </a:solidFill>
                <a:latin typeface="Calibri"/>
                <a:cs typeface="Calibri"/>
              </a:rPr>
              <a:t>  </a:t>
            </a:r>
            <a:r>
              <a:rPr dirty="0" sz="850" spc="315">
                <a:solidFill>
                  <a:srgbClr val="4F2FC1"/>
                </a:solidFill>
                <a:latin typeface="Calibri"/>
                <a:cs typeface="Calibri"/>
              </a:rPr>
              <a:t>RESULTS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98905" y="356535"/>
            <a:ext cx="3521075" cy="698500"/>
          </a:xfrm>
          <a:prstGeom prst="rect"/>
        </p:spPr>
        <p:txBody>
          <a:bodyPr wrap="square" lIns="0" tIns="14732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160"/>
              </a:spcBef>
            </a:pPr>
            <a:r>
              <a:rPr dirty="0" sz="2200">
                <a:solidFill>
                  <a:srgbClr val="111111"/>
                </a:solidFill>
              </a:rPr>
              <a:t>Results:</a:t>
            </a:r>
            <a:r>
              <a:rPr dirty="0" sz="2200" spc="125">
                <a:solidFill>
                  <a:srgbClr val="111111"/>
                </a:solidFill>
              </a:rPr>
              <a:t> </a:t>
            </a:r>
            <a:r>
              <a:rPr dirty="0" sz="2200" spc="-315">
                <a:solidFill>
                  <a:srgbClr val="0F0F0F"/>
                </a:solidFill>
              </a:rPr>
              <a:t>t—</a:t>
            </a:r>
            <a:r>
              <a:rPr dirty="0" sz="2200" spc="-310">
                <a:solidFill>
                  <a:srgbClr val="0F0F0F"/>
                </a:solidFill>
              </a:rPr>
              <a:t>SNE</a:t>
            </a:r>
            <a:r>
              <a:rPr dirty="0" sz="2200" spc="55">
                <a:solidFill>
                  <a:srgbClr val="0F0F0F"/>
                </a:solidFill>
              </a:rPr>
              <a:t> </a:t>
            </a:r>
            <a:r>
              <a:rPr dirty="0" sz="2200">
                <a:solidFill>
                  <a:srgbClr val="111111"/>
                </a:solidFill>
              </a:rPr>
              <a:t>with</a:t>
            </a:r>
            <a:r>
              <a:rPr dirty="0" sz="2200" spc="85">
                <a:solidFill>
                  <a:srgbClr val="111111"/>
                </a:solidFill>
              </a:rPr>
              <a:t> </a:t>
            </a:r>
            <a:r>
              <a:rPr dirty="0" sz="2200" spc="-185">
                <a:solidFill>
                  <a:srgbClr val="111111"/>
                </a:solidFill>
              </a:rPr>
              <a:t>HDBSCAN</a:t>
            </a:r>
            <a:endParaRPr sz="2200"/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950" spc="-20">
                <a:solidFill>
                  <a:srgbClr val="6B6B6B"/>
                </a:solidFill>
                <a:latin typeface="Arial MT"/>
                <a:cs typeface="Arial MT"/>
              </a:rPr>
              <a:t>Analysis</a:t>
            </a:r>
            <a:r>
              <a:rPr dirty="0" sz="950" spc="15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97080"/>
                </a:solidFill>
                <a:latin typeface="Arial MT"/>
                <a:cs typeface="Arial MT"/>
              </a:rPr>
              <a:t>of</a:t>
            </a:r>
            <a:r>
              <a:rPr dirty="0" sz="950" spc="10">
                <a:solidFill>
                  <a:srgbClr val="697080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6D6D6D"/>
                </a:solidFill>
                <a:latin typeface="Arial MT"/>
                <a:cs typeface="Arial MT"/>
              </a:rPr>
              <a:t>Clustering</a:t>
            </a:r>
            <a:r>
              <a:rPr dirty="0" sz="950" spc="-5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747474"/>
                </a:solidFill>
                <a:latin typeface="Arial MT"/>
                <a:cs typeface="Arial MT"/>
              </a:rPr>
              <a:t>Outcomes</a:t>
            </a:r>
            <a:r>
              <a:rPr dirty="0" sz="950" spc="50">
                <a:solidFill>
                  <a:srgbClr val="74747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77082"/>
                </a:solidFill>
                <a:latin typeface="Arial MT"/>
                <a:cs typeface="Arial MT"/>
              </a:rPr>
              <a:t>for</a:t>
            </a:r>
            <a:r>
              <a:rPr dirty="0" sz="950" spc="30">
                <a:solidFill>
                  <a:srgbClr val="677082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E6E6E"/>
                </a:solidFill>
                <a:latin typeface="Arial MT"/>
                <a:cs typeface="Arial MT"/>
              </a:rPr>
              <a:t>Fast</a:t>
            </a:r>
            <a:r>
              <a:rPr dirty="0" sz="950" spc="-5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69727C"/>
                </a:solidFill>
                <a:latin typeface="Arial MT"/>
                <a:cs typeface="Arial MT"/>
              </a:rPr>
              <a:t>Radio</a:t>
            </a:r>
            <a:r>
              <a:rPr dirty="0" sz="950" spc="45">
                <a:solidFill>
                  <a:srgbClr val="69727C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747474"/>
                </a:solidFill>
                <a:latin typeface="Arial MT"/>
                <a:cs typeface="Arial MT"/>
              </a:rPr>
              <a:t>Bursts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84663" y="2095246"/>
            <a:ext cx="692150" cy="409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" marR="5080" indent="-8255">
              <a:lnSpc>
                <a:spcPct val="109600"/>
              </a:lnSpc>
              <a:spcBef>
                <a:spcPts val="100"/>
              </a:spcBef>
              <a:tabLst>
                <a:tab pos="274320" algn="l"/>
              </a:tabLst>
            </a:pPr>
            <a:r>
              <a:rPr dirty="0" sz="1150" spc="-50">
                <a:solidFill>
                  <a:srgbClr val="9383D8"/>
                </a:solidFill>
                <a:latin typeface="Times New Roman"/>
                <a:cs typeface="Times New Roman"/>
              </a:rPr>
              <a:t>1</a:t>
            </a:r>
            <a:r>
              <a:rPr dirty="0" sz="1150">
                <a:solidFill>
                  <a:srgbClr val="9383D8"/>
                </a:solidFill>
                <a:latin typeface="Times New Roman"/>
                <a:cs typeface="Times New Roman"/>
              </a:rPr>
              <a:t>	</a:t>
            </a:r>
            <a:r>
              <a:rPr dirty="0" sz="1150" spc="-35">
                <a:solidFill>
                  <a:srgbClr val="0E0E0E"/>
                </a:solidFill>
                <a:latin typeface="Times New Roman"/>
                <a:cs typeface="Times New Roman"/>
              </a:rPr>
              <a:t>Cluster </a:t>
            </a:r>
            <a:r>
              <a:rPr dirty="0" sz="1150" spc="-10">
                <a:solidFill>
                  <a:srgbClr val="0C0C0C"/>
                </a:solidFill>
                <a:latin typeface="Times New Roman"/>
                <a:cs typeface="Times New Roman"/>
              </a:rPr>
              <a:t>Separation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93458" y="2671317"/>
            <a:ext cx="1212215" cy="117030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 indent="1905">
              <a:lnSpc>
                <a:spcPct val="102200"/>
              </a:lnSpc>
              <a:spcBef>
                <a:spcPts val="75"/>
              </a:spcBef>
            </a:pPr>
            <a:r>
              <a:rPr dirty="0" sz="850" spc="-6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Times New Roman"/>
                <a:cs typeface="Times New Roman"/>
              </a:rPr>
              <a:t>analysis</a:t>
            </a:r>
            <a:r>
              <a:rPr dirty="0" sz="850" spc="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0C0C0C"/>
                </a:solidFill>
                <a:latin typeface="Times New Roman"/>
                <a:cs typeface="Times New Roman"/>
              </a:rPr>
              <a:t>reveals</a:t>
            </a:r>
            <a:r>
              <a:rPr dirty="0" sz="850" spc="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8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Times New Roman"/>
                <a:cs typeface="Times New Roman"/>
              </a:rPr>
              <a:t>clear </a:t>
            </a:r>
            <a:r>
              <a:rPr dirty="0" sz="850">
                <a:solidFill>
                  <a:srgbClr val="111111"/>
                </a:solidFill>
                <a:latin typeface="Times New Roman"/>
                <a:cs typeface="Times New Roman"/>
              </a:rPr>
              <a:t>separation</a:t>
            </a:r>
            <a:r>
              <a:rPr dirty="0" sz="8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Times New Roman"/>
                <a:cs typeface="Times New Roman"/>
              </a:rPr>
              <a:t>between</a:t>
            </a:r>
            <a:r>
              <a:rPr dirty="0" sz="8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0E0E0E"/>
                </a:solidFill>
                <a:latin typeface="Times New Roman"/>
                <a:cs typeface="Times New Roman"/>
              </a:rPr>
              <a:t>clusters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 of</a:t>
            </a:r>
            <a:r>
              <a:rPr dirty="0" sz="850" spc="5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Times New Roman"/>
                <a:cs typeface="Times New Roman"/>
              </a:rPr>
              <a:t>repeating</a:t>
            </a:r>
            <a:r>
              <a:rPr dirty="0" sz="850" spc="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8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Times New Roman"/>
                <a:cs typeface="Times New Roman"/>
              </a:rPr>
              <a:t>non-</a:t>
            </a:r>
            <a:r>
              <a:rPr dirty="0" sz="8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Times New Roman"/>
                <a:cs typeface="Times New Roman"/>
              </a:rPr>
              <a:t>repeating</a:t>
            </a:r>
            <a:r>
              <a:rPr dirty="0" sz="850" spc="5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fast</a:t>
            </a:r>
            <a:r>
              <a:rPr dirty="0" sz="8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111111"/>
                </a:solidFill>
                <a:latin typeface="Times New Roman"/>
                <a:cs typeface="Times New Roman"/>
              </a:rPr>
              <a:t>radio</a:t>
            </a:r>
            <a:r>
              <a:rPr dirty="0" sz="8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Times New Roman"/>
                <a:cs typeface="Times New Roman"/>
              </a:rPr>
              <a:t>bursts </a:t>
            </a:r>
            <a:r>
              <a:rPr dirty="0" sz="750">
                <a:solidFill>
                  <a:srgbClr val="0F0F0F"/>
                </a:solidFill>
                <a:latin typeface="Times New Roman"/>
                <a:cs typeface="Times New Roman"/>
              </a:rPr>
              <a:t>(FRBs).</a:t>
            </a:r>
            <a:r>
              <a:rPr dirty="0" sz="750" spc="-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131313"/>
                </a:solidFill>
                <a:latin typeface="Times New Roman"/>
                <a:cs typeface="Times New Roman"/>
              </a:rPr>
              <a:t>This</a:t>
            </a:r>
            <a:r>
              <a:rPr dirty="0" sz="750" spc="-25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750" spc="-10">
                <a:solidFill>
                  <a:srgbClr val="0E0E0E"/>
                </a:solidFill>
                <a:latin typeface="Times New Roman"/>
                <a:cs typeface="Times New Roman"/>
              </a:rPr>
              <a:t>differentiation</a:t>
            </a:r>
            <a:r>
              <a:rPr dirty="0" sz="750" spc="500">
                <a:solidFill>
                  <a:srgbClr val="0E0E0E"/>
                </a:solidFill>
                <a:latin typeface="Times New Roman"/>
                <a:cs typeface="Times New Roman"/>
              </a:rPr>
              <a:t> 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is</a:t>
            </a:r>
            <a:r>
              <a:rPr dirty="0" sz="750" spc="-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crucial</a:t>
            </a:r>
            <a:r>
              <a:rPr dirty="0" sz="750" spc="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11111"/>
                </a:solidFill>
                <a:latin typeface="Arial MT"/>
                <a:cs typeface="Arial MT"/>
              </a:rPr>
              <a:t>for</a:t>
            </a:r>
            <a:r>
              <a:rPr dirty="0" sz="750" spc="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understanding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the </a:t>
            </a:r>
            <a:r>
              <a:rPr dirty="0" sz="850" spc="-30">
                <a:solidFill>
                  <a:srgbClr val="111111"/>
                </a:solidFill>
                <a:latin typeface="Times New Roman"/>
                <a:cs typeface="Times New Roman"/>
              </a:rPr>
              <a:t>underlying</a:t>
            </a:r>
            <a:r>
              <a:rPr dirty="0" sz="8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Times New Roman"/>
                <a:cs typeface="Times New Roman"/>
              </a:rPr>
              <a:t>mechanisms</a:t>
            </a:r>
            <a:endParaRPr sz="850">
              <a:latin typeface="Times New Roman"/>
              <a:cs typeface="Times New Roman"/>
            </a:endParaRPr>
          </a:p>
          <a:p>
            <a:pPr marL="20955" marR="284480" indent="-7620">
              <a:lnSpc>
                <a:spcPts val="980"/>
              </a:lnSpc>
              <a:spcBef>
                <a:spcPts val="55"/>
              </a:spcBef>
            </a:pPr>
            <a:r>
              <a:rPr dirty="0" sz="850" spc="-1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8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these</a:t>
            </a:r>
            <a:r>
              <a:rPr dirty="0" sz="850" spc="-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0C0C0C"/>
                </a:solidFill>
                <a:latin typeface="Times New Roman"/>
                <a:cs typeface="Times New Roman"/>
              </a:rPr>
              <a:t>astronomical</a:t>
            </a:r>
            <a:r>
              <a:rPr dirty="0" sz="850" spc="-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Times New Roman"/>
                <a:cs typeface="Times New Roman"/>
              </a:rPr>
              <a:t>phenomena.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924942" y="2118360"/>
            <a:ext cx="1169035" cy="1403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  <a:tabLst>
                <a:tab pos="266700" algn="l"/>
              </a:tabLst>
            </a:pPr>
            <a:r>
              <a:rPr dirty="0" sz="1100" spc="-50">
                <a:solidFill>
                  <a:srgbClr val="5E3DC8"/>
                </a:solidFill>
                <a:latin typeface="Times New Roman"/>
                <a:cs typeface="Times New Roman"/>
              </a:rPr>
              <a:t>2</a:t>
            </a:r>
            <a:r>
              <a:rPr dirty="0" sz="1100">
                <a:solidFill>
                  <a:srgbClr val="5E3DC8"/>
                </a:solidFill>
                <a:latin typeface="Times New Roman"/>
                <a:cs typeface="Times New Roman"/>
              </a:rPr>
              <a:t>	</a:t>
            </a:r>
            <a:r>
              <a:rPr dirty="0" sz="1100" spc="-20">
                <a:solidFill>
                  <a:srgbClr val="0E0E0E"/>
                </a:solidFill>
                <a:latin typeface="Times New Roman"/>
                <a:cs typeface="Times New Roman"/>
              </a:rPr>
              <a:t>Color</a:t>
            </a:r>
            <a:r>
              <a:rPr dirty="0" sz="1100" spc="-3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111111"/>
                </a:solidFill>
                <a:latin typeface="Times New Roman"/>
                <a:cs typeface="Times New Roman"/>
              </a:rPr>
              <a:t>Coding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080" indent="13970">
              <a:lnSpc>
                <a:spcPct val="97800"/>
              </a:lnSpc>
              <a:spcBef>
                <a:spcPts val="5"/>
              </a:spcBef>
            </a:pPr>
            <a:r>
              <a:rPr dirty="0" sz="850" spc="-25">
                <a:solidFill>
                  <a:srgbClr val="0A0A0A"/>
                </a:solidFill>
                <a:latin typeface="Times New Roman"/>
                <a:cs typeface="Times New Roman"/>
              </a:rPr>
              <a:t>Non-</a:t>
            </a:r>
            <a:r>
              <a:rPr dirty="0" sz="850" spc="-10">
                <a:solidFill>
                  <a:srgbClr val="0A0A0A"/>
                </a:solidFill>
                <a:latin typeface="Times New Roman"/>
                <a:cs typeface="Times New Roman"/>
              </a:rPr>
              <a:t>repeater</a:t>
            </a:r>
            <a:r>
              <a:rPr dirty="0" sz="850" spc="15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Times New Roman"/>
                <a:cs typeface="Times New Roman"/>
              </a:rPr>
              <a:t>clusters</a:t>
            </a:r>
            <a:r>
              <a:rPr dirty="0" sz="8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25">
                <a:solidFill>
                  <a:srgbClr val="0F0F0F"/>
                </a:solidFill>
                <a:latin typeface="Times New Roman"/>
                <a:cs typeface="Times New Roman"/>
              </a:rPr>
              <a:t>are</a:t>
            </a:r>
            <a:r>
              <a:rPr dirty="0" sz="85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Times New Roman"/>
                <a:cs typeface="Times New Roman"/>
              </a:rPr>
              <a:t>distinctly</a:t>
            </a:r>
            <a:r>
              <a:rPr dirty="0" sz="8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Times New Roman"/>
                <a:cs typeface="Times New Roman"/>
              </a:rPr>
              <a:t>marked</a:t>
            </a:r>
            <a:r>
              <a:rPr dirty="0" sz="8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25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85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111111"/>
                </a:solidFill>
                <a:latin typeface="Times New Roman"/>
                <a:cs typeface="Times New Roman"/>
              </a:rPr>
              <a:t>blue, </a:t>
            </a:r>
            <a:r>
              <a:rPr dirty="0" sz="850" spc="-45">
                <a:solidFill>
                  <a:srgbClr val="111111"/>
                </a:solidFill>
                <a:latin typeface="Times New Roman"/>
                <a:cs typeface="Times New Roman"/>
              </a:rPr>
              <a:t>while</a:t>
            </a:r>
            <a:r>
              <a:rPr dirty="0" sz="8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repeater</a:t>
            </a:r>
            <a:r>
              <a:rPr dirty="0" sz="850" spc="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0C0C0C"/>
                </a:solidFill>
                <a:latin typeface="Times New Roman"/>
                <a:cs typeface="Times New Roman"/>
              </a:rPr>
              <a:t>clusters</a:t>
            </a:r>
            <a:r>
              <a:rPr dirty="0" sz="8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850" spc="-25">
                <a:solidFill>
                  <a:srgbClr val="0F0F0F"/>
                </a:solidFill>
                <a:latin typeface="Times New Roman"/>
                <a:cs typeface="Times New Roman"/>
              </a:rPr>
              <a:t>are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E0E0E"/>
                </a:solidFill>
                <a:latin typeface="Times New Roman"/>
                <a:cs typeface="Times New Roman"/>
              </a:rPr>
              <a:t>represented</a:t>
            </a:r>
            <a:r>
              <a:rPr dirty="0" sz="850" spc="15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sz="850" spc="-45">
                <a:solidFill>
                  <a:srgbClr val="161616"/>
                </a:solidFill>
                <a:latin typeface="Times New Roman"/>
                <a:cs typeface="Times New Roman"/>
              </a:rPr>
              <a:t>in</a:t>
            </a:r>
            <a:r>
              <a:rPr dirty="0" sz="850" spc="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850" spc="-30">
                <a:solidFill>
                  <a:srgbClr val="0F0F0F"/>
                </a:solidFill>
                <a:latin typeface="Times New Roman"/>
                <a:cs typeface="Times New Roman"/>
              </a:rPr>
              <a:t>red.</a:t>
            </a:r>
            <a:r>
              <a:rPr dirty="0" sz="850" spc="-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Times New Roman"/>
                <a:cs typeface="Times New Roman"/>
              </a:rPr>
              <a:t>This</a:t>
            </a:r>
            <a:r>
              <a:rPr dirty="0" sz="85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25">
                <a:solidFill>
                  <a:srgbClr val="0E0E0E"/>
                </a:solidFill>
                <a:latin typeface="Times New Roman"/>
                <a:cs typeface="Times New Roman"/>
              </a:rPr>
              <a:t>color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codinp</a:t>
            </a:r>
            <a:r>
              <a:rPr dirty="0" sz="8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Times New Roman"/>
                <a:cs typeface="Times New Roman"/>
              </a:rPr>
              <a:t>enhances </a:t>
            </a:r>
            <a:r>
              <a:rPr dirty="0" sz="850" spc="-30">
                <a:solidFill>
                  <a:srgbClr val="111111"/>
                </a:solidFill>
                <a:latin typeface="Times New Roman"/>
                <a:cs typeface="Times New Roman"/>
              </a:rPr>
              <a:t>visual</a:t>
            </a:r>
            <a:r>
              <a:rPr dirty="0" sz="8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Times New Roman"/>
                <a:cs typeface="Times New Roman"/>
              </a:rPr>
              <a:t>clarity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8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40">
                <a:solidFill>
                  <a:srgbClr val="0F0F0F"/>
                </a:solidFill>
                <a:latin typeface="Times New Roman"/>
                <a:cs typeface="Times New Roman"/>
              </a:rPr>
              <a:t>allows</a:t>
            </a:r>
            <a:r>
              <a:rPr dirty="0" sz="8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25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8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111111"/>
                </a:solidFill>
                <a:latin typeface="Times New Roman"/>
                <a:cs typeface="Times New Roman"/>
              </a:rPr>
              <a:t>quick</a:t>
            </a:r>
            <a:r>
              <a:rPr dirty="0" sz="8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0E0E0E"/>
                </a:solidFill>
                <a:latin typeface="Times New Roman"/>
                <a:cs typeface="Times New Roman"/>
              </a:rPr>
              <a:t>identification </a:t>
            </a:r>
            <a:r>
              <a:rPr dirty="0" sz="850" spc="-2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8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25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85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Times New Roman"/>
                <a:cs typeface="Times New Roman"/>
              </a:rPr>
              <a:t>different</a:t>
            </a:r>
            <a:r>
              <a:rPr dirty="0" sz="8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0F0F0F"/>
                </a:solidFill>
                <a:latin typeface="Times New Roman"/>
                <a:cs typeface="Times New Roman"/>
              </a:rPr>
              <a:t>types</a:t>
            </a:r>
            <a:r>
              <a:rPr dirty="0" sz="850" spc="-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8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0C0C0C"/>
                </a:solidFill>
                <a:latin typeface="Times New Roman"/>
                <a:cs typeface="Times New Roman"/>
              </a:rPr>
              <a:t>FRBs.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985723" y="2086610"/>
            <a:ext cx="1256030" cy="188468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66065">
              <a:lnSpc>
                <a:spcPct val="100000"/>
              </a:lnSpc>
              <a:spcBef>
                <a:spcPts val="375"/>
              </a:spcBef>
            </a:pPr>
            <a:r>
              <a:rPr dirty="0" sz="1050" spc="-10">
                <a:solidFill>
                  <a:srgbClr val="0F0F0F"/>
                </a:solidFill>
                <a:latin typeface="Cambria"/>
                <a:cs typeface="Cambria"/>
              </a:rPr>
              <a:t>HDBSCAN</a:t>
            </a:r>
            <a:endParaRPr sz="1050">
              <a:latin typeface="Cambria"/>
              <a:cs typeface="Cambria"/>
            </a:endParaRPr>
          </a:p>
          <a:p>
            <a:pPr marL="16510">
              <a:lnSpc>
                <a:spcPct val="100000"/>
              </a:lnSpc>
              <a:spcBef>
                <a:spcPts val="275"/>
              </a:spcBef>
            </a:pPr>
            <a:r>
              <a:rPr dirty="0" sz="1050" spc="-10">
                <a:solidFill>
                  <a:srgbClr val="0E0E0E"/>
                </a:solidFill>
                <a:latin typeface="Cambria"/>
                <a:cs typeface="Cambria"/>
              </a:rPr>
              <a:t>Implementation</a:t>
            </a:r>
            <a:endParaRPr sz="1050">
              <a:latin typeface="Cambria"/>
              <a:cs typeface="Cambria"/>
            </a:endParaRPr>
          </a:p>
          <a:p>
            <a:pPr marL="30480">
              <a:lnSpc>
                <a:spcPct val="100000"/>
              </a:lnSpc>
              <a:spcBef>
                <a:spcPts val="20"/>
              </a:spcBef>
              <a:tabLst>
                <a:tab pos="1242695" algn="l"/>
              </a:tabLst>
            </a:pPr>
            <a:r>
              <a:rPr dirty="0" u="sng" sz="850">
                <a:solidFill>
                  <a:srgbClr val="0F0F0F"/>
                </a:solidFill>
                <a:uFill>
                  <a:solidFill>
                    <a:srgbClr val="646B74"/>
                  </a:solidFill>
                </a:uFill>
                <a:latin typeface="Times New Roman"/>
                <a:cs typeface="Times New Roman"/>
              </a:rPr>
              <a:t>	</a:t>
            </a:r>
            <a:endParaRPr sz="850">
              <a:latin typeface="Times New Roman"/>
              <a:cs typeface="Times New Roman"/>
            </a:endParaRPr>
          </a:p>
          <a:p>
            <a:pPr marL="12700" marR="53975" indent="7620">
              <a:lnSpc>
                <a:spcPct val="108700"/>
              </a:lnSpc>
              <a:spcBef>
                <a:spcPts val="570"/>
              </a:spcBef>
            </a:pPr>
            <a:r>
              <a:rPr dirty="0" sz="700">
                <a:solidFill>
                  <a:srgbClr val="0E0E0E"/>
                </a:solidFill>
                <a:latin typeface="Arial MT"/>
                <a:cs typeface="Arial MT"/>
              </a:rPr>
              <a:t>Using</a:t>
            </a:r>
            <a:r>
              <a:rPr dirty="0" sz="700" spc="7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111111"/>
                </a:solidFill>
                <a:latin typeface="Arial MT"/>
                <a:cs typeface="Arial MT"/>
              </a:rPr>
              <a:t>H</a:t>
            </a:r>
            <a:r>
              <a:rPr dirty="0" sz="700" spc="-10">
                <a:solidFill>
                  <a:srgbClr val="0F0F0F"/>
                </a:solidFill>
                <a:latin typeface="Arial MT"/>
                <a:cs typeface="Arial MT"/>
              </a:rPr>
              <a:t>DBSCAN</a:t>
            </a:r>
            <a:r>
              <a:rPr dirty="0" sz="70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(Hierarchical</a:t>
            </a:r>
            <a:r>
              <a:rPr dirty="0" sz="750" spc="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Density-</a:t>
            </a:r>
            <a:r>
              <a:rPr dirty="0" sz="750" spc="-1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Based </a:t>
            </a:r>
            <a:r>
              <a:rPr dirty="0" sz="750">
                <a:solidFill>
                  <a:srgbClr val="111111"/>
                </a:solidFill>
                <a:latin typeface="Arial MT"/>
                <a:cs typeface="Arial MT"/>
              </a:rPr>
              <a:t>Spatial</a:t>
            </a:r>
            <a:r>
              <a:rPr dirty="0" sz="75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Clustering</a:t>
            </a:r>
            <a:r>
              <a:rPr dirty="0" sz="750" spc="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F0F0F"/>
                </a:solidFill>
                <a:latin typeface="Arial MT"/>
                <a:cs typeface="Arial MT"/>
              </a:rPr>
              <a:t>of</a:t>
            </a:r>
            <a:r>
              <a:rPr dirty="0" sz="75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0C0C0C"/>
                </a:solidFill>
                <a:latin typeface="Arial MT"/>
                <a:cs typeface="Arial MT"/>
              </a:rPr>
              <a:t>Applications</a:t>
            </a:r>
            <a:r>
              <a:rPr dirty="0" sz="800" spc="4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0F0F0F"/>
                </a:solidFill>
                <a:latin typeface="Arial MT"/>
                <a:cs typeface="Arial MT"/>
              </a:rPr>
              <a:t>with</a:t>
            </a:r>
            <a:r>
              <a:rPr dirty="0" sz="80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C0C0C"/>
                </a:solidFill>
                <a:latin typeface="Arial MT"/>
                <a:cs typeface="Arial MT"/>
              </a:rPr>
              <a:t>Noise) </a:t>
            </a:r>
            <a:r>
              <a:rPr dirty="0" sz="800" spc="-30">
                <a:solidFill>
                  <a:srgbClr val="0E0E0E"/>
                </a:solidFill>
                <a:latin typeface="Arial MT"/>
                <a:cs typeface="Arial MT"/>
              </a:rPr>
              <a:t>allows</a:t>
            </a:r>
            <a:r>
              <a:rPr dirty="0" sz="800" spc="-2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C0C0C"/>
                </a:solidFill>
                <a:latin typeface="Arial MT"/>
                <a:cs typeface="Arial MT"/>
              </a:rPr>
              <a:t>for</a:t>
            </a:r>
            <a:r>
              <a:rPr dirty="0" sz="800" spc="-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8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E0E0E"/>
                </a:solidFill>
                <a:latin typeface="Arial MT"/>
                <a:cs typeface="Arial MT"/>
              </a:rPr>
              <a:t>identification </a:t>
            </a:r>
            <a:r>
              <a:rPr dirty="0" sz="800">
                <a:solidFill>
                  <a:srgbClr val="0F0F0F"/>
                </a:solidFill>
                <a:latin typeface="Arial MT"/>
                <a:cs typeface="Arial MT"/>
              </a:rPr>
              <a:t>of</a:t>
            </a:r>
            <a:r>
              <a:rPr dirty="0" sz="80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0E0E0E"/>
                </a:solidFill>
                <a:latin typeface="Arial MT"/>
                <a:cs typeface="Arial MT"/>
              </a:rPr>
              <a:t>clusters</a:t>
            </a:r>
            <a:r>
              <a:rPr dirty="0" sz="80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131313"/>
                </a:solidFill>
                <a:latin typeface="Arial MT"/>
                <a:cs typeface="Arial MT"/>
              </a:rPr>
              <a:t>in</a:t>
            </a:r>
            <a:r>
              <a:rPr dirty="0" sz="800" spc="-3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Arial MT"/>
                <a:cs typeface="Arial MT"/>
              </a:rPr>
              <a:t>varying </a:t>
            </a:r>
            <a:r>
              <a:rPr dirty="0" sz="800" spc="-35">
                <a:solidFill>
                  <a:srgbClr val="0F0F0F"/>
                </a:solidFill>
                <a:latin typeface="Arial MT"/>
                <a:cs typeface="Arial MT"/>
              </a:rPr>
              <a:t>densities,</a:t>
            </a:r>
            <a:r>
              <a:rPr dirty="0" sz="800" spc="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50">
                <a:solidFill>
                  <a:srgbClr val="111111"/>
                </a:solidFill>
                <a:latin typeface="Arial MT"/>
                <a:cs typeface="Arial MT"/>
              </a:rPr>
              <a:t>which</a:t>
            </a:r>
            <a:r>
              <a:rPr dirty="0" sz="8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00" spc="-30">
                <a:solidFill>
                  <a:srgbClr val="0F0F0F"/>
                </a:solidFill>
                <a:latin typeface="Arial MT"/>
                <a:cs typeface="Arial MT"/>
              </a:rPr>
              <a:t>is</a:t>
            </a:r>
            <a:r>
              <a:rPr dirty="0" sz="800" spc="-10">
                <a:solidFill>
                  <a:srgbClr val="0F0F0F"/>
                </a:solidFill>
                <a:latin typeface="Arial MT"/>
                <a:cs typeface="Arial MT"/>
              </a:rPr>
              <a:t> essential </a:t>
            </a:r>
            <a:r>
              <a:rPr dirty="0" sz="750">
                <a:solidFill>
                  <a:srgbClr val="0E0E0E"/>
                </a:solidFill>
                <a:latin typeface="Arial MT"/>
                <a:cs typeface="Arial MT"/>
              </a:rPr>
              <a:t>for</a:t>
            </a:r>
            <a:r>
              <a:rPr dirty="0" sz="750" spc="2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11111"/>
                </a:solidFill>
                <a:latin typeface="Arial MT"/>
                <a:cs typeface="Arial MT"/>
              </a:rPr>
              <a:t>accurately</a:t>
            </a:r>
            <a:r>
              <a:rPr dirty="0" sz="750" spc="6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categorizing </a:t>
            </a:r>
            <a:r>
              <a:rPr dirty="0" sz="700">
                <a:solidFill>
                  <a:srgbClr val="161616"/>
                </a:solidFill>
                <a:latin typeface="Arial MT"/>
                <a:cs typeface="Arial MT"/>
              </a:rPr>
              <a:t>the</a:t>
            </a:r>
            <a:r>
              <a:rPr dirty="0" sz="700" spc="125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111111"/>
                </a:solidFill>
                <a:latin typeface="Arial MT"/>
                <a:cs typeface="Arial MT"/>
              </a:rPr>
              <a:t>FRBs</a:t>
            </a:r>
            <a:r>
              <a:rPr dirty="0" sz="700" spc="5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F0F0F"/>
                </a:solidFill>
                <a:latin typeface="Arial MT"/>
                <a:cs typeface="Arial MT"/>
              </a:rPr>
              <a:t>based</a:t>
            </a:r>
            <a:r>
              <a:rPr dirty="0" sz="700" spc="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F0F0F"/>
                </a:solidFill>
                <a:latin typeface="Arial MT"/>
                <a:cs typeface="Arial MT"/>
              </a:rPr>
              <a:t>on</a:t>
            </a:r>
            <a:r>
              <a:rPr dirty="0" sz="700" spc="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solidFill>
                  <a:srgbClr val="0F0F0F"/>
                </a:solidFill>
                <a:latin typeface="Arial MT"/>
                <a:cs typeface="Arial MT"/>
              </a:rPr>
              <a:t>their</a:t>
            </a:r>
            <a:r>
              <a:rPr dirty="0" sz="70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0C0C0C"/>
                </a:solidFill>
                <a:latin typeface="Arial MT"/>
                <a:cs typeface="Arial MT"/>
              </a:rPr>
              <a:t>distinct</a:t>
            </a:r>
            <a:r>
              <a:rPr dirty="0" sz="800" spc="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Arial MT"/>
                <a:cs typeface="Arial MT"/>
              </a:rPr>
              <a:t>characteristics.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462018" y="2148839"/>
            <a:ext cx="825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4F2DCA"/>
                </a:solidFill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713173" y="2130551"/>
            <a:ext cx="3746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65">
                <a:solidFill>
                  <a:srgbClr val="0E0E0E"/>
                </a:solidFill>
                <a:latin typeface="Times New Roman"/>
                <a:cs typeface="Times New Roman"/>
              </a:rPr>
              <a:t>t—</a:t>
            </a:r>
            <a:r>
              <a:rPr dirty="0" sz="1100" spc="-130">
                <a:solidFill>
                  <a:srgbClr val="0E0E0E"/>
                </a:solidFill>
                <a:latin typeface="Times New Roman"/>
                <a:cs typeface="Times New Roman"/>
              </a:rPr>
              <a:t>SNE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457309" y="2310383"/>
            <a:ext cx="1254760" cy="1784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0F0F0F"/>
                </a:solidFill>
                <a:latin typeface="Times New Roman"/>
                <a:cs typeface="Times New Roman"/>
              </a:rPr>
              <a:t>Visualization</a:t>
            </a:r>
            <a:endParaRPr sz="1100">
              <a:latin typeface="Times New Roman"/>
              <a:cs typeface="Times New Roman"/>
            </a:endParaRPr>
          </a:p>
          <a:p>
            <a:pPr marL="28575">
              <a:lnSpc>
                <a:spcPct val="100000"/>
              </a:lnSpc>
              <a:spcBef>
                <a:spcPts val="10"/>
              </a:spcBef>
              <a:tabLst>
                <a:tab pos="1241425" algn="l"/>
              </a:tabLst>
            </a:pPr>
            <a:r>
              <a:rPr dirty="0" u="sng" sz="850">
                <a:solidFill>
                  <a:srgbClr val="0F0F0F"/>
                </a:solidFill>
                <a:uFill>
                  <a:solidFill>
                    <a:srgbClr val="646B74"/>
                  </a:solidFill>
                </a:uFill>
                <a:latin typeface="Times New Roman"/>
                <a:cs typeface="Times New Roman"/>
              </a:rPr>
              <a:t>	</a:t>
            </a:r>
            <a:endParaRPr sz="850">
              <a:latin typeface="Times New Roman"/>
              <a:cs typeface="Times New Roman"/>
            </a:endParaRPr>
          </a:p>
          <a:p>
            <a:pPr marL="12700" marR="96520" indent="1270">
              <a:lnSpc>
                <a:spcPct val="112000"/>
              </a:lnSpc>
              <a:spcBef>
                <a:spcPts val="480"/>
              </a:spcBef>
            </a:pPr>
            <a:r>
              <a:rPr dirty="0" sz="750" spc="-4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75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F0F0F"/>
                </a:solidFill>
                <a:latin typeface="Arial MT"/>
                <a:cs typeface="Arial MT"/>
              </a:rPr>
              <a:t>t-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SNE</a:t>
            </a:r>
            <a:r>
              <a:rPr dirty="0" sz="75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technique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effectively</a:t>
            </a:r>
            <a:r>
              <a:rPr dirty="0" sz="750" spc="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C0C0C"/>
                </a:solidFill>
                <a:latin typeface="Arial MT"/>
                <a:cs typeface="Arial MT"/>
              </a:rPr>
              <a:t>reduces</a:t>
            </a:r>
            <a:r>
              <a:rPr dirty="0" sz="750" spc="4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E0E0E"/>
                </a:solidFill>
                <a:latin typeface="Arial MT"/>
                <a:cs typeface="Arial MT"/>
              </a:rPr>
              <a:t>dimensionality</a:t>
            </a:r>
            <a:r>
              <a:rPr dirty="0" sz="750" spc="3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242424"/>
                </a:solidFill>
                <a:latin typeface="Arial MT"/>
                <a:cs typeface="Arial MT"/>
              </a:rPr>
              <a:t>of</a:t>
            </a:r>
            <a:r>
              <a:rPr dirty="0" sz="750" spc="7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E0E0E"/>
                </a:solidFill>
                <a:latin typeface="Arial MT"/>
                <a:cs typeface="Arial MT"/>
              </a:rPr>
              <a:t>the</a:t>
            </a:r>
            <a:r>
              <a:rPr dirty="0" sz="750" spc="2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data,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resulting in</a:t>
            </a:r>
            <a:r>
              <a:rPr dirty="0" sz="750" spc="-4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a</a:t>
            </a:r>
            <a:r>
              <a:rPr dirty="0" sz="750" spc="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0F0F0F"/>
                </a:solidFill>
                <a:latin typeface="Arial MT"/>
                <a:cs typeface="Arial MT"/>
              </a:rPr>
              <a:t>two-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 dimensional</a:t>
            </a:r>
            <a:r>
              <a:rPr dirty="0" sz="750" spc="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11111"/>
                </a:solidFill>
                <a:latin typeface="Arial MT"/>
                <a:cs typeface="Arial MT"/>
              </a:rPr>
              <a:t>plot</a:t>
            </a:r>
            <a:r>
              <a:rPr dirty="0" sz="750" spc="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131313"/>
                </a:solidFill>
                <a:latin typeface="Arial MT"/>
                <a:cs typeface="Arial MT"/>
              </a:rPr>
              <a:t>that</a:t>
            </a:r>
            <a:r>
              <a:rPr dirty="0" sz="750" spc="-1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11111"/>
                </a:solidFill>
                <a:latin typeface="Arial MT"/>
                <a:cs typeface="Arial MT"/>
              </a:rPr>
              <a:t>visually</a:t>
            </a:r>
            <a:r>
              <a:rPr dirty="0" sz="750" spc="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captures</a:t>
            </a:r>
            <a:r>
              <a:rPr dirty="0" sz="750" spc="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 clustering</a:t>
            </a:r>
            <a:r>
              <a:rPr dirty="0" sz="750" spc="-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behavior.</a:t>
            </a:r>
            <a:r>
              <a:rPr dirty="0" sz="750" spc="-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20">
                <a:solidFill>
                  <a:srgbClr val="131313"/>
                </a:solidFill>
                <a:latin typeface="Arial MT"/>
                <a:cs typeface="Arial MT"/>
              </a:rPr>
              <a:t>This</a:t>
            </a:r>
            <a:r>
              <a:rPr dirty="0" sz="75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method</a:t>
            </a:r>
            <a:r>
              <a:rPr dirty="0" sz="750" spc="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11111"/>
                </a:solidFill>
                <a:latin typeface="Arial MT"/>
                <a:cs typeface="Arial MT"/>
              </a:rPr>
              <a:t>aids</a:t>
            </a:r>
            <a:r>
              <a:rPr dirty="0" sz="750" spc="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C1C1C"/>
                </a:solidFill>
                <a:latin typeface="Arial MT"/>
                <a:cs typeface="Arial MT"/>
              </a:rPr>
              <a:t>in</a:t>
            </a:r>
            <a:r>
              <a:rPr dirty="0" sz="750" spc="-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revealing </a:t>
            </a:r>
            <a:r>
              <a:rPr dirty="0" sz="700" spc="10">
                <a:solidFill>
                  <a:srgbClr val="0C0C0C"/>
                </a:solidFill>
                <a:latin typeface="Arial MT"/>
                <a:cs typeface="Arial MT"/>
              </a:rPr>
              <a:t>patterns</a:t>
            </a:r>
            <a:r>
              <a:rPr dirty="0" sz="700" spc="114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111111"/>
                </a:solidFill>
                <a:latin typeface="Arial MT"/>
                <a:cs typeface="Arial MT"/>
              </a:rPr>
              <a:t>that</a:t>
            </a:r>
            <a:r>
              <a:rPr dirty="0" sz="700" spc="1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00" spc="70">
                <a:solidFill>
                  <a:srgbClr val="0F0F0F"/>
                </a:solidFill>
                <a:latin typeface="Arial MT"/>
                <a:cs typeface="Arial MT"/>
              </a:rPr>
              <a:t>may</a:t>
            </a:r>
            <a:r>
              <a:rPr dirty="0" sz="700" spc="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0F0F0F"/>
                </a:solidFill>
                <a:latin typeface="Arial MT"/>
                <a:cs typeface="Arial MT"/>
              </a:rPr>
              <a:t>not</a:t>
            </a:r>
            <a:r>
              <a:rPr dirty="0" sz="700" spc="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00" spc="35">
                <a:solidFill>
                  <a:srgbClr val="111111"/>
                </a:solidFill>
                <a:latin typeface="Arial MT"/>
                <a:cs typeface="Arial MT"/>
              </a:rPr>
              <a:t>be </a:t>
            </a:r>
            <a:r>
              <a:rPr dirty="0" sz="750">
                <a:solidFill>
                  <a:srgbClr val="0F0F0F"/>
                </a:solidFill>
                <a:latin typeface="Arial MT"/>
                <a:cs typeface="Arial MT"/>
              </a:rPr>
              <a:t>easily</a:t>
            </a:r>
            <a:r>
              <a:rPr dirty="0" sz="750" spc="-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111111"/>
                </a:solidFill>
                <a:latin typeface="Arial MT"/>
                <a:cs typeface="Arial MT"/>
              </a:rPr>
              <a:t>discernible</a:t>
            </a:r>
            <a:r>
              <a:rPr dirty="0" sz="750" spc="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51515"/>
                </a:solidFill>
                <a:latin typeface="Arial MT"/>
                <a:cs typeface="Arial MT"/>
              </a:rPr>
              <a:t>in</a:t>
            </a:r>
            <a:r>
              <a:rPr dirty="0" sz="750" spc="-5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F0F0F"/>
                </a:solidFill>
                <a:latin typeface="Arial MT"/>
                <a:cs typeface="Arial MT"/>
              </a:rPr>
              <a:t>higher dimensions.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526292" y="2136139"/>
            <a:ext cx="977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4B33AA"/>
                </a:solidFill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774940" y="2117851"/>
            <a:ext cx="4565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0E0E0E"/>
                </a:solidFill>
                <a:latin typeface="Times New Roman"/>
                <a:cs typeface="Times New Roman"/>
              </a:rPr>
              <a:t>Further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494904" y="2310383"/>
            <a:ext cx="1302385" cy="1404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0F0F0F"/>
                </a:solidFill>
                <a:latin typeface="Times New Roman"/>
                <a:cs typeface="Times New Roman"/>
              </a:rPr>
              <a:t>Analysis</a:t>
            </a:r>
            <a:endParaRPr sz="11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0"/>
              </a:spcBef>
              <a:tabLst>
                <a:tab pos="1263650" algn="l"/>
              </a:tabLst>
            </a:pPr>
            <a:r>
              <a:rPr dirty="0" u="sng" sz="850">
                <a:solidFill>
                  <a:srgbClr val="0F0F0F"/>
                </a:solidFill>
                <a:uFill>
                  <a:solidFill>
                    <a:srgbClr val="646B74"/>
                  </a:solidFill>
                </a:uFill>
                <a:latin typeface="Times New Roman"/>
                <a:cs typeface="Times New Roman"/>
              </a:rPr>
              <a:t>	</a:t>
            </a:r>
            <a:endParaRPr sz="850">
              <a:latin typeface="Times New Roman"/>
              <a:cs typeface="Times New Roman"/>
            </a:endParaRPr>
          </a:p>
          <a:p>
            <a:pPr marL="38100" marR="90805" indent="1270">
              <a:lnSpc>
                <a:spcPct val="104299"/>
              </a:lnSpc>
              <a:spcBef>
                <a:spcPts val="500"/>
              </a:spcBef>
            </a:pPr>
            <a:r>
              <a:rPr dirty="0" sz="800" spc="-85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800" spc="-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0F0F0F"/>
                </a:solidFill>
                <a:latin typeface="Arial MT"/>
                <a:cs typeface="Arial MT"/>
              </a:rPr>
              <a:t>results</a:t>
            </a:r>
            <a:r>
              <a:rPr dirty="0" sz="800" spc="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Arial MT"/>
                <a:cs typeface="Arial MT"/>
              </a:rPr>
              <a:t>from</a:t>
            </a:r>
            <a:r>
              <a:rPr dirty="0" sz="80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0C0C0C"/>
                </a:solidFill>
                <a:latin typeface="Arial MT"/>
                <a:cs typeface="Arial MT"/>
              </a:rPr>
              <a:t>t-</a:t>
            </a:r>
            <a:r>
              <a:rPr dirty="0" sz="800" spc="-65">
                <a:solidFill>
                  <a:srgbClr val="0C0C0C"/>
                </a:solidFill>
                <a:latin typeface="Arial MT"/>
                <a:cs typeface="Arial MT"/>
              </a:rPr>
              <a:t>SNE</a:t>
            </a:r>
            <a:r>
              <a:rPr dirty="0" sz="800" spc="-1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dirty="0" sz="80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75">
                <a:solidFill>
                  <a:srgbClr val="0E0E0E"/>
                </a:solidFill>
                <a:latin typeface="Arial MT"/>
                <a:cs typeface="Arial MT"/>
              </a:rPr>
              <a:t>HDBSCAN</a:t>
            </a:r>
            <a:r>
              <a:rPr dirty="0" sz="800" spc="4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 spc="-30">
                <a:solidFill>
                  <a:srgbClr val="0F0F0F"/>
                </a:solidFill>
                <a:latin typeface="Arial MT"/>
                <a:cs typeface="Arial MT"/>
              </a:rPr>
              <a:t>provide</a:t>
            </a:r>
            <a:r>
              <a:rPr dirty="0" sz="800" spc="-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50">
                <a:solidFill>
                  <a:srgbClr val="0E0E0E"/>
                </a:solidFill>
                <a:latin typeface="Arial MT"/>
                <a:cs typeface="Arial MT"/>
              </a:rPr>
              <a:t>a</a:t>
            </a:r>
            <a:r>
              <a:rPr dirty="0" sz="800" spc="-20">
                <a:solidFill>
                  <a:srgbClr val="0E0E0E"/>
                </a:solidFill>
                <a:latin typeface="Arial MT"/>
                <a:cs typeface="Arial MT"/>
              </a:rPr>
              <a:t> foundation</a:t>
            </a:r>
            <a:r>
              <a:rPr dirty="0" sz="800" spc="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F0F0F"/>
                </a:solidFill>
                <a:latin typeface="Arial MT"/>
                <a:cs typeface="Arial MT"/>
              </a:rPr>
              <a:t>for </a:t>
            </a:r>
            <a:r>
              <a:rPr dirty="0" sz="800" spc="-10">
                <a:solidFill>
                  <a:srgbClr val="0C0C0C"/>
                </a:solidFill>
                <a:latin typeface="Arial MT"/>
                <a:cs typeface="Arial MT"/>
              </a:rPr>
              <a:t>further </a:t>
            </a:r>
            <a:r>
              <a:rPr dirty="0" sz="800" spc="-40">
                <a:solidFill>
                  <a:srgbClr val="0C0C0C"/>
                </a:solidFill>
                <a:latin typeface="Arial MT"/>
                <a:cs typeface="Arial MT"/>
              </a:rPr>
              <a:t>analysis,</a:t>
            </a:r>
            <a:r>
              <a:rPr dirty="0" sz="800" spc="6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0F0F0F"/>
                </a:solidFill>
                <a:latin typeface="Arial MT"/>
                <a:cs typeface="Arial MT"/>
              </a:rPr>
              <a:t>potentiall</a:t>
            </a:r>
            <a:r>
              <a:rPr dirty="0" baseline="-6944" sz="1200" spc="-37">
                <a:solidFill>
                  <a:srgbClr val="0F0F0F"/>
                </a:solidFill>
                <a:latin typeface="Arial MT"/>
                <a:cs typeface="Arial MT"/>
              </a:rPr>
              <a:t>v</a:t>
            </a:r>
            <a:r>
              <a:rPr dirty="0" baseline="-6944" sz="1200" spc="-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Arial MT"/>
                <a:cs typeface="Arial MT"/>
              </a:rPr>
              <a:t>leading </a:t>
            </a:r>
            <a:r>
              <a:rPr dirty="0" sz="800">
                <a:solidFill>
                  <a:srgbClr val="131313"/>
                </a:solidFill>
                <a:latin typeface="Arial MT"/>
                <a:cs typeface="Arial MT"/>
              </a:rPr>
              <a:t>to</a:t>
            </a:r>
            <a:r>
              <a:rPr dirty="0" sz="800" spc="-5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111111"/>
                </a:solidFill>
                <a:latin typeface="Arial MT"/>
                <a:cs typeface="Arial MT"/>
              </a:rPr>
              <a:t>insights</a:t>
            </a:r>
            <a:r>
              <a:rPr dirty="0" sz="800" spc="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111111"/>
                </a:solidFill>
                <a:latin typeface="Arial MT"/>
                <a:cs typeface="Arial MT"/>
              </a:rPr>
              <a:t>into </a:t>
            </a:r>
            <a:r>
              <a:rPr dirty="0" sz="800" spc="-25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80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Arial MT"/>
                <a:cs typeface="Arial MT"/>
              </a:rPr>
              <a:t>physical </a:t>
            </a:r>
            <a:r>
              <a:rPr dirty="0" sz="800" spc="-25">
                <a:solidFill>
                  <a:srgbClr val="0F0F0F"/>
                </a:solidFill>
                <a:latin typeface="Arial MT"/>
                <a:cs typeface="Arial MT"/>
              </a:rPr>
              <a:t>properties</a:t>
            </a:r>
            <a:r>
              <a:rPr dirty="0" sz="800" spc="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0E0E0E"/>
                </a:solidFill>
                <a:latin typeface="Arial MT"/>
                <a:cs typeface="Arial MT"/>
              </a:rPr>
              <a:t>and </a:t>
            </a:r>
            <a:r>
              <a:rPr dirty="0" sz="800" spc="-25">
                <a:solidFill>
                  <a:srgbClr val="0C0C0C"/>
                </a:solidFill>
                <a:latin typeface="Arial MT"/>
                <a:cs typeface="Arial MT"/>
              </a:rPr>
              <a:t>origins</a:t>
            </a:r>
            <a:r>
              <a:rPr dirty="0" sz="80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0F0F0F"/>
                </a:solidFill>
                <a:latin typeface="Arial MT"/>
                <a:cs typeface="Arial MT"/>
              </a:rPr>
              <a:t>of</a:t>
            </a:r>
            <a:r>
              <a:rPr dirty="0" sz="800" spc="5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0F0F0F"/>
                </a:solidFill>
                <a:latin typeface="Arial MT"/>
                <a:cs typeface="Arial MT"/>
              </a:rPr>
              <a:t>repeating</a:t>
            </a:r>
            <a:r>
              <a:rPr dirty="0" sz="800" spc="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50">
                <a:solidFill>
                  <a:srgbClr val="0F0F0F"/>
                </a:solidFill>
                <a:latin typeface="Arial MT"/>
                <a:cs typeface="Arial MT"/>
              </a:rPr>
              <a:t>versus</a:t>
            </a:r>
            <a:r>
              <a:rPr dirty="0" sz="8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0F0F0F"/>
                </a:solidFill>
                <a:latin typeface="Arial MT"/>
                <a:cs typeface="Arial MT"/>
              </a:rPr>
              <a:t>non- </a:t>
            </a:r>
            <a:r>
              <a:rPr dirty="0" sz="800" spc="-25">
                <a:solidFill>
                  <a:srgbClr val="111111"/>
                </a:solidFill>
                <a:latin typeface="Arial MT"/>
                <a:cs typeface="Arial MT"/>
              </a:rPr>
              <a:t>repeating</a:t>
            </a:r>
            <a:r>
              <a:rPr dirty="0" sz="800" spc="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F0F0F"/>
                </a:solidFill>
                <a:latin typeface="Arial MT"/>
                <a:cs typeface="Arial MT"/>
              </a:rPr>
              <a:t>FRBs.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053333" cy="45720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613333" y="4194047"/>
            <a:ext cx="1350645" cy="21082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41910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330"/>
              </a:spcBef>
              <a:tabLst>
                <a:tab pos="671195" algn="l"/>
              </a:tabLst>
            </a:pPr>
            <a:r>
              <a:rPr dirty="0" sz="650" spc="-85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^œn'ea</a:t>
            </a:r>
            <a:r>
              <a:rPr dirty="0" sz="650" spc="-65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 </a:t>
            </a:r>
            <a:r>
              <a:rPr dirty="0" sz="650" spc="-20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1°nç</a:t>
            </a:r>
            <a:r>
              <a:rPr dirty="0" sz="650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	</a:t>
            </a:r>
            <a:r>
              <a:rPr dirty="0" sz="650" spc="-25">
                <a:solidFill>
                  <a:srgbClr val="FFFFFF"/>
                </a:solidFill>
                <a:latin typeface="Courier New"/>
                <a:cs typeface="Courier New"/>
                <a:hlinkClick r:id="rId3"/>
              </a:rPr>
              <a:t>preseutotions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63169" y="1421383"/>
            <a:ext cx="18148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D2DB8"/>
                </a:solidFill>
                <a:latin typeface="Times New Roman"/>
                <a:cs typeface="Times New Roman"/>
              </a:rPr>
              <a:t>C</a:t>
            </a:r>
            <a:r>
              <a:rPr dirty="0" sz="900" spc="35">
                <a:solidFill>
                  <a:srgbClr val="4D2DB8"/>
                </a:solidFill>
                <a:latin typeface="Times New Roman"/>
                <a:cs typeface="Times New Roman"/>
              </a:rPr>
              <a:t> </a:t>
            </a:r>
            <a:r>
              <a:rPr dirty="0" sz="900" spc="-70">
                <a:solidFill>
                  <a:srgbClr val="4D2AD1"/>
                </a:solidFill>
                <a:latin typeface="Times New Roman"/>
                <a:cs typeface="Times New Roman"/>
              </a:rPr>
              <a:t>L</a:t>
            </a:r>
            <a:r>
              <a:rPr dirty="0" sz="900" spc="35">
                <a:solidFill>
                  <a:srgbClr val="4D2AD1"/>
                </a:solidFill>
                <a:latin typeface="Times New Roman"/>
                <a:cs typeface="Times New Roman"/>
              </a:rPr>
              <a:t> </a:t>
            </a:r>
            <a:r>
              <a:rPr dirty="0" sz="900" spc="-204">
                <a:solidFill>
                  <a:srgbClr val="4F2FBF"/>
                </a:solidFill>
                <a:latin typeface="Times New Roman"/>
                <a:cs typeface="Times New Roman"/>
              </a:rPr>
              <a:t>U</a:t>
            </a:r>
            <a:r>
              <a:rPr dirty="0" sz="900" spc="130">
                <a:solidFill>
                  <a:srgbClr val="4F2FBF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674DCA"/>
                </a:solidFill>
                <a:latin typeface="Times New Roman"/>
                <a:cs typeface="Times New Roman"/>
              </a:rPr>
              <a:t>S</a:t>
            </a:r>
            <a:r>
              <a:rPr dirty="0" sz="900" spc="5">
                <a:solidFill>
                  <a:srgbClr val="674DCA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6449CA"/>
                </a:solidFill>
                <a:latin typeface="Times New Roman"/>
                <a:cs typeface="Times New Roman"/>
              </a:rPr>
              <a:t>T</a:t>
            </a:r>
            <a:r>
              <a:rPr dirty="0" sz="900" spc="55">
                <a:solidFill>
                  <a:srgbClr val="6449CA"/>
                </a:solidFill>
                <a:latin typeface="Times New Roman"/>
                <a:cs typeface="Times New Roman"/>
              </a:rPr>
              <a:t> </a:t>
            </a:r>
            <a:r>
              <a:rPr dirty="0" sz="900" spc="-30">
                <a:solidFill>
                  <a:srgbClr val="4D31AF"/>
                </a:solidFill>
                <a:latin typeface="Times New Roman"/>
                <a:cs typeface="Times New Roman"/>
              </a:rPr>
              <a:t>E</a:t>
            </a:r>
            <a:r>
              <a:rPr dirty="0" sz="900" spc="114">
                <a:solidFill>
                  <a:srgbClr val="4D31AF"/>
                </a:solidFill>
                <a:latin typeface="Times New Roman"/>
                <a:cs typeface="Times New Roman"/>
              </a:rPr>
              <a:t> </a:t>
            </a:r>
            <a:r>
              <a:rPr dirty="0" sz="900" spc="-55">
                <a:solidFill>
                  <a:srgbClr val="593FC6"/>
                </a:solidFill>
                <a:latin typeface="Times New Roman"/>
                <a:cs typeface="Times New Roman"/>
              </a:rPr>
              <a:t>R</a:t>
            </a:r>
            <a:r>
              <a:rPr dirty="0" sz="900" spc="110">
                <a:solidFill>
                  <a:srgbClr val="593FC6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4B2BBC"/>
                </a:solidFill>
                <a:latin typeface="Times New Roman"/>
                <a:cs typeface="Times New Roman"/>
              </a:rPr>
              <a:t>I</a:t>
            </a:r>
            <a:r>
              <a:rPr dirty="0" sz="900" spc="125">
                <a:solidFill>
                  <a:srgbClr val="4B2BBC"/>
                </a:solidFill>
                <a:latin typeface="Times New Roman"/>
                <a:cs typeface="Times New Roman"/>
              </a:rPr>
              <a:t> </a:t>
            </a:r>
            <a:r>
              <a:rPr dirty="0" sz="900" spc="-55">
                <a:solidFill>
                  <a:srgbClr val="502ADB"/>
                </a:solidFill>
                <a:latin typeface="Times New Roman"/>
                <a:cs typeface="Times New Roman"/>
              </a:rPr>
              <a:t>N</a:t>
            </a:r>
            <a:r>
              <a:rPr dirty="0" sz="900" spc="85">
                <a:solidFill>
                  <a:srgbClr val="502ADB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502FBA"/>
                </a:solidFill>
                <a:latin typeface="Times New Roman"/>
                <a:cs typeface="Times New Roman"/>
              </a:rPr>
              <a:t>G</a:t>
            </a:r>
            <a:r>
              <a:rPr dirty="0" sz="900" spc="145">
                <a:solidFill>
                  <a:srgbClr val="502FBA"/>
                </a:solidFill>
                <a:latin typeface="Times New Roman"/>
                <a:cs typeface="Times New Roman"/>
              </a:rPr>
              <a:t>  </a:t>
            </a:r>
            <a:r>
              <a:rPr dirty="0" sz="900" spc="-30">
                <a:solidFill>
                  <a:srgbClr val="5B3FAF"/>
                </a:solidFill>
                <a:latin typeface="Times New Roman"/>
                <a:cs typeface="Times New Roman"/>
              </a:rPr>
              <a:t>R</a:t>
            </a:r>
            <a:r>
              <a:rPr dirty="0" sz="900" spc="114">
                <a:solidFill>
                  <a:srgbClr val="5B3FAF"/>
                </a:solidFill>
                <a:latin typeface="Times New Roman"/>
                <a:cs typeface="Times New Roman"/>
              </a:rPr>
              <a:t> </a:t>
            </a:r>
            <a:r>
              <a:rPr dirty="0" sz="900" spc="-80">
                <a:solidFill>
                  <a:srgbClr val="502DC8"/>
                </a:solidFill>
                <a:latin typeface="Times New Roman"/>
                <a:cs typeface="Times New Roman"/>
              </a:rPr>
              <a:t>E</a:t>
            </a:r>
            <a:r>
              <a:rPr dirty="0" sz="900" spc="65">
                <a:solidFill>
                  <a:srgbClr val="502DC8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5D3DBC"/>
                </a:solidFill>
                <a:latin typeface="Times New Roman"/>
                <a:cs typeface="Times New Roman"/>
              </a:rPr>
              <a:t>S</a:t>
            </a:r>
            <a:r>
              <a:rPr dirty="0" sz="900" spc="80">
                <a:solidFill>
                  <a:srgbClr val="5D3DBC"/>
                </a:solidFill>
                <a:latin typeface="Times New Roman"/>
                <a:cs typeface="Times New Roman"/>
              </a:rPr>
              <a:t> </a:t>
            </a:r>
            <a:r>
              <a:rPr dirty="0" sz="900" spc="-70">
                <a:solidFill>
                  <a:srgbClr val="4D2FB5"/>
                </a:solidFill>
                <a:latin typeface="Times New Roman"/>
                <a:cs typeface="Times New Roman"/>
              </a:rPr>
              <a:t>U</a:t>
            </a:r>
            <a:r>
              <a:rPr dirty="0" sz="900" spc="140">
                <a:solidFill>
                  <a:srgbClr val="4D2FB5"/>
                </a:solidFill>
                <a:latin typeface="Times New Roman"/>
                <a:cs typeface="Times New Roman"/>
              </a:rPr>
              <a:t> </a:t>
            </a:r>
            <a:r>
              <a:rPr dirty="0" sz="900" spc="-240">
                <a:solidFill>
                  <a:srgbClr val="4F2BCD"/>
                </a:solidFill>
                <a:latin typeface="Times New Roman"/>
                <a:cs typeface="Times New Roman"/>
              </a:rPr>
              <a:t>L</a:t>
            </a:r>
            <a:r>
              <a:rPr dirty="0" sz="900" spc="85">
                <a:solidFill>
                  <a:srgbClr val="4F2BCD"/>
                </a:solidFill>
                <a:latin typeface="Times New Roman"/>
                <a:cs typeface="Times New Roman"/>
              </a:rPr>
              <a:t> </a:t>
            </a:r>
            <a:r>
              <a:rPr dirty="0" sz="900" spc="-30">
                <a:solidFill>
                  <a:srgbClr val="4F31B3"/>
                </a:solidFill>
                <a:latin typeface="Times New Roman"/>
                <a:cs typeface="Times New Roman"/>
              </a:rPr>
              <a:t>T</a:t>
            </a:r>
            <a:r>
              <a:rPr dirty="0" sz="900" spc="45">
                <a:solidFill>
                  <a:srgbClr val="4F31B3"/>
                </a:solidFill>
                <a:latin typeface="Times New Roman"/>
                <a:cs typeface="Times New Roman"/>
              </a:rPr>
              <a:t> </a:t>
            </a:r>
            <a:r>
              <a:rPr dirty="0" sz="900" spc="-50">
                <a:solidFill>
                  <a:srgbClr val="4D33B8"/>
                </a:solidFill>
                <a:latin typeface="Times New Roman"/>
                <a:cs typeface="Times New Roman"/>
              </a:rPr>
              <a:t>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67317" y="1609851"/>
            <a:ext cx="2948305" cy="861060"/>
          </a:xfrm>
          <a:prstGeom prst="rect"/>
        </p:spPr>
        <p:txBody>
          <a:bodyPr wrap="square" lIns="0" tIns="41275" rIns="0" bIns="0" rtlCol="0" vert="horz">
            <a:spAutoFit/>
          </a:bodyPr>
          <a:lstStyle/>
          <a:p>
            <a:pPr marL="12700" marR="5080">
              <a:lnSpc>
                <a:spcPts val="3220"/>
              </a:lnSpc>
              <a:spcBef>
                <a:spcPts val="325"/>
              </a:spcBef>
            </a:pPr>
            <a:r>
              <a:rPr dirty="0" sz="2800">
                <a:solidFill>
                  <a:srgbClr val="111111"/>
                </a:solidFill>
              </a:rPr>
              <a:t>Results:</a:t>
            </a:r>
            <a:r>
              <a:rPr dirty="0" sz="2800" spc="190">
                <a:solidFill>
                  <a:srgbClr val="111111"/>
                </a:solidFill>
              </a:rPr>
              <a:t> </a:t>
            </a:r>
            <a:r>
              <a:rPr dirty="0" sz="2800" spc="-270">
                <a:solidFill>
                  <a:srgbClr val="131313"/>
                </a:solidFill>
              </a:rPr>
              <a:t>UMAP</a:t>
            </a:r>
            <a:r>
              <a:rPr dirty="0" sz="2800" spc="45">
                <a:solidFill>
                  <a:srgbClr val="131313"/>
                </a:solidFill>
              </a:rPr>
              <a:t> </a:t>
            </a:r>
            <a:r>
              <a:rPr dirty="0" sz="2800" spc="40">
                <a:solidFill>
                  <a:srgbClr val="111111"/>
                </a:solidFill>
              </a:rPr>
              <a:t>with </a:t>
            </a:r>
            <a:r>
              <a:rPr dirty="0" sz="2800" spc="-285">
                <a:solidFill>
                  <a:srgbClr val="0F0F0F"/>
                </a:solidFill>
              </a:rPr>
              <a:t>HDBSCAN</a:t>
            </a:r>
            <a:endParaRPr sz="2800"/>
          </a:p>
        </p:txBody>
      </p:sp>
      <p:sp>
        <p:nvSpPr>
          <p:cNvPr id="6" name="object 6" descr=""/>
          <p:cNvSpPr txBox="1"/>
          <p:nvPr/>
        </p:nvSpPr>
        <p:spPr>
          <a:xfrm>
            <a:off x="4469461" y="2548801"/>
            <a:ext cx="3082925" cy="54610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240"/>
              </a:spcBef>
            </a:pPr>
            <a:r>
              <a:rPr dirty="0" sz="1050" spc="-40">
                <a:solidFill>
                  <a:srgbClr val="6B6B6B"/>
                </a:solidFill>
                <a:latin typeface="Times New Roman"/>
                <a:cs typeface="Times New Roman"/>
              </a:rPr>
              <a:t>Exploring</a:t>
            </a:r>
            <a:r>
              <a:rPr dirty="0" sz="1050" spc="75">
                <a:solidFill>
                  <a:srgbClr val="6B6B6B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B6B6B"/>
                </a:solidFill>
                <a:latin typeface="Times New Roman"/>
                <a:cs typeface="Times New Roman"/>
              </a:rPr>
              <a:t>the</a:t>
            </a:r>
            <a:r>
              <a:rPr dirty="0" sz="1050" spc="-15">
                <a:solidFill>
                  <a:srgbClr val="6B6B6B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96969"/>
                </a:solidFill>
                <a:latin typeface="Times New Roman"/>
                <a:cs typeface="Times New Roman"/>
              </a:rPr>
              <a:t>effectiveness</a:t>
            </a:r>
            <a:r>
              <a:rPr dirty="0" sz="1050" spc="20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E6E6E"/>
                </a:solidFill>
                <a:latin typeface="Times New Roman"/>
                <a:cs typeface="Times New Roman"/>
              </a:rPr>
              <a:t>of</a:t>
            </a:r>
            <a:r>
              <a:rPr dirty="0" sz="1050" spc="135">
                <a:solidFill>
                  <a:srgbClr val="6E6E6E"/>
                </a:solidFill>
                <a:latin typeface="Times New Roman"/>
                <a:cs typeface="Times New Roman"/>
              </a:rPr>
              <a:t> </a:t>
            </a:r>
            <a:r>
              <a:rPr dirty="0" sz="1050" spc="-45">
                <a:solidFill>
                  <a:srgbClr val="6B6B6B"/>
                </a:solidFill>
                <a:latin typeface="Times New Roman"/>
                <a:cs typeface="Times New Roman"/>
              </a:rPr>
              <a:t>U</a:t>
            </a:r>
            <a:r>
              <a:rPr dirty="0" sz="1050" spc="-45">
                <a:solidFill>
                  <a:srgbClr val="777C8E"/>
                </a:solidFill>
                <a:latin typeface="Times New Roman"/>
                <a:cs typeface="Times New Roman"/>
              </a:rPr>
              <a:t>SAP</a:t>
            </a:r>
            <a:r>
              <a:rPr dirty="0" sz="1050" spc="-10">
                <a:solidFill>
                  <a:srgbClr val="777C8E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D6D"/>
                </a:solidFill>
                <a:latin typeface="Times New Roman"/>
                <a:cs typeface="Times New Roman"/>
              </a:rPr>
              <a:t>combined</a:t>
            </a:r>
            <a:r>
              <a:rPr dirty="0" sz="1050" spc="65">
                <a:solidFill>
                  <a:srgbClr val="6D6D6D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E6E6E"/>
                </a:solidFill>
                <a:latin typeface="Times New Roman"/>
                <a:cs typeface="Times New Roman"/>
              </a:rPr>
              <a:t>wi†h</a:t>
            </a:r>
            <a:endParaRPr sz="105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135"/>
              </a:spcBef>
            </a:pPr>
            <a:r>
              <a:rPr dirty="0" sz="1000" spc="-245">
                <a:solidFill>
                  <a:srgbClr val="6E6E6E"/>
                </a:solidFill>
                <a:latin typeface="Times New Roman"/>
                <a:cs typeface="Times New Roman"/>
              </a:rPr>
              <a:t>H</a:t>
            </a:r>
            <a:r>
              <a:rPr dirty="0" sz="1000" spc="-50">
                <a:solidFill>
                  <a:srgbClr val="6E6E6E"/>
                </a:solidFill>
                <a:latin typeface="Times New Roman"/>
                <a:cs typeface="Times New Roman"/>
              </a:rPr>
              <a:t> </a:t>
            </a:r>
            <a:r>
              <a:rPr dirty="0" sz="1000" spc="-70">
                <a:solidFill>
                  <a:srgbClr val="6E6E6E"/>
                </a:solidFill>
                <a:latin typeface="Times New Roman"/>
                <a:cs typeface="Times New Roman"/>
              </a:rPr>
              <a:t>DBSCAN</a:t>
            </a:r>
            <a:r>
              <a:rPr dirty="0" sz="1000" spc="220">
                <a:solidFill>
                  <a:srgbClr val="6E6E6E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6B6B6B"/>
                </a:solidFill>
                <a:latin typeface="Times New Roman"/>
                <a:cs typeface="Times New Roman"/>
              </a:rPr>
              <a:t>in</a:t>
            </a:r>
            <a:r>
              <a:rPr dirty="0" sz="1000" spc="114">
                <a:solidFill>
                  <a:srgbClr val="6B6B6B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6B6B6B"/>
                </a:solidFill>
                <a:latin typeface="Times New Roman"/>
                <a:cs typeface="Times New Roman"/>
              </a:rPr>
              <a:t>revealing</a:t>
            </a:r>
            <a:r>
              <a:rPr dirty="0" sz="1000" spc="120">
                <a:solidFill>
                  <a:srgbClr val="6B6B6B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6B6B6B"/>
                </a:solidFill>
                <a:latin typeface="Times New Roman"/>
                <a:cs typeface="Times New Roman"/>
              </a:rPr>
              <a:t>consistent</a:t>
            </a:r>
            <a:r>
              <a:rPr dirty="0" sz="1000" spc="105">
                <a:solidFill>
                  <a:srgbClr val="6B6B6B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696969"/>
                </a:solidFill>
                <a:latin typeface="Times New Roman"/>
                <a:cs typeface="Times New Roman"/>
              </a:rPr>
              <a:t>clustering</a:t>
            </a:r>
            <a:r>
              <a:rPr dirty="0" sz="1000" spc="195">
                <a:solidFill>
                  <a:srgbClr val="696969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6B6B6B"/>
                </a:solidFill>
                <a:latin typeface="Times New Roman"/>
                <a:cs typeface="Times New Roman"/>
              </a:rPr>
              <a:t>patterns</a:t>
            </a:r>
            <a:r>
              <a:rPr dirty="0" sz="1000" spc="90">
                <a:solidFill>
                  <a:srgbClr val="6B6B6B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6E6E6E"/>
                </a:solidFill>
                <a:latin typeface="Times New Roman"/>
                <a:cs typeface="Times New Roman"/>
              </a:rPr>
              <a:t>and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100" spc="-35">
                <a:solidFill>
                  <a:srgbClr val="6B6B6B"/>
                </a:solidFill>
                <a:latin typeface="Times New Roman"/>
                <a:cs typeface="Times New Roman"/>
              </a:rPr>
              <a:t>relationships</a:t>
            </a:r>
            <a:r>
              <a:rPr dirty="0" sz="1100" spc="85">
                <a:solidFill>
                  <a:srgbClr val="6B6B6B"/>
                </a:solidFill>
                <a:latin typeface="Times New Roman"/>
                <a:cs typeface="Times New Roman"/>
              </a:rPr>
              <a:t> </a:t>
            </a:r>
            <a:r>
              <a:rPr dirty="0" sz="1100" spc="-55">
                <a:solidFill>
                  <a:srgbClr val="6B6B6B"/>
                </a:solidFill>
                <a:latin typeface="Times New Roman"/>
                <a:cs typeface="Times New Roman"/>
              </a:rPr>
              <a:t>within</a:t>
            </a:r>
            <a:r>
              <a:rPr dirty="0" sz="1100" spc="15">
                <a:solidFill>
                  <a:srgbClr val="6B6B6B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6B6B6B"/>
                </a:solidFill>
                <a:latin typeface="Times New Roman"/>
                <a:cs typeface="Times New Roman"/>
              </a:rPr>
              <a:t>the</a:t>
            </a:r>
            <a:r>
              <a:rPr dirty="0" sz="1100" spc="-35">
                <a:solidFill>
                  <a:srgbClr val="6B6B6B"/>
                </a:solidFill>
                <a:latin typeface="Times New Roman"/>
                <a:cs typeface="Times New Roman"/>
              </a:rPr>
              <a:t> </a:t>
            </a:r>
            <a:r>
              <a:rPr dirty="0" sz="1100" spc="-10">
                <a:solidFill>
                  <a:srgbClr val="6B6B6B"/>
                </a:solidFill>
                <a:latin typeface="Times New Roman"/>
                <a:cs typeface="Times New Roman"/>
              </a:rPr>
              <a:t>dataset.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985904" y="1690116"/>
            <a:ext cx="1207135" cy="0"/>
          </a:xfrm>
          <a:custGeom>
            <a:avLst/>
            <a:gdLst/>
            <a:ahLst/>
            <a:cxnLst/>
            <a:rect l="l" t="t" r="r" b="b"/>
            <a:pathLst>
              <a:path w="1207135" h="0">
                <a:moveTo>
                  <a:pt x="0" y="0"/>
                </a:moveTo>
                <a:lnTo>
                  <a:pt x="1206857" y="0"/>
                </a:lnTo>
              </a:path>
            </a:pathLst>
          </a:custGeom>
          <a:ln w="3175">
            <a:solidFill>
              <a:srgbClr val="676B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534095" y="1687067"/>
            <a:ext cx="1207135" cy="0"/>
          </a:xfrm>
          <a:custGeom>
            <a:avLst/>
            <a:gdLst/>
            <a:ahLst/>
            <a:cxnLst/>
            <a:rect l="l" t="t" r="r" b="b"/>
            <a:pathLst>
              <a:path w="1207134" h="0">
                <a:moveTo>
                  <a:pt x="0" y="0"/>
                </a:moveTo>
                <a:lnTo>
                  <a:pt x="1206857" y="0"/>
                </a:lnTo>
              </a:path>
            </a:pathLst>
          </a:custGeom>
          <a:ln w="3175">
            <a:solidFill>
              <a:srgbClr val="676B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619427" y="4181855"/>
            <a:ext cx="1350645" cy="21653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4508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355"/>
              </a:spcBef>
              <a:tabLst>
                <a:tab pos="671195" algn="l"/>
              </a:tabLst>
            </a:pPr>
            <a:r>
              <a:rPr dirty="0" sz="650" spc="-10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’œn›ea'lcnç</a:t>
            </a:r>
            <a:r>
              <a:rPr dirty="0" sz="650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	</a:t>
            </a:r>
            <a:r>
              <a:rPr dirty="0" sz="650" spc="-25">
                <a:solidFill>
                  <a:srgbClr val="FFFFFF"/>
                </a:solidFill>
                <a:latin typeface="Courier New"/>
                <a:cs typeface="Courier New"/>
                <a:hlinkClick r:id="rId2"/>
              </a:rPr>
              <a:t>preseutotions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7738" y="1748422"/>
            <a:ext cx="2468245" cy="100393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235"/>
              </a:spcBef>
            </a:pPr>
            <a:r>
              <a:rPr dirty="0" sz="850">
                <a:solidFill>
                  <a:srgbClr val="4F34B3"/>
                </a:solidFill>
                <a:latin typeface="Times New Roman"/>
                <a:cs typeface="Times New Roman"/>
              </a:rPr>
              <a:t>A</a:t>
            </a:r>
            <a:r>
              <a:rPr dirty="0" sz="850" spc="105">
                <a:solidFill>
                  <a:srgbClr val="4F34B3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22FC4"/>
                </a:solidFill>
                <a:latin typeface="Times New Roman"/>
                <a:cs typeface="Times New Roman"/>
              </a:rPr>
              <a:t>N</a:t>
            </a:r>
            <a:r>
              <a:rPr dirty="0" sz="850" spc="150">
                <a:solidFill>
                  <a:srgbClr val="522FC4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4D2ACF"/>
                </a:solidFill>
                <a:latin typeface="Times New Roman"/>
                <a:cs typeface="Times New Roman"/>
              </a:rPr>
              <a:t>A</a:t>
            </a:r>
            <a:r>
              <a:rPr dirty="0" sz="850" spc="114">
                <a:solidFill>
                  <a:srgbClr val="4D2ACF"/>
                </a:solidFill>
                <a:latin typeface="Times New Roman"/>
                <a:cs typeface="Times New Roman"/>
              </a:rPr>
              <a:t> </a:t>
            </a:r>
            <a:r>
              <a:rPr dirty="0" sz="850" spc="-160">
                <a:solidFill>
                  <a:srgbClr val="4F2FC1"/>
                </a:solidFill>
                <a:latin typeface="Times New Roman"/>
                <a:cs typeface="Times New Roman"/>
              </a:rPr>
              <a:t>L</a:t>
            </a:r>
            <a:r>
              <a:rPr dirty="0" sz="850" spc="45">
                <a:solidFill>
                  <a:srgbClr val="4F2FC1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4D33B3"/>
                </a:solidFill>
                <a:latin typeface="Times New Roman"/>
                <a:cs typeface="Times New Roman"/>
              </a:rPr>
              <a:t>Y</a:t>
            </a:r>
            <a:r>
              <a:rPr dirty="0" sz="850" spc="50">
                <a:solidFill>
                  <a:srgbClr val="4D33B3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031BC"/>
                </a:solidFill>
                <a:latin typeface="Times New Roman"/>
                <a:cs typeface="Times New Roman"/>
              </a:rPr>
              <a:t>S</a:t>
            </a:r>
            <a:r>
              <a:rPr dirty="0" sz="850" spc="80">
                <a:solidFill>
                  <a:srgbClr val="5031BC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22FC6"/>
                </a:solidFill>
                <a:latin typeface="Times New Roman"/>
                <a:cs typeface="Times New Roman"/>
              </a:rPr>
              <a:t>I</a:t>
            </a:r>
            <a:r>
              <a:rPr dirty="0" sz="850" spc="90">
                <a:solidFill>
                  <a:srgbClr val="522FC6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694DC6"/>
                </a:solidFill>
                <a:latin typeface="Times New Roman"/>
                <a:cs typeface="Times New Roman"/>
              </a:rPr>
              <a:t>S</a:t>
            </a:r>
            <a:r>
              <a:rPr dirty="0" sz="850" spc="165">
                <a:solidFill>
                  <a:srgbClr val="694DC6"/>
                </a:solidFill>
                <a:latin typeface="Times New Roman"/>
                <a:cs typeface="Times New Roman"/>
              </a:rPr>
              <a:t>  </a:t>
            </a:r>
            <a:r>
              <a:rPr dirty="0" sz="850">
                <a:solidFill>
                  <a:srgbClr val="4D31BA"/>
                </a:solidFill>
                <a:latin typeface="Times New Roman"/>
                <a:cs typeface="Times New Roman"/>
              </a:rPr>
              <a:t>I</a:t>
            </a:r>
            <a:r>
              <a:rPr dirty="0" sz="850" spc="175">
                <a:solidFill>
                  <a:srgbClr val="4D31BA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4D28C6"/>
                </a:solidFill>
                <a:latin typeface="Times New Roman"/>
                <a:cs typeface="Times New Roman"/>
              </a:rPr>
              <a:t>N</a:t>
            </a:r>
            <a:r>
              <a:rPr dirty="0" sz="850" spc="105">
                <a:solidFill>
                  <a:srgbClr val="4D28C6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7E67D8"/>
                </a:solidFill>
                <a:latin typeface="Times New Roman"/>
                <a:cs typeface="Times New Roman"/>
              </a:rPr>
              <a:t>S</a:t>
            </a:r>
            <a:r>
              <a:rPr dirty="0" sz="850" spc="95">
                <a:solidFill>
                  <a:srgbClr val="7E67D8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492ABA"/>
                </a:solidFill>
                <a:latin typeface="Times New Roman"/>
                <a:cs typeface="Times New Roman"/>
              </a:rPr>
              <a:t>I</a:t>
            </a:r>
            <a:r>
              <a:rPr dirty="0" sz="850" spc="70">
                <a:solidFill>
                  <a:srgbClr val="492ABA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43BBA"/>
                </a:solidFill>
                <a:latin typeface="Times New Roman"/>
                <a:cs typeface="Times New Roman"/>
              </a:rPr>
              <a:t>G</a:t>
            </a:r>
            <a:r>
              <a:rPr dirty="0" sz="850" spc="140">
                <a:solidFill>
                  <a:srgbClr val="543BBA"/>
                </a:solidFill>
                <a:latin typeface="Times New Roman"/>
                <a:cs typeface="Times New Roman"/>
              </a:rPr>
              <a:t> </a:t>
            </a:r>
            <a:r>
              <a:rPr dirty="0" sz="850" spc="-20">
                <a:solidFill>
                  <a:srgbClr val="6950C8"/>
                </a:solidFill>
                <a:latin typeface="Times New Roman"/>
                <a:cs typeface="Times New Roman"/>
              </a:rPr>
              <a:t>H</a:t>
            </a:r>
            <a:r>
              <a:rPr dirty="0" sz="850" spc="110">
                <a:solidFill>
                  <a:srgbClr val="6950C8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502DC6"/>
                </a:solidFill>
                <a:latin typeface="Times New Roman"/>
                <a:cs typeface="Times New Roman"/>
              </a:rPr>
              <a:t>T</a:t>
            </a:r>
            <a:r>
              <a:rPr dirty="0" sz="850" spc="85">
                <a:solidFill>
                  <a:srgbClr val="502DC6"/>
                </a:solidFill>
                <a:latin typeface="Times New Roman"/>
                <a:cs typeface="Times New Roman"/>
              </a:rPr>
              <a:t> </a:t>
            </a:r>
            <a:r>
              <a:rPr dirty="0" sz="850" spc="-50">
                <a:solidFill>
                  <a:srgbClr val="4F31BA"/>
                </a:solidFill>
                <a:latin typeface="Times New Roman"/>
                <a:cs typeface="Times New Roman"/>
              </a:rPr>
              <a:t>S</a:t>
            </a:r>
            <a:endParaRPr sz="85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385"/>
              </a:spcBef>
            </a:pPr>
            <a:r>
              <a:rPr dirty="0" sz="2350" spc="-55">
                <a:solidFill>
                  <a:srgbClr val="0F0F0F"/>
                </a:solidFill>
                <a:latin typeface="Times New Roman"/>
                <a:cs typeface="Times New Roman"/>
              </a:rPr>
              <a:t>Discussion</a:t>
            </a:r>
            <a:r>
              <a:rPr dirty="0" sz="2350" spc="-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2350" spc="-85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2350" spc="-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2350" spc="-40">
                <a:solidFill>
                  <a:srgbClr val="0F0F0F"/>
                </a:solidFill>
                <a:latin typeface="Times New Roman"/>
                <a:cs typeface="Times New Roman"/>
              </a:rPr>
              <a:t>Results</a:t>
            </a:r>
            <a:endParaRPr sz="2350">
              <a:latin typeface="Times New Roman"/>
              <a:cs typeface="Times New Roman"/>
            </a:endParaRPr>
          </a:p>
          <a:p>
            <a:pPr marL="12700" marR="305435" indent="6350">
              <a:lnSpc>
                <a:spcPct val="106700"/>
              </a:lnSpc>
              <a:spcBef>
                <a:spcPts val="655"/>
              </a:spcBef>
            </a:pPr>
            <a:r>
              <a:rPr dirty="0" sz="1050">
                <a:solidFill>
                  <a:srgbClr val="707070"/>
                </a:solidFill>
                <a:latin typeface="Times New Roman"/>
                <a:cs typeface="Times New Roman"/>
              </a:rPr>
              <a:t>Insights</a:t>
            </a:r>
            <a:r>
              <a:rPr dirty="0" sz="1050" spc="80">
                <a:solidFill>
                  <a:srgbClr val="707070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D6D6D"/>
                </a:solidFill>
                <a:latin typeface="Times New Roman"/>
                <a:cs typeface="Times New Roman"/>
              </a:rPr>
              <a:t>into</a:t>
            </a:r>
            <a:r>
              <a:rPr dirty="0" sz="1050" spc="55">
                <a:solidFill>
                  <a:srgbClr val="6D6D6D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6B6B6B"/>
                </a:solidFill>
                <a:latin typeface="Times New Roman"/>
                <a:cs typeface="Times New Roman"/>
              </a:rPr>
              <a:t>Data</a:t>
            </a:r>
            <a:r>
              <a:rPr dirty="0" sz="1050" spc="50">
                <a:solidFill>
                  <a:srgbClr val="6B6B6B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6B6B6B"/>
                </a:solidFill>
                <a:latin typeface="Times New Roman"/>
                <a:cs typeface="Times New Roman"/>
              </a:rPr>
              <a:t>Clusters</a:t>
            </a:r>
            <a:r>
              <a:rPr dirty="0" sz="1050" spc="5">
                <a:solidFill>
                  <a:srgbClr val="6B6B6B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959595"/>
                </a:solidFill>
                <a:latin typeface="Times New Roman"/>
                <a:cs typeface="Times New Roman"/>
              </a:rPr>
              <a:t>and</a:t>
            </a:r>
            <a:r>
              <a:rPr dirty="0" sz="1050" spc="65">
                <a:solidFill>
                  <a:srgbClr val="959595"/>
                </a:solidFill>
                <a:latin typeface="Times New Roman"/>
                <a:cs typeface="Times New Roman"/>
              </a:rPr>
              <a:t> </a:t>
            </a:r>
            <a:r>
              <a:rPr dirty="0" sz="1050" spc="-30">
                <a:solidFill>
                  <a:srgbClr val="707070"/>
                </a:solidFill>
                <a:latin typeface="Times New Roman"/>
                <a:cs typeface="Times New Roman"/>
              </a:rPr>
              <a:t>Analysis </a:t>
            </a:r>
            <a:r>
              <a:rPr dirty="0" sz="1050" spc="-10">
                <a:solidFill>
                  <a:srgbClr val="6B6B6B"/>
                </a:solidFill>
                <a:latin typeface="Times New Roman"/>
                <a:cs typeface="Times New Roman"/>
              </a:rPr>
              <a:t>Techniques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402549" y="1197863"/>
            <a:ext cx="669925" cy="59880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0955" marR="5080" indent="-8890">
              <a:lnSpc>
                <a:spcPct val="114500"/>
              </a:lnSpc>
              <a:spcBef>
                <a:spcPts val="75"/>
              </a:spcBef>
              <a:tabLst>
                <a:tab pos="273685" algn="l"/>
              </a:tabLst>
            </a:pPr>
            <a:r>
              <a:rPr dirty="0" sz="1100" spc="-50">
                <a:solidFill>
                  <a:srgbClr val="4D28CD"/>
                </a:solidFill>
                <a:latin typeface="Times New Roman"/>
                <a:cs typeface="Times New Roman"/>
              </a:rPr>
              <a:t>1</a:t>
            </a:r>
            <a:r>
              <a:rPr dirty="0" sz="1100">
                <a:solidFill>
                  <a:srgbClr val="4D28CD"/>
                </a:solidFill>
                <a:latin typeface="Times New Roman"/>
                <a:cs typeface="Times New Roman"/>
              </a:rPr>
              <a:t>	</a:t>
            </a:r>
            <a:r>
              <a:rPr dirty="0" sz="1100" spc="-10">
                <a:solidFill>
                  <a:srgbClr val="0C0C0C"/>
                </a:solidFill>
                <a:latin typeface="Times New Roman"/>
                <a:cs typeface="Times New Roman"/>
              </a:rPr>
              <a:t>Clear </a:t>
            </a:r>
            <a:r>
              <a:rPr dirty="0" sz="1100" spc="-10">
                <a:solidFill>
                  <a:srgbClr val="0F0F0F"/>
                </a:solidFill>
                <a:latin typeface="Times New Roman"/>
                <a:cs typeface="Times New Roman"/>
              </a:rPr>
              <a:t>Distinction Observed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412181" y="1962657"/>
            <a:ext cx="1193800" cy="135763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635">
              <a:lnSpc>
                <a:spcPct val="114399"/>
              </a:lnSpc>
              <a:spcBef>
                <a:spcPts val="85"/>
              </a:spcBef>
            </a:pPr>
            <a:r>
              <a:rPr dirty="0" sz="850" spc="-7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0C0C0C"/>
                </a:solidFill>
                <a:latin typeface="Arial MT"/>
                <a:cs typeface="Arial MT"/>
              </a:rPr>
              <a:t>analysis</a:t>
            </a:r>
            <a:r>
              <a:rPr dirty="0" sz="850" spc="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35">
                <a:solidFill>
                  <a:srgbClr val="0F0F0F"/>
                </a:solidFill>
                <a:latin typeface="Arial MT"/>
                <a:cs typeface="Arial MT"/>
              </a:rPr>
              <a:t>reveals</a:t>
            </a:r>
            <a:r>
              <a:rPr dirty="0" sz="850" spc="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50">
                <a:solidFill>
                  <a:srgbClr val="0F0F0F"/>
                </a:solidFill>
                <a:latin typeface="Arial MT"/>
                <a:cs typeface="Arial MT"/>
              </a:rPr>
              <a:t>a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significant</a:t>
            </a:r>
            <a:r>
              <a:rPr dirty="0" sz="850" spc="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11111"/>
                </a:solidFill>
                <a:latin typeface="Arial MT"/>
                <a:cs typeface="Arial MT"/>
              </a:rPr>
              <a:t>physical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distinction</a:t>
            </a:r>
            <a:r>
              <a:rPr dirty="0" sz="850" spc="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between 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repeaters</a:t>
            </a:r>
            <a:r>
              <a:rPr dirty="0" sz="85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 non- </a:t>
            </a:r>
            <a:r>
              <a:rPr dirty="0" sz="850" spc="-30">
                <a:solidFill>
                  <a:srgbClr val="0E0E0E"/>
                </a:solidFill>
                <a:latin typeface="Arial MT"/>
                <a:cs typeface="Arial MT"/>
              </a:rPr>
              <a:t>repeaters,</a:t>
            </a:r>
            <a:r>
              <a:rPr dirty="0" sz="850" spc="-1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indicating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 that </a:t>
            </a:r>
            <a:r>
              <a:rPr dirty="0" sz="850" spc="-30">
                <a:solidFill>
                  <a:srgbClr val="0F0F0F"/>
                </a:solidFill>
                <a:latin typeface="Arial MT"/>
                <a:cs typeface="Arial MT"/>
              </a:rPr>
              <a:t>these</a:t>
            </a:r>
            <a:r>
              <a:rPr dirty="0" sz="85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groups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exhibit 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unique</a:t>
            </a:r>
            <a:r>
              <a:rPr dirty="0" sz="850" spc="-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characteristics </a:t>
            </a:r>
            <a:r>
              <a:rPr dirty="0" sz="850" spc="-55">
                <a:solidFill>
                  <a:srgbClr val="0F0F0F"/>
                </a:solidFill>
                <a:latin typeface="Arial MT"/>
                <a:cs typeface="Arial MT"/>
              </a:rPr>
              <a:t>tha†</a:t>
            </a:r>
            <a:r>
              <a:rPr dirty="0" sz="850" spc="-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111111"/>
                </a:solidFill>
                <a:latin typeface="Arial MT"/>
                <a:cs typeface="Arial MT"/>
              </a:rPr>
              <a:t>can</a:t>
            </a:r>
            <a:r>
              <a:rPr dirty="0" sz="850" spc="-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11111"/>
                </a:solidFill>
                <a:latin typeface="Arial MT"/>
                <a:cs typeface="Arial MT"/>
              </a:rPr>
              <a:t>be</a:t>
            </a:r>
            <a:r>
              <a:rPr dirty="0" sz="85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-30">
                <a:solidFill>
                  <a:srgbClr val="0F0F0F"/>
                </a:solidFill>
                <a:latin typeface="Arial MT"/>
                <a:cs typeface="Arial MT"/>
              </a:rPr>
              <a:t>leveraged</a:t>
            </a:r>
            <a:r>
              <a:rPr dirty="0" sz="850" spc="9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C0C0C"/>
                </a:solidFill>
                <a:latin typeface="Arial MT"/>
                <a:cs typeface="Arial MT"/>
              </a:rPr>
              <a:t>for 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targeted</a:t>
            </a:r>
            <a:r>
              <a:rPr dirty="0" sz="850" spc="-3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strategies.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6985">
              <a:lnSpc>
                <a:spcPct val="107800"/>
              </a:lnSpc>
              <a:spcBef>
                <a:spcPts val="100"/>
              </a:spcBef>
              <a:tabLst>
                <a:tab pos="266700" algn="l"/>
              </a:tabLst>
            </a:pPr>
            <a:r>
              <a:rPr dirty="0" spc="-50">
                <a:solidFill>
                  <a:srgbClr val="522BD3"/>
                </a:solidFill>
              </a:rPr>
              <a:t>2</a:t>
            </a:r>
            <a:r>
              <a:rPr dirty="0">
                <a:solidFill>
                  <a:srgbClr val="522BD3"/>
                </a:solidFill>
              </a:rPr>
              <a:t>	</a:t>
            </a:r>
            <a:r>
              <a:rPr dirty="0" spc="-10">
                <a:solidFill>
                  <a:srgbClr val="0F0F0F"/>
                </a:solidFill>
              </a:rPr>
              <a:t>Subcluster </a:t>
            </a:r>
            <a:r>
              <a:rPr dirty="0" spc="-20"/>
              <a:t>Variations</a:t>
            </a:r>
            <a:r>
              <a:rPr dirty="0"/>
              <a:t> </a:t>
            </a:r>
            <a:r>
              <a:rPr dirty="0" spc="-20"/>
              <a:t>Identified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4960740" y="1761489"/>
            <a:ext cx="1225550" cy="13608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 indent="635">
              <a:lnSpc>
                <a:spcPct val="114399"/>
              </a:lnSpc>
              <a:spcBef>
                <a:spcPts val="110"/>
              </a:spcBef>
            </a:pPr>
            <a:r>
              <a:rPr dirty="0" sz="850" spc="-7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85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-40">
                <a:solidFill>
                  <a:srgbClr val="0F0F0F"/>
                </a:solidFill>
                <a:latin typeface="Arial MT"/>
                <a:cs typeface="Arial MT"/>
              </a:rPr>
              <a:t>presence</a:t>
            </a:r>
            <a:r>
              <a:rPr dirty="0" sz="85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of</a:t>
            </a:r>
            <a:r>
              <a:rPr dirty="0" sz="850" spc="-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potential </a:t>
            </a:r>
            <a:r>
              <a:rPr dirty="0" sz="850" spc="-30">
                <a:solidFill>
                  <a:srgbClr val="0E0E0E"/>
                </a:solidFill>
                <a:latin typeface="Arial MT"/>
                <a:cs typeface="Arial MT"/>
              </a:rPr>
              <a:t>subclusters</a:t>
            </a:r>
            <a:r>
              <a:rPr dirty="0" sz="850" spc="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suggests</a:t>
            </a:r>
            <a:r>
              <a:rPr dirty="0" sz="850" spc="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thot 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there</a:t>
            </a:r>
            <a:r>
              <a:rPr dirty="0" sz="85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are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variations</a:t>
            </a:r>
            <a:r>
              <a:rPr dirty="0" sz="850" spc="1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within </a:t>
            </a:r>
            <a:r>
              <a:rPr dirty="0" sz="850" spc="-2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850" spc="-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primary</a:t>
            </a:r>
            <a:r>
              <a:rPr dirty="0" sz="850" spc="1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categories, </a:t>
            </a:r>
            <a:r>
              <a:rPr dirty="0" sz="850" spc="-40">
                <a:solidFill>
                  <a:srgbClr val="0E0E0E"/>
                </a:solidFill>
                <a:latin typeface="Arial MT"/>
                <a:cs typeface="Arial MT"/>
              </a:rPr>
              <a:t>which</a:t>
            </a:r>
            <a:r>
              <a:rPr dirty="0" sz="850" spc="-3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11111"/>
                </a:solidFill>
                <a:latin typeface="Arial MT"/>
                <a:cs typeface="Arial MT"/>
              </a:rPr>
              <a:t>may</a:t>
            </a:r>
            <a:r>
              <a:rPr dirty="0" sz="85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offer</a:t>
            </a:r>
            <a:r>
              <a:rPr dirty="0" sz="850" spc="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deeper </a:t>
            </a:r>
            <a:r>
              <a:rPr dirty="0" sz="850" spc="-20">
                <a:solidFill>
                  <a:srgbClr val="0C0C0C"/>
                </a:solidFill>
                <a:latin typeface="Arial MT"/>
                <a:cs typeface="Arial MT"/>
              </a:rPr>
              <a:t>insights</a:t>
            </a:r>
            <a:r>
              <a:rPr dirty="0" sz="850" spc="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into</a:t>
            </a:r>
            <a:r>
              <a:rPr dirty="0" sz="850" spc="-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customer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behavior</a:t>
            </a:r>
            <a:r>
              <a:rPr dirty="0" sz="850" spc="-4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dirty="0" sz="850" spc="-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35">
                <a:solidFill>
                  <a:srgbClr val="0F0F0F"/>
                </a:solidFill>
                <a:latin typeface="Arial MT"/>
                <a:cs typeface="Arial MT"/>
              </a:rPr>
              <a:t>preferences,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paving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850" spc="-4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way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for</a:t>
            </a:r>
            <a:r>
              <a:rPr dirty="0" sz="850" spc="-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more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tailored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interventions.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509380" y="1240282"/>
            <a:ext cx="9715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solidFill>
                  <a:srgbClr val="4F2AD6"/>
                </a:solidFill>
                <a:latin typeface="Times New Roman"/>
                <a:cs typeface="Times New Roman"/>
              </a:rPr>
              <a:t>3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737069" y="1212850"/>
            <a:ext cx="86868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2645" sz="1575">
                <a:solidFill>
                  <a:srgbClr val="0C0C0C"/>
                </a:solidFill>
                <a:latin typeface="Times New Roman"/>
                <a:cs typeface="Times New Roman"/>
              </a:rPr>
              <a:t>E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f</a:t>
            </a:r>
            <a:r>
              <a:rPr dirty="0" baseline="2645" sz="1575">
                <a:solidFill>
                  <a:srgbClr val="0C0C0C"/>
                </a:solidFill>
                <a:latin typeface="Times New Roman"/>
                <a:cs typeface="Times New Roman"/>
              </a:rPr>
              <a:t>f</a:t>
            </a:r>
            <a:r>
              <a:rPr dirty="0" baseline="4273" sz="975">
                <a:solidFill>
                  <a:srgbClr val="0C0C0C"/>
                </a:solidFill>
                <a:latin typeface="Times New Roman"/>
                <a:cs typeface="Times New Roman"/>
              </a:rPr>
              <a:t>e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ctive</a:t>
            </a:r>
            <a:r>
              <a:rPr dirty="0" sz="1150" spc="-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Data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504782" y="1398777"/>
            <a:ext cx="68516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Techniques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505137" y="1764537"/>
            <a:ext cx="1141095" cy="150368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4445">
              <a:lnSpc>
                <a:spcPct val="114199"/>
              </a:lnSpc>
              <a:spcBef>
                <a:spcPts val="85"/>
              </a:spcBef>
            </a:pP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Utilizing</a:t>
            </a:r>
            <a:r>
              <a:rPr dirty="0" sz="850" spc="-3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dimensionality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reduction</a:t>
            </a:r>
            <a:r>
              <a:rPr dirty="0" sz="850" spc="-3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and</a:t>
            </a:r>
            <a:r>
              <a:rPr dirty="0" sz="850" spc="-5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clustering </a:t>
            </a:r>
            <a:r>
              <a:rPr dirty="0" sz="850" spc="-25">
                <a:solidFill>
                  <a:srgbClr val="0C0C0C"/>
                </a:solidFill>
                <a:latin typeface="Arial MT"/>
                <a:cs typeface="Arial MT"/>
              </a:rPr>
              <a:t>techniques</a:t>
            </a:r>
            <a:r>
              <a:rPr dirty="0" sz="850" spc="4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850" spc="-40">
                <a:solidFill>
                  <a:srgbClr val="0E0E0E"/>
                </a:solidFill>
                <a:latin typeface="Arial MT"/>
                <a:cs typeface="Arial MT"/>
              </a:rPr>
              <a:t>has</a:t>
            </a:r>
            <a:r>
              <a:rPr dirty="0" sz="850" spc="-2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proven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effective</a:t>
            </a:r>
            <a:r>
              <a:rPr dirty="0" sz="850" spc="2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E0E0E"/>
                </a:solidFill>
                <a:latin typeface="Arial MT"/>
                <a:cs typeface="Arial MT"/>
              </a:rPr>
              <a:t>in</a:t>
            </a:r>
            <a:r>
              <a:rPr dirty="0" sz="850" spc="-3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uncovering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hidden </a:t>
            </a:r>
            <a:r>
              <a:rPr dirty="0" sz="850">
                <a:solidFill>
                  <a:srgbClr val="111111"/>
                </a:solidFill>
                <a:latin typeface="Arial MT"/>
                <a:cs typeface="Arial MT"/>
              </a:rPr>
              <a:t>data</a:t>
            </a:r>
            <a:r>
              <a:rPr dirty="0" sz="85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structures,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allowing</a:t>
            </a:r>
            <a:r>
              <a:rPr dirty="0" sz="850" spc="-5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F0F0F"/>
                </a:solidFill>
                <a:latin typeface="Arial MT"/>
                <a:cs typeface="Arial MT"/>
              </a:rPr>
              <a:t>for</a:t>
            </a:r>
            <a:r>
              <a:rPr dirty="0" sz="850" spc="-3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11111"/>
                </a:solidFill>
                <a:latin typeface="Arial MT"/>
                <a:cs typeface="Arial MT"/>
              </a:rPr>
              <a:t>a</a:t>
            </a:r>
            <a:r>
              <a:rPr dirty="0" sz="850" spc="-6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80808"/>
                </a:solidFill>
                <a:latin typeface="Arial MT"/>
                <a:cs typeface="Arial MT"/>
              </a:rPr>
              <a:t>more </a:t>
            </a:r>
            <a:r>
              <a:rPr dirty="0" sz="850" spc="-20">
                <a:solidFill>
                  <a:srgbClr val="0F0F0F"/>
                </a:solidFill>
                <a:latin typeface="Arial MT"/>
                <a:cs typeface="Arial MT"/>
              </a:rPr>
              <a:t>nuanced</a:t>
            </a:r>
            <a:r>
              <a:rPr dirty="0" sz="850" spc="-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C0C0C"/>
                </a:solidFill>
                <a:latin typeface="Arial MT"/>
                <a:cs typeface="Arial MT"/>
              </a:rPr>
              <a:t>understanding </a:t>
            </a:r>
            <a:r>
              <a:rPr dirty="0" sz="850">
                <a:solidFill>
                  <a:srgbClr val="111111"/>
                </a:solidFill>
                <a:latin typeface="Arial MT"/>
                <a:cs typeface="Arial MT"/>
              </a:rPr>
              <a:t>of</a:t>
            </a:r>
            <a:r>
              <a:rPr dirty="0" sz="85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850" spc="-5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111111"/>
                </a:solidFill>
                <a:latin typeface="Arial MT"/>
                <a:cs typeface="Arial MT"/>
              </a:rPr>
              <a:t>dataset</a:t>
            </a:r>
            <a:r>
              <a:rPr dirty="0" sz="85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E0E0E"/>
                </a:solidFill>
                <a:latin typeface="Arial MT"/>
                <a:cs typeface="Arial MT"/>
              </a:rPr>
              <a:t>and </a:t>
            </a:r>
            <a:r>
              <a:rPr dirty="0" sz="850" spc="-25">
                <a:solidFill>
                  <a:srgbClr val="0F0F0F"/>
                </a:solidFill>
                <a:latin typeface="Arial MT"/>
                <a:cs typeface="Arial MT"/>
              </a:rPr>
              <a:t>enhancing</a:t>
            </a:r>
            <a:r>
              <a:rPr dirty="0" sz="850" spc="1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A0A0A"/>
                </a:solidFill>
                <a:latin typeface="Arial MT"/>
                <a:cs typeface="Arial MT"/>
              </a:rPr>
              <a:t>overall </a:t>
            </a:r>
            <a:r>
              <a:rPr dirty="0" sz="850" spc="-10">
                <a:solidFill>
                  <a:srgbClr val="0E0E0E"/>
                </a:solidFill>
                <a:latin typeface="Arial MT"/>
                <a:cs typeface="Arial MT"/>
              </a:rPr>
              <a:t>analytical</a:t>
            </a:r>
            <a:r>
              <a:rPr dirty="0" sz="85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F0F0F"/>
                </a:solidFill>
                <a:latin typeface="Arial MT"/>
                <a:cs typeface="Arial MT"/>
              </a:rPr>
              <a:t>capabilities.</a:t>
            </a:r>
            <a:endParaRPr sz="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8128000" cy="4572000"/>
            <a:chOff x="0" y="0"/>
            <a:chExt cx="8128000" cy="4572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8128000" cy="4572000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0933" y="4199466"/>
              <a:ext cx="1337733" cy="203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2024-11-29T18:29:28Z</dcterms:created>
  <dcterms:modified xsi:type="dcterms:W3CDTF">2024-11-29T18:29:28Z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2024-11-29T00:00:00Z</vt:filetime>
  </property>
  <property fmtid="{D5CDD505-2E9C-101B-9397-08002B2CF9AE}" pid="3" name="Producer">
    <vt:lpwstr>jsPDF 2.5.1</vt:lpwstr>
  </property>
  <property fmtid="{D5CDD505-2E9C-101B-9397-08002B2CF9AE}" pid="4" name="LastSaved">
    <vt:filetime>2024-11-29T00:00:00Z</vt:filetime>
  </property>
</Properties>
</file>